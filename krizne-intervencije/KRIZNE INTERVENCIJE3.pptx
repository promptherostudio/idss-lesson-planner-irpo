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handoutMasterIdLst>
    <p:handoutMasterId r:id="rId48"/>
  </p:handoutMasterIdLst>
  <p:sldIdLst>
    <p:sldId id="257" r:id="rId3"/>
    <p:sldId id="336" r:id="rId4"/>
    <p:sldId id="324" r:id="rId5"/>
    <p:sldId id="258" r:id="rId6"/>
    <p:sldId id="259" r:id="rId7"/>
    <p:sldId id="317" r:id="rId8"/>
    <p:sldId id="260" r:id="rId9"/>
    <p:sldId id="261" r:id="rId10"/>
    <p:sldId id="262" r:id="rId11"/>
    <p:sldId id="318" r:id="rId12"/>
    <p:sldId id="263" r:id="rId13"/>
    <p:sldId id="319" r:id="rId14"/>
    <p:sldId id="264" r:id="rId15"/>
    <p:sldId id="325" r:id="rId16"/>
    <p:sldId id="265" r:id="rId17"/>
    <p:sldId id="266" r:id="rId18"/>
    <p:sldId id="267" r:id="rId19"/>
    <p:sldId id="268" r:id="rId20"/>
    <p:sldId id="269" r:id="rId21"/>
    <p:sldId id="323" r:id="rId22"/>
    <p:sldId id="270" r:id="rId23"/>
    <p:sldId id="271" r:id="rId24"/>
    <p:sldId id="272" r:id="rId25"/>
    <p:sldId id="273" r:id="rId26"/>
    <p:sldId id="274" r:id="rId27"/>
    <p:sldId id="275" r:id="rId28"/>
    <p:sldId id="276" r:id="rId29"/>
    <p:sldId id="277" r:id="rId30"/>
    <p:sldId id="278" r:id="rId31"/>
    <p:sldId id="279" r:id="rId32"/>
    <p:sldId id="281" r:id="rId33"/>
    <p:sldId id="313" r:id="rId34"/>
    <p:sldId id="314" r:id="rId35"/>
    <p:sldId id="315" r:id="rId36"/>
    <p:sldId id="316" r:id="rId37"/>
    <p:sldId id="326" r:id="rId38"/>
    <p:sldId id="327" r:id="rId39"/>
    <p:sldId id="328" r:id="rId40"/>
    <p:sldId id="329" r:id="rId41"/>
    <p:sldId id="330" r:id="rId42"/>
    <p:sldId id="331" r:id="rId43"/>
    <p:sldId id="332" r:id="rId44"/>
    <p:sldId id="333" r:id="rId45"/>
    <p:sldId id="33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9" d="100"/>
          <a:sy n="69" d="100"/>
        </p:scale>
        <p:origin x="-2790" y="-10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4989F5B-D534-033B-7B7C-EB5E422146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gsjčjčogjsogkjdfop</a:t>
            </a:r>
          </a:p>
        </p:txBody>
      </p:sp>
      <p:sp>
        <p:nvSpPr>
          <p:cNvPr id="3" name="Date Placeholder 2">
            <a:extLst>
              <a:ext uri="{FF2B5EF4-FFF2-40B4-BE49-F238E27FC236}">
                <a16:creationId xmlns:a16="http://schemas.microsoft.com/office/drawing/2014/main" xmlns="" id="{599A98F5-68C0-5588-09D9-21FBC6D81E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974144-C967-4622-A3A1-3D86E7032DD1}" type="datetimeFigureOut">
              <a:rPr lang="en-US" smtClean="0"/>
              <a:pPr/>
              <a:t>2/25/2024</a:t>
            </a:fld>
            <a:endParaRPr lang="en-US"/>
          </a:p>
        </p:txBody>
      </p:sp>
      <p:sp>
        <p:nvSpPr>
          <p:cNvPr id="4" name="Footer Placeholder 3">
            <a:extLst>
              <a:ext uri="{FF2B5EF4-FFF2-40B4-BE49-F238E27FC236}">
                <a16:creationId xmlns:a16="http://schemas.microsoft.com/office/drawing/2014/main" xmlns="" id="{A843E46A-FC5A-55BE-54FF-55537A80F3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1A316E9-0D9A-9595-D190-6B02AB4CC9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8E5D27-EBAC-4BB1-813E-8FAD36FAEBEC}" type="slidenum">
              <a:rPr lang="en-US" smtClean="0"/>
              <a:pPr/>
              <a:t>‹#›</a:t>
            </a:fld>
            <a:endParaRPr lang="en-US"/>
          </a:p>
        </p:txBody>
      </p:sp>
    </p:spTree>
    <p:extLst>
      <p:ext uri="{BB962C8B-B14F-4D97-AF65-F5344CB8AC3E}">
        <p14:creationId xmlns:p14="http://schemas.microsoft.com/office/powerpoint/2010/main" xmlns="" val="349756888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gsjčjčogjsogkjdfop</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8F5E7F-211A-47B8-8002-B1E66B863C8E}" type="datetimeFigureOut">
              <a:rPr lang="en-US" smtClean="0"/>
              <a:pPr/>
              <a:t>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D029-0890-4CBA-B7CA-C933900BA821}" type="slidenum">
              <a:rPr lang="en-US" smtClean="0"/>
              <a:pPr/>
              <a:t>‹#›</a:t>
            </a:fld>
            <a:endParaRPr lang="en-US"/>
          </a:p>
        </p:txBody>
      </p:sp>
    </p:spTree>
    <p:extLst>
      <p:ext uri="{BB962C8B-B14F-4D97-AF65-F5344CB8AC3E}">
        <p14:creationId xmlns:p14="http://schemas.microsoft.com/office/powerpoint/2010/main" xmlns="" val="186838726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err="1"/>
              <a:t>gsjčjčogjsogkjdfop</a:t>
            </a:r>
            <a:endParaRPr lang="en-US"/>
          </a:p>
        </p:txBody>
      </p:sp>
      <p:sp>
        <p:nvSpPr>
          <p:cNvPr id="5" name="Slide Number Placeholder 4"/>
          <p:cNvSpPr>
            <a:spLocks noGrp="1"/>
          </p:cNvSpPr>
          <p:nvPr>
            <p:ph type="sldNum" sz="quarter" idx="5"/>
          </p:nvPr>
        </p:nvSpPr>
        <p:spPr/>
        <p:txBody>
          <a:bodyPr/>
          <a:lstStyle/>
          <a:p>
            <a:fld id="{EB60D029-0890-4CBA-B7CA-C933900BA821}" type="slidenum">
              <a:rPr lang="en-US" smtClean="0"/>
              <a:pPr/>
              <a:t>1</a:t>
            </a:fld>
            <a:endParaRPr lang="en-US"/>
          </a:p>
        </p:txBody>
      </p:sp>
    </p:spTree>
    <p:extLst>
      <p:ext uri="{BB962C8B-B14F-4D97-AF65-F5344CB8AC3E}">
        <p14:creationId xmlns:p14="http://schemas.microsoft.com/office/powerpoint/2010/main" xmlns="" val="2254116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gsjčjčogjsogkjdfop</a:t>
            </a:r>
          </a:p>
        </p:txBody>
      </p:sp>
      <p:sp>
        <p:nvSpPr>
          <p:cNvPr id="5" name="Slide Number Placeholder 4"/>
          <p:cNvSpPr>
            <a:spLocks noGrp="1"/>
          </p:cNvSpPr>
          <p:nvPr>
            <p:ph type="sldNum" sz="quarter" idx="5"/>
          </p:nvPr>
        </p:nvSpPr>
        <p:spPr/>
        <p:txBody>
          <a:bodyPr/>
          <a:lstStyle/>
          <a:p>
            <a:fld id="{EB60D029-0890-4CBA-B7CA-C933900BA821}" type="slidenum">
              <a:rPr lang="en-US" smtClean="0"/>
              <a:pPr/>
              <a:t>4</a:t>
            </a:fld>
            <a:endParaRPr lang="en-US"/>
          </a:p>
        </p:txBody>
      </p:sp>
    </p:spTree>
    <p:extLst>
      <p:ext uri="{BB962C8B-B14F-4D97-AF65-F5344CB8AC3E}">
        <p14:creationId xmlns:p14="http://schemas.microsoft.com/office/powerpoint/2010/main" xmlns="" val="4227231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gsjčjčogjsogkjdfop</a:t>
            </a:r>
          </a:p>
        </p:txBody>
      </p:sp>
      <p:sp>
        <p:nvSpPr>
          <p:cNvPr id="5" name="Slide Number Placeholder 4"/>
          <p:cNvSpPr>
            <a:spLocks noGrp="1"/>
          </p:cNvSpPr>
          <p:nvPr>
            <p:ph type="sldNum" sz="quarter" idx="5"/>
          </p:nvPr>
        </p:nvSpPr>
        <p:spPr/>
        <p:txBody>
          <a:bodyPr/>
          <a:lstStyle/>
          <a:p>
            <a:fld id="{EB60D029-0890-4CBA-B7CA-C933900BA821}" type="slidenum">
              <a:rPr lang="en-US" smtClean="0"/>
              <a:pPr/>
              <a:t>5</a:t>
            </a:fld>
            <a:endParaRPr lang="en-US"/>
          </a:p>
        </p:txBody>
      </p:sp>
    </p:spTree>
    <p:extLst>
      <p:ext uri="{BB962C8B-B14F-4D97-AF65-F5344CB8AC3E}">
        <p14:creationId xmlns:p14="http://schemas.microsoft.com/office/powerpoint/2010/main" xmlns="" val="3099043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gsjčjčogjsogkjdfop</a:t>
            </a:r>
            <a:endParaRPr lang="en-US"/>
          </a:p>
        </p:txBody>
      </p:sp>
      <p:sp>
        <p:nvSpPr>
          <p:cNvPr id="5" name="Slide Number Placeholder 4"/>
          <p:cNvSpPr>
            <a:spLocks noGrp="1"/>
          </p:cNvSpPr>
          <p:nvPr>
            <p:ph type="sldNum" sz="quarter" idx="11"/>
          </p:nvPr>
        </p:nvSpPr>
        <p:spPr/>
        <p:txBody>
          <a:bodyPr/>
          <a:lstStyle/>
          <a:p>
            <a:fld id="{EB60D029-0890-4CBA-B7CA-C933900BA821}"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74AE1FB-4E41-40DB-831F-53FA450AE044}" type="datetime1">
              <a:rPr lang="en-US" smtClean="0"/>
              <a:pPr/>
              <a:t>2/25/2024</a:t>
            </a:fld>
            <a:endParaRPr lang="en-US"/>
          </a:p>
        </p:txBody>
      </p:sp>
      <p:sp>
        <p:nvSpPr>
          <p:cNvPr id="5" name="Footer Placeholder 4"/>
          <p:cNvSpPr>
            <a:spLocks noGrp="1"/>
          </p:cNvSpPr>
          <p:nvPr>
            <p:ph type="ftr" sz="quarter" idx="11"/>
          </p:nvPr>
        </p:nvSpPr>
        <p:spPr/>
        <p:txBody>
          <a:bodyPr/>
          <a:lstStyle/>
          <a:p>
            <a:r>
              <a:rPr lang="en-US" dirty="0"/>
              <a:t>Stručno usavršavanje, august 2022. godine</a:t>
            </a:r>
          </a:p>
        </p:txBody>
      </p:sp>
      <p:sp>
        <p:nvSpPr>
          <p:cNvPr id="6" name="Slide Number Placeholder 5"/>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236427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D6B475-E7E9-4736-800A-4C071DDB9696}" type="datetime1">
              <a:rPr lang="en-US" smtClean="0"/>
              <a:pPr/>
              <a:t>2/25/2024</a:t>
            </a:fld>
            <a:endParaRPr lang="en-US"/>
          </a:p>
        </p:txBody>
      </p:sp>
      <p:sp>
        <p:nvSpPr>
          <p:cNvPr id="5" name="Footer Placeholder 4"/>
          <p:cNvSpPr>
            <a:spLocks noGrp="1"/>
          </p:cNvSpPr>
          <p:nvPr>
            <p:ph type="ftr" sz="quarter" idx="11"/>
          </p:nvPr>
        </p:nvSpPr>
        <p:spPr/>
        <p:txBody>
          <a:bodyPr/>
          <a:lstStyle/>
          <a:p>
            <a:r>
              <a:rPr lang="en-US" dirty="0"/>
              <a:t>Stručno usavršavanje, august 2022. godine</a:t>
            </a:r>
          </a:p>
        </p:txBody>
      </p:sp>
      <p:sp>
        <p:nvSpPr>
          <p:cNvPr id="6" name="Slide Number Placeholder 5"/>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212630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F1EE6B-72BE-4D75-9286-4017B5894E7C}" type="datetime1">
              <a:rPr lang="en-US" smtClean="0"/>
              <a:pPr/>
              <a:t>2/25/2024</a:t>
            </a:fld>
            <a:endParaRPr lang="en-US"/>
          </a:p>
        </p:txBody>
      </p:sp>
      <p:sp>
        <p:nvSpPr>
          <p:cNvPr id="5" name="Footer Placeholder 4"/>
          <p:cNvSpPr>
            <a:spLocks noGrp="1"/>
          </p:cNvSpPr>
          <p:nvPr>
            <p:ph type="ftr" sz="quarter" idx="11"/>
          </p:nvPr>
        </p:nvSpPr>
        <p:spPr/>
        <p:txBody>
          <a:bodyPr/>
          <a:lstStyle/>
          <a:p>
            <a:r>
              <a:rPr lang="en-US" dirty="0"/>
              <a:t>Stručno usavršavanje, august 2022. godine</a:t>
            </a:r>
          </a:p>
        </p:txBody>
      </p:sp>
      <p:sp>
        <p:nvSpPr>
          <p:cNvPr id="6" name="Slide Number Placeholder 5"/>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3105483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E9141C-42DF-447F-986F-AB2C2A101806}" type="datetime1">
              <a:rPr lang="en-US" smtClean="0"/>
              <a:pPr/>
              <a:t>2/25/2024</a:t>
            </a:fld>
            <a:endParaRPr lang="en-US"/>
          </a:p>
        </p:txBody>
      </p:sp>
      <p:sp>
        <p:nvSpPr>
          <p:cNvPr id="6" name="Footer Placeholder 5"/>
          <p:cNvSpPr>
            <a:spLocks noGrp="1"/>
          </p:cNvSpPr>
          <p:nvPr>
            <p:ph type="ftr" sz="quarter" idx="11"/>
          </p:nvPr>
        </p:nvSpPr>
        <p:spPr/>
        <p:txBody>
          <a:bodyPr/>
          <a:lstStyle/>
          <a:p>
            <a:r>
              <a:rPr lang="en-US" dirty="0"/>
              <a:t>Stručno usavršavanje, august 2022. godine</a:t>
            </a:r>
          </a:p>
        </p:txBody>
      </p:sp>
      <p:sp>
        <p:nvSpPr>
          <p:cNvPr id="7" name="Slide Number Placeholder 6"/>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383803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D75046-D7D5-4F41-BF4E-F545704C1F42}" type="datetime1">
              <a:rPr lang="en-US" smtClean="0"/>
              <a:pPr/>
              <a:t>2/25/2024</a:t>
            </a:fld>
            <a:endParaRPr lang="en-US"/>
          </a:p>
        </p:txBody>
      </p:sp>
      <p:sp>
        <p:nvSpPr>
          <p:cNvPr id="8" name="Footer Placeholder 7"/>
          <p:cNvSpPr>
            <a:spLocks noGrp="1"/>
          </p:cNvSpPr>
          <p:nvPr>
            <p:ph type="ftr" sz="quarter" idx="11"/>
          </p:nvPr>
        </p:nvSpPr>
        <p:spPr/>
        <p:txBody>
          <a:bodyPr/>
          <a:lstStyle/>
          <a:p>
            <a:r>
              <a:rPr lang="en-US" dirty="0"/>
              <a:t>Stručno usavršavanje, august 2022. godine</a:t>
            </a:r>
          </a:p>
        </p:txBody>
      </p:sp>
      <p:sp>
        <p:nvSpPr>
          <p:cNvPr id="9" name="Slide Number Placeholder 8"/>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174935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22D2E4-44D0-4A6B-A74B-B35F63EAEC9D}" type="datetime1">
              <a:rPr lang="en-US" smtClean="0"/>
              <a:pPr/>
              <a:t>2/25/2024</a:t>
            </a:fld>
            <a:endParaRPr lang="en-US"/>
          </a:p>
        </p:txBody>
      </p:sp>
      <p:sp>
        <p:nvSpPr>
          <p:cNvPr id="4" name="Footer Placeholder 3"/>
          <p:cNvSpPr>
            <a:spLocks noGrp="1"/>
          </p:cNvSpPr>
          <p:nvPr>
            <p:ph type="ftr" sz="quarter" idx="11"/>
          </p:nvPr>
        </p:nvSpPr>
        <p:spPr/>
        <p:txBody>
          <a:bodyPr/>
          <a:lstStyle/>
          <a:p>
            <a:r>
              <a:rPr lang="en-US" dirty="0"/>
              <a:t>Stručno usavršavanje, august 2022. godine</a:t>
            </a:r>
          </a:p>
        </p:txBody>
      </p:sp>
      <p:sp>
        <p:nvSpPr>
          <p:cNvPr id="5" name="Slide Number Placeholder 4"/>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3996334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xmlns="" id="{3D836EF3-5F9E-BD9D-21A6-1509D11AC1CA}"/>
              </a:ext>
            </a:extLst>
          </p:cNvPr>
          <p:cNvSpPr>
            <a:spLocks noGrp="1"/>
          </p:cNvSpPr>
          <p:nvPr>
            <p:ph type="ftr" sz="quarter" idx="11"/>
          </p:nvPr>
        </p:nvSpPr>
        <p:spPr>
          <a:xfrm>
            <a:off x="4038600" y="6356350"/>
            <a:ext cx="4114800" cy="365125"/>
          </a:xfrm>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august 2022. godine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449670" y="150426"/>
            <a:ext cx="3499407" cy="53649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6288124" y="0"/>
            <a:ext cx="2800741" cy="1105054"/>
          </a:xfrm>
          <a:prstGeom prst="rect">
            <a:avLst/>
          </a:prstGeom>
        </p:spPr>
      </p:pic>
    </p:spTree>
    <p:extLst>
      <p:ext uri="{BB962C8B-B14F-4D97-AF65-F5344CB8AC3E}">
        <p14:creationId xmlns:p14="http://schemas.microsoft.com/office/powerpoint/2010/main" xmlns="" val="3566112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A1667D-2A7A-4C8C-BC30-C1FBA00FBC6F}" type="datetime1">
              <a:rPr lang="en-US" smtClean="0"/>
              <a:pPr/>
              <a:t>2/25/2024</a:t>
            </a:fld>
            <a:endParaRPr lang="en-US"/>
          </a:p>
        </p:txBody>
      </p:sp>
      <p:sp>
        <p:nvSpPr>
          <p:cNvPr id="6" name="Footer Placeholder 5"/>
          <p:cNvSpPr>
            <a:spLocks noGrp="1"/>
          </p:cNvSpPr>
          <p:nvPr>
            <p:ph type="ftr" sz="quarter" idx="11"/>
          </p:nvPr>
        </p:nvSpPr>
        <p:spPr/>
        <p:txBody>
          <a:bodyPr/>
          <a:lstStyle/>
          <a:p>
            <a:r>
              <a:rPr lang="en-US" dirty="0"/>
              <a:t>Stručno usavršavanje, august 2022. godine</a:t>
            </a:r>
          </a:p>
        </p:txBody>
      </p:sp>
      <p:sp>
        <p:nvSpPr>
          <p:cNvPr id="7" name="Slide Number Placeholder 6"/>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1338466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CDA0958-8EDC-45F5-9DDA-6388B568B602}" type="datetime1">
              <a:rPr lang="en-US" smtClean="0"/>
              <a:pPr/>
              <a:t>2/25/2024</a:t>
            </a:fld>
            <a:endParaRPr lang="en-US"/>
          </a:p>
        </p:txBody>
      </p:sp>
      <p:sp>
        <p:nvSpPr>
          <p:cNvPr id="6" name="Footer Placeholder 5"/>
          <p:cNvSpPr>
            <a:spLocks noGrp="1"/>
          </p:cNvSpPr>
          <p:nvPr>
            <p:ph type="ftr" sz="quarter" idx="11"/>
          </p:nvPr>
        </p:nvSpPr>
        <p:spPr/>
        <p:txBody>
          <a:bodyPr/>
          <a:lstStyle/>
          <a:p>
            <a:r>
              <a:rPr lang="en-US" dirty="0"/>
              <a:t>Stručno usavršavanje, august 2022. godine</a:t>
            </a:r>
          </a:p>
        </p:txBody>
      </p:sp>
      <p:sp>
        <p:nvSpPr>
          <p:cNvPr id="7" name="Slide Number Placeholder 6"/>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414221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2D4008-3F30-4783-9EF1-B5BDD5EAA0D2}" type="datetime1">
              <a:rPr lang="en-US" smtClean="0"/>
              <a:pPr/>
              <a:t>2/25/2024</a:t>
            </a:fld>
            <a:endParaRPr lang="en-US"/>
          </a:p>
        </p:txBody>
      </p:sp>
      <p:sp>
        <p:nvSpPr>
          <p:cNvPr id="5" name="Footer Placeholder 4"/>
          <p:cNvSpPr>
            <a:spLocks noGrp="1"/>
          </p:cNvSpPr>
          <p:nvPr>
            <p:ph type="ftr" sz="quarter" idx="11"/>
          </p:nvPr>
        </p:nvSpPr>
        <p:spPr/>
        <p:txBody>
          <a:bodyPr/>
          <a:lstStyle/>
          <a:p>
            <a:r>
              <a:rPr lang="en-US" dirty="0"/>
              <a:t>Stručno usavršavanje, august 2022. godine</a:t>
            </a:r>
          </a:p>
        </p:txBody>
      </p:sp>
      <p:sp>
        <p:nvSpPr>
          <p:cNvPr id="6" name="Slide Number Placeholder 5"/>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1797974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D11906-1218-44B6-93DF-B9F02C667D54}" type="datetime1">
              <a:rPr lang="en-US" smtClean="0"/>
              <a:pPr/>
              <a:t>2/25/2024</a:t>
            </a:fld>
            <a:endParaRPr lang="en-US"/>
          </a:p>
        </p:txBody>
      </p:sp>
      <p:sp>
        <p:nvSpPr>
          <p:cNvPr id="5" name="Footer Placeholder 4"/>
          <p:cNvSpPr>
            <a:spLocks noGrp="1"/>
          </p:cNvSpPr>
          <p:nvPr>
            <p:ph type="ftr" sz="quarter" idx="11"/>
          </p:nvPr>
        </p:nvSpPr>
        <p:spPr/>
        <p:txBody>
          <a:bodyPr/>
          <a:lstStyle/>
          <a:p>
            <a:r>
              <a:rPr lang="en-US" dirty="0"/>
              <a:t>Stručno usavršavanje, august 2022. godine</a:t>
            </a:r>
          </a:p>
        </p:txBody>
      </p:sp>
      <p:sp>
        <p:nvSpPr>
          <p:cNvPr id="6" name="Slide Number Placeholder 5"/>
          <p:cNvSpPr>
            <a:spLocks noGrp="1"/>
          </p:cNvSpPr>
          <p:nvPr>
            <p:ph type="sldNum" sz="quarter" idx="12"/>
          </p:nvPr>
        </p:nvSpPr>
        <p:spPr/>
        <p:txBody>
          <a:body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830679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CE62933-D281-49FA-A9DB-26F2E9FFDB70}" type="datetimeFigureOut">
              <a:rPr lang="en-US" smtClean="0"/>
              <a:pPr/>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779083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E62933-D281-49FA-A9DB-26F2E9FFDB70}" type="datetimeFigureOut">
              <a:rPr lang="en-US" smtClean="0"/>
              <a:pPr/>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2132581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E62933-D281-49FA-A9DB-26F2E9FFDB70}" type="datetimeFigureOut">
              <a:rPr lang="en-US" smtClean="0"/>
              <a:pPr/>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02502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CE62933-D281-49FA-A9DB-26F2E9FFDB70}" type="datetimeFigureOut">
              <a:rPr lang="en-US" smtClean="0"/>
              <a:pPr/>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603561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E62933-D281-49FA-A9DB-26F2E9FFDB70}" type="datetimeFigureOut">
              <a:rPr lang="en-US" smtClean="0"/>
              <a:pPr/>
              <a:t>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605912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E62933-D281-49FA-A9DB-26F2E9FFDB70}" type="datetimeFigureOut">
              <a:rPr lang="en-US" smtClean="0"/>
              <a:pPr/>
              <a:t>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15520983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E62933-D281-49FA-A9DB-26F2E9FFDB70}" type="datetimeFigureOut">
              <a:rPr lang="en-US" smtClean="0"/>
              <a:pPr/>
              <a:t>2/25/2024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6457243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E62933-D281-49FA-A9DB-26F2E9FFDB70}" type="datetimeFigureOut">
              <a:rPr lang="en-US" smtClean="0"/>
              <a:pPr/>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93206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E62933-D281-49FA-A9DB-26F2E9FFDB70}" type="datetimeFigureOut">
              <a:rPr lang="en-US" smtClean="0"/>
              <a:pPr/>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4278417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E62933-D281-49FA-A9DB-26F2E9FFDB70}" type="datetimeFigureOut">
              <a:rPr lang="en-US" smtClean="0"/>
              <a:pPr/>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919118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E62933-D281-49FA-A9DB-26F2E9FFDB70}" type="datetimeFigureOut">
              <a:rPr lang="en-US" smtClean="0"/>
              <a:pPr/>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15585937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E62933-D281-49FA-A9DB-26F2E9FFDB70}" type="datetimeFigureOut">
              <a:rPr lang="en-US" smtClean="0"/>
              <a:pPr/>
              <a:t>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331437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11299-955F-4235-8B01-AAAFF55CBD10}" type="datetime1">
              <a:rPr lang="en-US" smtClean="0"/>
              <a:pPr/>
              <a:t>2/25/2024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Stručno usavršavanje, august 2022. godine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8EF0E4-FD17-4734-B817-A60335821929}" type="slidenum">
              <a:rPr lang="en-US" smtClean="0"/>
              <a:pPr/>
              <a:t>‹#›</a:t>
            </a:fld>
            <a:endParaRPr lang="en-US"/>
          </a:p>
        </p:txBody>
      </p:sp>
    </p:spTree>
    <p:extLst>
      <p:ext uri="{BB962C8B-B14F-4D97-AF65-F5344CB8AC3E}">
        <p14:creationId xmlns:p14="http://schemas.microsoft.com/office/powerpoint/2010/main" xmlns="" val="1023261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62933-D281-49FA-A9DB-26F2E9FFDB70}" type="datetimeFigureOut">
              <a:rPr lang="en-US" smtClean="0"/>
              <a:pPr/>
              <a:t>2/25/2024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7DBAF-67CA-4254-9EF8-90D4ADB73039}" type="slidenum">
              <a:rPr lang="en-US" smtClean="0"/>
              <a:pPr/>
              <a:t>‹#›</a:t>
            </a:fld>
            <a:endParaRPr lang="en-US"/>
          </a:p>
        </p:txBody>
      </p:sp>
    </p:spTree>
    <p:extLst>
      <p:ext uri="{BB962C8B-B14F-4D97-AF65-F5344CB8AC3E}">
        <p14:creationId xmlns:p14="http://schemas.microsoft.com/office/powerpoint/2010/main" xmlns="" val="24524620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610600" y="6356350"/>
            <a:ext cx="2743200" cy="365125"/>
          </a:xfrm>
        </p:spPr>
        <p:txBody>
          <a:bodyPr/>
          <a:lstStyle/>
          <a:p>
            <a:fld id="{E58EF0E4-FD17-4734-B817-A60335821929}" type="slidenum">
              <a:rPr lang="en-US" smtClean="0"/>
              <a:pPr/>
              <a:t>1</a:t>
            </a:fld>
            <a:endParaRPr lang="en-US" dirty="0"/>
          </a:p>
        </p:txBody>
      </p:sp>
      <p:sp>
        <p:nvSpPr>
          <p:cNvPr id="3" name="Rectangle 2"/>
          <p:cNvSpPr/>
          <p:nvPr/>
        </p:nvSpPr>
        <p:spPr>
          <a:xfrm>
            <a:off x="1084218" y="1306286"/>
            <a:ext cx="9679576" cy="4401205"/>
          </a:xfrm>
          <a:prstGeom prst="rect">
            <a:avLst/>
          </a:prstGeom>
        </p:spPr>
        <p:txBody>
          <a:bodyPr wrap="square">
            <a:spAutoFit/>
          </a:bodyPr>
          <a:lstStyle/>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ctr">
              <a:buNone/>
            </a:pPr>
            <a:r>
              <a:rPr lang="hr-BA" sz="3200" b="1" dirty="0" smtClean="0">
                <a:solidFill>
                  <a:schemeClr val="accent1">
                    <a:lumMod val="75000"/>
                  </a:schemeClr>
                </a:solidFill>
              </a:rPr>
              <a:t>NAČELA I OPIS KRIZNIH INTERVENCIJA</a:t>
            </a:r>
          </a:p>
          <a:p>
            <a:pPr algn="ctr">
              <a:buNone/>
            </a:pPr>
            <a:endParaRPr lang="hr-BA" sz="3200" b="1" dirty="0" smtClean="0">
              <a:solidFill>
                <a:schemeClr val="accent1">
                  <a:lumMod val="75000"/>
                </a:schemeClr>
              </a:solidFill>
            </a:endParaRPr>
          </a:p>
          <a:p>
            <a:pPr algn="ctr">
              <a:buNone/>
            </a:pPr>
            <a:r>
              <a:rPr lang="hr-BA" sz="3200" b="1" dirty="0" smtClean="0">
                <a:solidFill>
                  <a:schemeClr val="accent1">
                    <a:lumMod val="75000"/>
                  </a:schemeClr>
                </a:solidFill>
              </a:rPr>
              <a:t>ŠTA OPĆENITO RADIMO, KAKO I ZAŠTO?</a:t>
            </a:r>
          </a:p>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ctr">
              <a:buNone/>
            </a:pPr>
            <a:endParaRPr lang="hr-BA" dirty="0" smtClean="0">
              <a:solidFill>
                <a:schemeClr val="accent1">
                  <a:lumMod val="75000"/>
                </a:schemeClr>
              </a:solidFill>
            </a:endParaRPr>
          </a:p>
          <a:p>
            <a:pPr algn="r">
              <a:buNone/>
            </a:pPr>
            <a:r>
              <a:rPr lang="hr-BA" sz="2000" b="1" dirty="0" smtClean="0">
                <a:solidFill>
                  <a:schemeClr val="accent1">
                    <a:lumMod val="75000"/>
                  </a:schemeClr>
                </a:solidFill>
              </a:rPr>
              <a:t>MR.SCI AMELA BOSTANDŽIJA-PODUMLJAK</a:t>
            </a:r>
          </a:p>
          <a:p>
            <a:pPr algn="r">
              <a:buNone/>
            </a:pPr>
            <a:r>
              <a:rPr lang="hr-BA" sz="2000" b="1" dirty="0" smtClean="0">
                <a:solidFill>
                  <a:schemeClr val="accent1">
                    <a:lumMod val="75000"/>
                  </a:schemeClr>
                </a:solidFill>
              </a:rPr>
              <a:t>DIPLOMIRANI PSIHOLOG</a:t>
            </a:r>
            <a:endParaRPr lang="hr-BA" sz="2000" b="1" dirty="0">
              <a:solidFill>
                <a:schemeClr val="accent1">
                  <a:lumMod val="75000"/>
                </a:schemeClr>
              </a:solidFill>
            </a:endParaRPr>
          </a:p>
        </p:txBody>
      </p:sp>
    </p:spTree>
    <p:extLst>
      <p:ext uri="{BB962C8B-B14F-4D97-AF65-F5344CB8AC3E}">
        <p14:creationId xmlns:p14="http://schemas.microsoft.com/office/powerpoint/2010/main" xmlns="" val="3561484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err="1" smtClean="0">
                <a:solidFill>
                  <a:srgbClr val="0070C0"/>
                </a:solidFill>
              </a:rPr>
              <a:t>Stručno</a:t>
            </a:r>
            <a:r>
              <a:rPr lang="en-US" b="1" dirty="0" smtClean="0">
                <a:solidFill>
                  <a:srgbClr val="0070C0"/>
                </a:solidFill>
              </a:rPr>
              <a:t> </a:t>
            </a:r>
            <a:r>
              <a:rPr lang="en-US" b="1" dirty="0" err="1" smtClean="0">
                <a:solidFill>
                  <a:srgbClr val="0070C0"/>
                </a:solidFill>
                <a:latin typeface="Cambria" panose="02040503050406030204" pitchFamily="18" charset="0"/>
                <a:ea typeface="Cambria" panose="02040503050406030204" pitchFamily="18" charset="0"/>
              </a:rPr>
              <a:t>usavršavanje</a:t>
            </a:r>
            <a:r>
              <a:rPr lang="en-US" b="1" dirty="0" smtClean="0">
                <a:solidFill>
                  <a:srgbClr val="0070C0"/>
                </a:solidFill>
              </a:rPr>
              <a:t>, </a:t>
            </a:r>
            <a:r>
              <a:rPr lang="bs-Latn-BA" b="1" dirty="0" smtClean="0">
                <a:solidFill>
                  <a:srgbClr val="0070C0"/>
                </a:solidFill>
              </a:rPr>
              <a:t>februar </a:t>
            </a:r>
            <a:r>
              <a:rPr lang="en-US" b="1" dirty="0" smtClean="0">
                <a:solidFill>
                  <a:srgbClr val="0070C0"/>
                </a:solidFill>
              </a:rPr>
              <a:t>202</a:t>
            </a:r>
            <a:r>
              <a:rPr lang="bs-Latn-BA" b="1" dirty="0" smtClean="0">
                <a:solidFill>
                  <a:srgbClr val="0070C0"/>
                </a:solidFill>
              </a:rPr>
              <a:t>4</a:t>
            </a:r>
            <a:r>
              <a:rPr lang="en-US" b="1" dirty="0" smtClean="0">
                <a:solidFill>
                  <a:srgbClr val="0070C0"/>
                </a:solidFill>
              </a:rPr>
              <a:t>. </a:t>
            </a:r>
            <a:r>
              <a:rPr lang="en-US" b="1" dirty="0" err="1" smtClean="0">
                <a:solidFill>
                  <a:srgbClr val="0070C0"/>
                </a:solidFill>
              </a:rPr>
              <a:t>godine</a:t>
            </a:r>
            <a:endParaRPr lang="en-US" b="1" dirty="0">
              <a:solidFill>
                <a:srgbClr val="0070C0"/>
              </a:solidFill>
            </a:endParaRPr>
          </a:p>
        </p:txBody>
      </p:sp>
      <p:sp>
        <p:nvSpPr>
          <p:cNvPr id="3" name="Rectangle 2"/>
          <p:cNvSpPr/>
          <p:nvPr/>
        </p:nvSpPr>
        <p:spPr>
          <a:xfrm>
            <a:off x="666205" y="1528354"/>
            <a:ext cx="10019211" cy="3477875"/>
          </a:xfrm>
          <a:prstGeom prst="rect">
            <a:avLst/>
          </a:prstGeom>
        </p:spPr>
        <p:txBody>
          <a:bodyPr wrap="square">
            <a:spAutoFit/>
          </a:bodyPr>
          <a:lstStyle/>
          <a:p>
            <a:pPr algn="ctr"/>
            <a:endParaRPr lang="bs-Latn-BA" sz="4400" b="1" dirty="0" smtClean="0"/>
          </a:p>
          <a:p>
            <a:pPr algn="ctr"/>
            <a:r>
              <a:rPr lang="en-US" sz="4400" b="1" dirty="0" smtClean="0"/>
              <a:t>“</a:t>
            </a:r>
            <a:r>
              <a:rPr lang="en-US" sz="4400" b="1" dirty="0" err="1" smtClean="0"/>
              <a:t>Nastojte</a:t>
            </a:r>
            <a:r>
              <a:rPr lang="en-US" sz="4400" b="1" dirty="0" smtClean="0"/>
              <a:t> </a:t>
            </a:r>
            <a:r>
              <a:rPr lang="en-US" sz="4400" b="1" dirty="0" err="1" smtClean="0"/>
              <a:t>da</a:t>
            </a:r>
            <a:r>
              <a:rPr lang="en-US" sz="4400" b="1" dirty="0" smtClean="0"/>
              <a:t> ne </a:t>
            </a:r>
            <a:r>
              <a:rPr lang="en-US" sz="4400" b="1" dirty="0" err="1" smtClean="0"/>
              <a:t>budete</a:t>
            </a:r>
            <a:r>
              <a:rPr lang="en-US" sz="4400" b="1" dirty="0" smtClean="0"/>
              <a:t> </a:t>
            </a:r>
            <a:r>
              <a:rPr lang="en-US" sz="4400" b="1" dirty="0" err="1" smtClean="0"/>
              <a:t>uspjeh</a:t>
            </a:r>
            <a:r>
              <a:rPr lang="en-US" sz="4400" b="1" dirty="0" smtClean="0"/>
              <a:t>,</a:t>
            </a:r>
          </a:p>
          <a:p>
            <a:pPr algn="ctr"/>
            <a:r>
              <a:rPr lang="en-US" sz="4400" b="1" dirty="0" err="1" smtClean="0"/>
              <a:t>već</a:t>
            </a:r>
            <a:r>
              <a:rPr lang="en-US" sz="4400" b="1" dirty="0" smtClean="0"/>
              <a:t> </a:t>
            </a:r>
            <a:r>
              <a:rPr lang="en-US" sz="4400" b="1" dirty="0" err="1" smtClean="0"/>
              <a:t>da</a:t>
            </a:r>
            <a:r>
              <a:rPr lang="en-US" sz="4400" b="1" dirty="0" smtClean="0"/>
              <a:t> </a:t>
            </a:r>
            <a:r>
              <a:rPr lang="en-US" sz="4400" b="1" dirty="0" err="1" smtClean="0"/>
              <a:t>stvorite</a:t>
            </a:r>
            <a:r>
              <a:rPr lang="en-US" sz="4400" b="1" dirty="0" smtClean="0"/>
              <a:t> </a:t>
            </a:r>
            <a:r>
              <a:rPr lang="en-US" sz="4400" b="1" dirty="0" err="1" smtClean="0"/>
              <a:t>vrijednost</a:t>
            </a:r>
            <a:r>
              <a:rPr lang="en-US" sz="4400" b="1" dirty="0" smtClean="0"/>
              <a:t>”</a:t>
            </a:r>
          </a:p>
          <a:p>
            <a:pPr algn="ctr"/>
            <a:endParaRPr lang="en-US" sz="4400" b="1" dirty="0" smtClean="0"/>
          </a:p>
          <a:p>
            <a:pPr algn="ctr"/>
            <a:r>
              <a:rPr lang="en-US" sz="4400" b="1" dirty="0" smtClean="0"/>
              <a:t>Albert Einstein</a:t>
            </a:r>
            <a:endParaRPr lang="bs-Latn-BA" sz="4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graphicFrame>
        <p:nvGraphicFramePr>
          <p:cNvPr id="4" name="Table 3"/>
          <p:cNvGraphicFramePr>
            <a:graphicFrameLocks noGrp="1"/>
          </p:cNvGraphicFramePr>
          <p:nvPr/>
        </p:nvGraphicFramePr>
        <p:xfrm>
          <a:off x="1891863" y="1692165"/>
          <a:ext cx="8450316" cy="3657600"/>
        </p:xfrm>
        <a:graphic>
          <a:graphicData uri="http://schemas.openxmlformats.org/drawingml/2006/table">
            <a:tbl>
              <a:tblPr/>
              <a:tblGrid>
                <a:gridCol w="3797493">
                  <a:extLst>
                    <a:ext uri="{9D8B030D-6E8A-4147-A177-3AD203B41FA5}">
                      <a16:colId xmlns:a16="http://schemas.microsoft.com/office/drawing/2014/main" xmlns="" val="20000"/>
                    </a:ext>
                  </a:extLst>
                </a:gridCol>
                <a:gridCol w="4652823">
                  <a:extLst>
                    <a:ext uri="{9D8B030D-6E8A-4147-A177-3AD203B41FA5}">
                      <a16:colId xmlns:a16="http://schemas.microsoft.com/office/drawing/2014/main" xmlns="" val="20001"/>
                    </a:ext>
                  </a:extLst>
                </a:gridCol>
              </a:tblGrid>
              <a:tr h="381875">
                <a:tc>
                  <a:txBody>
                    <a:bodyPr/>
                    <a:lstStyle/>
                    <a:p>
                      <a:pPr algn="l" fontAlgn="b"/>
                      <a:r>
                        <a:rPr lang="en-US" sz="1800" b="1" i="0" u="none" strike="noStrike" dirty="0">
                          <a:solidFill>
                            <a:srgbClr val="FFFFFF"/>
                          </a:solidFill>
                          <a:latin typeface="Calibri"/>
                        </a:rPr>
                        <a:t>  STRESNI DOGAĐAJ</a:t>
                      </a:r>
                    </a:p>
                  </a:txBody>
                  <a:tcPr marL="9525" marR="9525" marT="9525" marB="0" anchor="b">
                    <a:lnL>
                      <a:noFill/>
                    </a:lnL>
                    <a:lnR>
                      <a:noFill/>
                    </a:lnR>
                    <a:lnT>
                      <a:noFill/>
                    </a:lnT>
                    <a:lnB>
                      <a:noFill/>
                    </a:lnB>
                    <a:solidFill>
                      <a:srgbClr val="8DB4E3"/>
                    </a:solidFill>
                  </a:tcPr>
                </a:tc>
                <a:tc>
                  <a:txBody>
                    <a:bodyPr/>
                    <a:lstStyle/>
                    <a:p>
                      <a:pPr algn="l" fontAlgn="b"/>
                      <a:r>
                        <a:rPr lang="en-US" sz="1800" b="1" i="0" u="none" strike="noStrike" dirty="0">
                          <a:solidFill>
                            <a:srgbClr val="FFFFFF"/>
                          </a:solidFill>
                          <a:latin typeface="Calibri"/>
                        </a:rPr>
                        <a:t>  TRAUMATSKI DOGAĐAJ</a:t>
                      </a:r>
                    </a:p>
                  </a:txBody>
                  <a:tcPr marL="9525" marR="9525" marT="9525" marB="0" anchor="b">
                    <a:lnL>
                      <a:noFill/>
                    </a:lnL>
                    <a:lnR>
                      <a:noFill/>
                    </a:lnR>
                    <a:lnT>
                      <a:noFill/>
                    </a:lnT>
                    <a:lnB>
                      <a:noFill/>
                    </a:lnB>
                    <a:solidFill>
                      <a:srgbClr val="8DB4E3"/>
                    </a:solidFill>
                  </a:tcPr>
                </a:tc>
                <a:extLst>
                  <a:ext uri="{0D108BD9-81ED-4DB2-BD59-A6C34878D82A}">
                    <a16:rowId xmlns:a16="http://schemas.microsoft.com/office/drawing/2014/main" xmlns="" val="10000"/>
                  </a:ext>
                </a:extLst>
              </a:tr>
              <a:tr h="655145">
                <a:tc>
                  <a:txBody>
                    <a:bodyPr/>
                    <a:lstStyle/>
                    <a:p>
                      <a:pPr algn="l" fontAlgn="b"/>
                      <a:r>
                        <a:rPr lang="en-US" sz="1800" b="1" i="0" u="none" strike="noStrike" dirty="0">
                          <a:solidFill>
                            <a:srgbClr val="000000"/>
                          </a:solidFill>
                          <a:latin typeface="Calibri"/>
                        </a:rPr>
                        <a:t> </a:t>
                      </a:r>
                    </a:p>
                  </a:txBody>
                  <a:tcPr marL="9525" marR="9525" marT="9525" marB="0" anchor="b">
                    <a:lnL>
                      <a:noFill/>
                    </a:lnL>
                    <a:lnR>
                      <a:noFill/>
                    </a:lnR>
                    <a:lnT>
                      <a:noFill/>
                    </a:lnT>
                    <a:lnB>
                      <a:noFill/>
                    </a:lnB>
                    <a:solidFill>
                      <a:srgbClr val="8DB4E3"/>
                    </a:solidFill>
                  </a:tcPr>
                </a:tc>
                <a:tc>
                  <a:txBody>
                    <a:bodyPr/>
                    <a:lstStyle/>
                    <a:p>
                      <a:pPr algn="l" fontAlgn="b"/>
                      <a:r>
                        <a:rPr lang="en-US" sz="1800" b="1" i="0" u="none" strike="noStrike">
                          <a:solidFill>
                            <a:srgbClr val="000000"/>
                          </a:solidFill>
                          <a:latin typeface="Calibri"/>
                        </a:rPr>
                        <a:t> </a:t>
                      </a:r>
                    </a:p>
                  </a:txBody>
                  <a:tcPr marL="9525" marR="9525" marT="9525" marB="0" anchor="b">
                    <a:lnL>
                      <a:noFill/>
                    </a:lnL>
                    <a:lnR>
                      <a:noFill/>
                    </a:lnR>
                    <a:lnT>
                      <a:noFill/>
                    </a:lnT>
                    <a:lnB>
                      <a:noFill/>
                    </a:lnB>
                    <a:solidFill>
                      <a:srgbClr val="8DB4E3"/>
                    </a:solidFill>
                  </a:tcPr>
                </a:tc>
                <a:extLst>
                  <a:ext uri="{0D108BD9-81ED-4DB2-BD59-A6C34878D82A}">
                    <a16:rowId xmlns:a16="http://schemas.microsoft.com/office/drawing/2014/main" xmlns="" val="10001"/>
                  </a:ext>
                </a:extLst>
              </a:tr>
              <a:tr h="655145">
                <a:tc>
                  <a:txBody>
                    <a:bodyPr/>
                    <a:lstStyle/>
                    <a:p>
                      <a:pPr algn="l" fontAlgn="b"/>
                      <a:r>
                        <a:rPr lang="en-US" sz="1800" b="1" i="0" u="none" strike="noStrike">
                          <a:solidFill>
                            <a:srgbClr val="FFFFFF"/>
                          </a:solidFill>
                          <a:latin typeface="Calibri"/>
                        </a:rPr>
                        <a:t>  DOGAĐA SE SVAKODNEVNO</a:t>
                      </a:r>
                    </a:p>
                  </a:txBody>
                  <a:tcPr marL="9525" marR="9525" marT="9525" marB="0" anchor="b">
                    <a:lnL>
                      <a:noFill/>
                    </a:lnL>
                    <a:lnR>
                      <a:noFill/>
                    </a:lnR>
                    <a:lnT>
                      <a:noFill/>
                    </a:lnT>
                    <a:lnB>
                      <a:noFill/>
                    </a:lnB>
                    <a:solidFill>
                      <a:srgbClr val="8DB4E3"/>
                    </a:solidFill>
                  </a:tcPr>
                </a:tc>
                <a:tc>
                  <a:txBody>
                    <a:bodyPr/>
                    <a:lstStyle/>
                    <a:p>
                      <a:pPr algn="l" fontAlgn="b"/>
                      <a:r>
                        <a:rPr lang="en-US" sz="1800" b="1" i="0" u="none" strike="noStrike">
                          <a:solidFill>
                            <a:srgbClr val="000000"/>
                          </a:solidFill>
                          <a:latin typeface="Calibri"/>
                        </a:rPr>
                        <a:t>  DOGAĐA SE RIJETKO</a:t>
                      </a:r>
                    </a:p>
                  </a:txBody>
                  <a:tcPr marL="9525" marR="9525" marT="9525" marB="0" anchor="b">
                    <a:lnL>
                      <a:noFill/>
                    </a:lnL>
                    <a:lnR>
                      <a:noFill/>
                    </a:lnR>
                    <a:lnT>
                      <a:noFill/>
                    </a:lnT>
                    <a:lnB>
                      <a:noFill/>
                    </a:lnB>
                    <a:solidFill>
                      <a:srgbClr val="F2F2F2"/>
                    </a:solidFill>
                  </a:tcPr>
                </a:tc>
                <a:extLst>
                  <a:ext uri="{0D108BD9-81ED-4DB2-BD59-A6C34878D82A}">
                    <a16:rowId xmlns:a16="http://schemas.microsoft.com/office/drawing/2014/main" xmlns="" val="10002"/>
                  </a:ext>
                </a:extLst>
              </a:tr>
              <a:tr h="655145">
                <a:tc>
                  <a:txBody>
                    <a:bodyPr/>
                    <a:lstStyle/>
                    <a:p>
                      <a:pPr algn="l" fontAlgn="b"/>
                      <a:r>
                        <a:rPr lang="en-US" sz="1800" b="1" i="0" u="none" strike="noStrike">
                          <a:solidFill>
                            <a:srgbClr val="FFFFFF"/>
                          </a:solidFill>
                          <a:latin typeface="Calibri"/>
                        </a:rPr>
                        <a:t>  OVISI O PROCJENI POJEDINCA</a:t>
                      </a:r>
                    </a:p>
                  </a:txBody>
                  <a:tcPr marL="9525" marR="9525" marT="9525" marB="0" anchor="b">
                    <a:lnL>
                      <a:noFill/>
                    </a:lnL>
                    <a:lnR>
                      <a:noFill/>
                    </a:lnR>
                    <a:lnT>
                      <a:noFill/>
                    </a:lnT>
                    <a:lnB>
                      <a:noFill/>
                    </a:lnB>
                    <a:solidFill>
                      <a:srgbClr val="8DB4E3"/>
                    </a:solidFill>
                  </a:tcPr>
                </a:tc>
                <a:tc>
                  <a:txBody>
                    <a:bodyPr/>
                    <a:lstStyle/>
                    <a:p>
                      <a:pPr algn="l" fontAlgn="b"/>
                      <a:r>
                        <a:rPr lang="it-IT" sz="1800" b="1" i="0" u="none" strike="noStrike" dirty="0">
                          <a:solidFill>
                            <a:srgbClr val="000000"/>
                          </a:solidFill>
                          <a:latin typeface="Calibri"/>
                        </a:rPr>
                        <a:t>  NE OVISI O PROCJENI POJEDINCA</a:t>
                      </a:r>
                    </a:p>
                  </a:txBody>
                  <a:tcPr marL="9525" marR="9525" marT="9525" marB="0" anchor="b">
                    <a:lnL>
                      <a:noFill/>
                    </a:lnL>
                    <a:lnR>
                      <a:noFill/>
                    </a:lnR>
                    <a:lnT>
                      <a:noFill/>
                    </a:lnT>
                    <a:lnB>
                      <a:noFill/>
                    </a:lnB>
                    <a:solidFill>
                      <a:srgbClr val="F2F2F2"/>
                    </a:solidFill>
                  </a:tcPr>
                </a:tc>
                <a:extLst>
                  <a:ext uri="{0D108BD9-81ED-4DB2-BD59-A6C34878D82A}">
                    <a16:rowId xmlns:a16="http://schemas.microsoft.com/office/drawing/2014/main" xmlns="" val="10003"/>
                  </a:ext>
                </a:extLst>
              </a:tr>
              <a:tr h="655145">
                <a:tc>
                  <a:txBody>
                    <a:bodyPr/>
                    <a:lstStyle/>
                    <a:p>
                      <a:pPr algn="l" fontAlgn="b"/>
                      <a:r>
                        <a:rPr lang="en-US" sz="1800" b="1" i="0" u="none" strike="noStrike">
                          <a:solidFill>
                            <a:srgbClr val="FFFFFF"/>
                          </a:solidFill>
                          <a:latin typeface="Calibri"/>
                        </a:rPr>
                        <a:t>  DJELUJE I POZITIVNO I NEGATIVNO</a:t>
                      </a:r>
                    </a:p>
                  </a:txBody>
                  <a:tcPr marL="9525" marR="9525" marT="9525" marB="0" anchor="b">
                    <a:lnL>
                      <a:noFill/>
                    </a:lnL>
                    <a:lnR>
                      <a:noFill/>
                    </a:lnR>
                    <a:lnT>
                      <a:noFill/>
                    </a:lnT>
                    <a:lnB>
                      <a:noFill/>
                    </a:lnB>
                    <a:solidFill>
                      <a:srgbClr val="8DB4E3"/>
                    </a:solidFill>
                  </a:tcPr>
                </a:tc>
                <a:tc>
                  <a:txBody>
                    <a:bodyPr/>
                    <a:lstStyle/>
                    <a:p>
                      <a:pPr algn="l" fontAlgn="b"/>
                      <a:r>
                        <a:rPr lang="en-US" sz="1800" b="1" i="0" u="none" strike="noStrike" dirty="0">
                          <a:solidFill>
                            <a:srgbClr val="000000"/>
                          </a:solidFill>
                          <a:latin typeface="Calibri"/>
                        </a:rPr>
                        <a:t>  GOTOVO UVIJEK DJELUJE NEGATIVNO</a:t>
                      </a:r>
                    </a:p>
                  </a:txBody>
                  <a:tcPr marL="9525" marR="9525" marT="9525" marB="0" anchor="b">
                    <a:lnL>
                      <a:noFill/>
                    </a:lnL>
                    <a:lnR>
                      <a:noFill/>
                    </a:lnR>
                    <a:lnT>
                      <a:noFill/>
                    </a:lnT>
                    <a:lnB>
                      <a:noFill/>
                    </a:lnB>
                    <a:solidFill>
                      <a:srgbClr val="F2F2F2"/>
                    </a:solidFill>
                  </a:tcPr>
                </a:tc>
                <a:extLst>
                  <a:ext uri="{0D108BD9-81ED-4DB2-BD59-A6C34878D82A}">
                    <a16:rowId xmlns:a16="http://schemas.microsoft.com/office/drawing/2014/main" xmlns="" val="10004"/>
                  </a:ext>
                </a:extLst>
              </a:tr>
              <a:tr h="655145">
                <a:tc>
                  <a:txBody>
                    <a:bodyPr/>
                    <a:lstStyle/>
                    <a:p>
                      <a:pPr algn="l" fontAlgn="b"/>
                      <a:r>
                        <a:rPr lang="en-US" sz="1800" b="1" i="0" u="none" strike="noStrike" dirty="0">
                          <a:solidFill>
                            <a:srgbClr val="FFFFFF"/>
                          </a:solidFill>
                          <a:latin typeface="Calibri"/>
                        </a:rPr>
                        <a:t>  DOGAĐA SE SVIM LJUDIMA</a:t>
                      </a:r>
                    </a:p>
                  </a:txBody>
                  <a:tcPr marL="9525" marR="9525" marT="9525" marB="0" anchor="b">
                    <a:lnL>
                      <a:noFill/>
                    </a:lnL>
                    <a:lnR>
                      <a:noFill/>
                    </a:lnR>
                    <a:lnT>
                      <a:noFill/>
                    </a:lnT>
                    <a:lnB>
                      <a:noFill/>
                    </a:lnB>
                    <a:solidFill>
                      <a:srgbClr val="8DB4E3"/>
                    </a:solidFill>
                  </a:tcPr>
                </a:tc>
                <a:tc>
                  <a:txBody>
                    <a:bodyPr/>
                    <a:lstStyle/>
                    <a:p>
                      <a:pPr algn="l" fontAlgn="b"/>
                      <a:r>
                        <a:rPr lang="en-US" sz="1800" b="1" i="0" u="none" strike="noStrike" dirty="0">
                          <a:solidFill>
                            <a:srgbClr val="000000"/>
                          </a:solidFill>
                          <a:latin typeface="Calibri"/>
                        </a:rPr>
                        <a:t>  IZLAZI IZ UOBIČAJENOG ISKUSTVA</a:t>
                      </a:r>
                    </a:p>
                  </a:txBody>
                  <a:tcPr marL="9525" marR="9525" marT="9525" marB="0" anchor="b">
                    <a:lnL>
                      <a:noFill/>
                    </a:lnL>
                    <a:lnR>
                      <a:noFill/>
                    </a:lnR>
                    <a:lnT>
                      <a:noFill/>
                    </a:lnT>
                    <a:lnB>
                      <a:noFill/>
                    </a:lnB>
                    <a:solidFill>
                      <a:srgbClr val="F2F2F2"/>
                    </a:solidFill>
                  </a:tcPr>
                </a:tc>
                <a:extLst>
                  <a:ext uri="{0D108BD9-81ED-4DB2-BD59-A6C34878D82A}">
                    <a16:rowId xmlns:a16="http://schemas.microsoft.com/office/drawing/2014/main" xmlns="" val="10005"/>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610600" y="6356350"/>
            <a:ext cx="2743200" cy="365125"/>
          </a:xfrm>
        </p:spPr>
        <p:txBody>
          <a:bodyPr/>
          <a:lstStyle/>
          <a:p>
            <a:fld id="{E58EF0E4-FD17-4734-B817-A60335821929}" type="slidenum">
              <a:rPr lang="en-US" smtClean="0"/>
              <a:pPr/>
              <a:t>4</a:t>
            </a:fld>
            <a:endParaRPr lang="en-US" dirty="0"/>
          </a:p>
        </p:txBody>
      </p:sp>
      <p:sp>
        <p:nvSpPr>
          <p:cNvPr id="4" name="Rectangle 3"/>
          <p:cNvSpPr/>
          <p:nvPr/>
        </p:nvSpPr>
        <p:spPr>
          <a:xfrm>
            <a:off x="725214" y="1175656"/>
            <a:ext cx="10741572" cy="4801314"/>
          </a:xfrm>
          <a:prstGeom prst="rect">
            <a:avLst/>
          </a:prstGeom>
        </p:spPr>
        <p:txBody>
          <a:bodyPr wrap="square">
            <a:spAutoFit/>
          </a:bodyPr>
          <a:lstStyle/>
          <a:p>
            <a:pPr algn="just"/>
            <a:r>
              <a:rPr lang="bs-Latn-BA" b="1" dirty="0">
                <a:latin typeface="Calibri" pitchFamily="34" charset="0"/>
                <a:cs typeface="Calibri" pitchFamily="34" charset="0"/>
              </a:rPr>
              <a:t>KRIZNI DOGAĐAJ I KRIZA KAO PSIHIČKO STANJE, TE NAČELA PRUŽANJA PODRŠKE LJUDIMA U KRIZI</a:t>
            </a:r>
          </a:p>
          <a:p>
            <a:pPr algn="just"/>
            <a:endParaRPr lang="bs-Latn-BA" b="1" dirty="0">
              <a:latin typeface="Calibri" pitchFamily="34" charset="0"/>
              <a:cs typeface="Calibri" pitchFamily="34" charset="0"/>
            </a:endParaRPr>
          </a:p>
          <a:p>
            <a:pPr algn="just"/>
            <a:r>
              <a:rPr lang="bs-Latn-BA" dirty="0">
                <a:latin typeface="Calibri" pitchFamily="34" charset="0"/>
                <a:cs typeface="Calibri" pitchFamily="34" charset="0"/>
              </a:rPr>
              <a:t>Pojam </a:t>
            </a:r>
            <a:r>
              <a:rPr lang="bs-Latn-BA" b="1" i="1" dirty="0">
                <a:latin typeface="Calibri" pitchFamily="34" charset="0"/>
                <a:cs typeface="Calibri" pitchFamily="34" charset="0"/>
              </a:rPr>
              <a:t>KRIZA</a:t>
            </a:r>
            <a:r>
              <a:rPr lang="bs-Latn-BA" dirty="0">
                <a:latin typeface="Calibri" pitchFamily="34" charset="0"/>
                <a:cs typeface="Calibri" pitchFamily="34" charset="0"/>
              </a:rPr>
              <a:t> dolazi od grčke riječi </a:t>
            </a:r>
            <a:r>
              <a:rPr lang="bs-Latn-BA" b="1" i="1" dirty="0">
                <a:latin typeface="Calibri" pitchFamily="34" charset="0"/>
                <a:cs typeface="Calibri" pitchFamily="34" charset="0"/>
              </a:rPr>
              <a:t>krisis</a:t>
            </a:r>
            <a:r>
              <a:rPr lang="bs-Latn-BA" dirty="0">
                <a:latin typeface="Calibri" pitchFamily="34" charset="0"/>
                <a:cs typeface="Calibri" pitchFamily="34" charset="0"/>
              </a:rPr>
              <a:t> što znači odluka, odlučivanje, pa se može reći da to stanje zahtijeva određene važne izbore ili donošenje značajnih odluka.</a:t>
            </a:r>
          </a:p>
          <a:p>
            <a:pPr algn="just"/>
            <a:endParaRPr lang="bs-Latn-BA" b="1" dirty="0">
              <a:latin typeface="Calibri" pitchFamily="34" charset="0"/>
              <a:cs typeface="Calibri" pitchFamily="34" charset="0"/>
            </a:endParaRPr>
          </a:p>
          <a:p>
            <a:pPr algn="just"/>
            <a:r>
              <a:rPr lang="bs-Latn-BA" dirty="0">
                <a:latin typeface="Calibri" pitchFamily="34" charset="0"/>
                <a:cs typeface="Calibri" pitchFamily="34" charset="0"/>
              </a:rPr>
              <a:t>Načela pružanja podrške </a:t>
            </a:r>
            <a:r>
              <a:rPr lang="en-GB" dirty="0">
                <a:latin typeface="Calibri" pitchFamily="34" charset="0"/>
                <a:cs typeface="Calibri" pitchFamily="34" charset="0"/>
              </a:rPr>
              <a:t>l</a:t>
            </a:r>
            <a:r>
              <a:rPr lang="bs-Latn-BA" dirty="0">
                <a:latin typeface="Calibri" pitchFamily="34" charset="0"/>
                <a:cs typeface="Calibri" pitchFamily="34" charset="0"/>
              </a:rPr>
              <a:t>judima u krizi temelje se na obilježjima kriznih događaja i krize kao psihičkog stanja.</a:t>
            </a:r>
          </a:p>
          <a:p>
            <a:pPr algn="just"/>
            <a:endParaRPr lang="bs-Latn-BA" b="1" dirty="0">
              <a:latin typeface="Calibri" pitchFamily="34" charset="0"/>
              <a:cs typeface="Calibri" pitchFamily="34" charset="0"/>
            </a:endParaRPr>
          </a:p>
          <a:p>
            <a:pPr algn="just"/>
            <a:r>
              <a:rPr lang="vi-VN" b="1" dirty="0">
                <a:latin typeface="Calibri" pitchFamily="34" charset="0"/>
                <a:cs typeface="Calibri" pitchFamily="34" charset="0"/>
              </a:rPr>
              <a:t>Krizni događaj je iznenadan i/ili rijedak događaj koji djeluje izrazito uznemirujuće ili stresno na većinu ljudi.</a:t>
            </a:r>
            <a:endParaRPr lang="bs-Latn-BA" b="1" dirty="0">
              <a:latin typeface="Calibri" pitchFamily="34" charset="0"/>
              <a:cs typeface="Calibri" pitchFamily="34" charset="0"/>
            </a:endParaRPr>
          </a:p>
          <a:p>
            <a:pPr algn="just"/>
            <a:endParaRPr lang="vi-VN" b="1" dirty="0">
              <a:latin typeface="Calibri" pitchFamily="34" charset="0"/>
              <a:cs typeface="Calibri" pitchFamily="34" charset="0"/>
            </a:endParaRPr>
          </a:p>
          <a:p>
            <a:pPr algn="just"/>
            <a:r>
              <a:rPr lang="bs-Latn-BA" dirty="0">
                <a:latin typeface="Calibri" pitchFamily="34" charset="0"/>
                <a:cs typeface="Calibri" pitchFamily="34" charset="0"/>
              </a:rPr>
              <a:t>Krizni događaj ima sljedeća obilježja:</a:t>
            </a:r>
          </a:p>
          <a:p>
            <a:pPr marL="342900" indent="-342900" algn="just">
              <a:buAutoNum type="arabicPeriod"/>
            </a:pPr>
            <a:r>
              <a:rPr lang="bs-Latn-BA" dirty="0">
                <a:latin typeface="Calibri" pitchFamily="34" charset="0"/>
                <a:cs typeface="Calibri" pitchFamily="34" charset="0"/>
              </a:rPr>
              <a:t>To je iznenadni i /ili rijedak događaj koji je izrazito uznemirujući i stresan većini ljudi</a:t>
            </a:r>
          </a:p>
          <a:p>
            <a:pPr marL="342900" indent="-342900" algn="just">
              <a:buAutoNum type="arabicPeriod"/>
            </a:pPr>
            <a:r>
              <a:rPr lang="bs-Latn-BA" dirty="0">
                <a:latin typeface="Calibri" pitchFamily="34" charset="0"/>
                <a:cs typeface="Calibri" pitchFamily="34" charset="0"/>
              </a:rPr>
              <a:t>Ljudi imaju osjećaj da ga ne mogu sami savladati (odnosno izaći iz krize) koristeći uobičajene mehanizme suočavanja</a:t>
            </a:r>
          </a:p>
          <a:p>
            <a:pPr marL="342900" indent="-342900" algn="just">
              <a:buAutoNum type="arabicPeriod"/>
            </a:pPr>
            <a:r>
              <a:rPr lang="bs-Latn-BA" dirty="0">
                <a:latin typeface="Calibri" pitchFamily="34" charset="0"/>
                <a:cs typeface="Calibri" pitchFamily="34" charset="0"/>
              </a:rPr>
              <a:t>Može imati učinak na pojedinca, skupinu ili organizaciju/ustanovu odnosno čitavu zajednicu.</a:t>
            </a:r>
          </a:p>
          <a:p>
            <a:pPr marL="342900" indent="-342900" algn="just">
              <a:buAutoNum type="arabicPeriod"/>
            </a:pPr>
            <a:endParaRPr lang="bs-Latn-BA" dirty="0">
              <a:latin typeface="Calibri" pitchFamily="34" charset="0"/>
              <a:cs typeface="Calibri" pitchFamily="34" charset="0"/>
            </a:endParaRPr>
          </a:p>
          <a:p>
            <a:pPr marL="342900" indent="-342900" algn="just"/>
            <a:r>
              <a:rPr lang="bs-Latn-BA" b="1" dirty="0">
                <a:latin typeface="Calibri" pitchFamily="34" charset="0"/>
                <a:cs typeface="Calibri" pitchFamily="34" charset="0"/>
              </a:rPr>
              <a:t>N</a:t>
            </a:r>
            <a:r>
              <a:rPr lang="en-GB" b="1" dirty="0">
                <a:latin typeface="Calibri" pitchFamily="34" charset="0"/>
                <a:cs typeface="Calibri" pitchFamily="34" charset="0"/>
              </a:rPr>
              <a:t>pr</a:t>
            </a:r>
            <a:r>
              <a:rPr lang="bs-Latn-BA" b="1" dirty="0">
                <a:latin typeface="Calibri" pitchFamily="34" charset="0"/>
                <a:cs typeface="Calibri" pitchFamily="34" charset="0"/>
              </a:rPr>
              <a:t>. Ubistvo ili samoubistvo, ili njihovi pokušaji, utapanje, silovanje, saobraćajna nesreća, razbojnički napad, </a:t>
            </a:r>
            <a:r>
              <a:rPr lang="en-GB" b="1" dirty="0" smtClean="0">
                <a:latin typeface="Calibri" pitchFamily="34" charset="0"/>
                <a:cs typeface="Calibri" pitchFamily="34" charset="0"/>
              </a:rPr>
              <a:t>  </a:t>
            </a:r>
            <a:r>
              <a:rPr lang="en-GB" b="1" dirty="0" smtClean="0">
                <a:solidFill>
                  <a:schemeClr val="bg1"/>
                </a:solidFill>
                <a:latin typeface="Calibri" pitchFamily="34" charset="0"/>
                <a:cs typeface="Calibri" pitchFamily="34" charset="0"/>
              </a:rPr>
              <a:t>I</a:t>
            </a:r>
            <a:r>
              <a:rPr lang="en-GB" b="1" dirty="0" smtClean="0">
                <a:latin typeface="Calibri" pitchFamily="34" charset="0"/>
                <a:cs typeface="Calibri" pitchFamily="34" charset="0"/>
              </a:rPr>
              <a:t>   </a:t>
            </a:r>
            <a:r>
              <a:rPr lang="en-GB" b="1" dirty="0" err="1" smtClean="0">
                <a:solidFill>
                  <a:schemeClr val="bg1"/>
                </a:solidFill>
                <a:latin typeface="Calibri" pitchFamily="34" charset="0"/>
                <a:cs typeface="Calibri" pitchFamily="34" charset="0"/>
              </a:rPr>
              <a:t>I</a:t>
            </a:r>
            <a:r>
              <a:rPr lang="en-GB" b="1" dirty="0" smtClean="0">
                <a:latin typeface="Calibri" pitchFamily="34" charset="0"/>
                <a:cs typeface="Calibri" pitchFamily="34" charset="0"/>
              </a:rPr>
              <a:t> </a:t>
            </a:r>
            <a:r>
              <a:rPr lang="bs-Latn-BA" b="1" dirty="0" smtClean="0">
                <a:latin typeface="Calibri" pitchFamily="34" charset="0"/>
                <a:cs typeface="Calibri" pitchFamily="34" charset="0"/>
              </a:rPr>
              <a:t>požar</a:t>
            </a:r>
            <a:r>
              <a:rPr lang="bs-Latn-BA" b="1" dirty="0">
                <a:latin typeface="Calibri" pitchFamily="34" charset="0"/>
                <a:cs typeface="Calibri" pitchFamily="34" charset="0"/>
              </a:rPr>
              <a:t>, talačka kriza, oružana pljačka i sl. </a:t>
            </a:r>
          </a:p>
        </p:txBody>
      </p:sp>
    </p:spTree>
    <p:extLst>
      <p:ext uri="{BB962C8B-B14F-4D97-AF65-F5344CB8AC3E}">
        <p14:creationId xmlns:p14="http://schemas.microsoft.com/office/powerpoint/2010/main" xmlns="" val="16949462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D29BE91-0AE3-9F0B-2CDA-23101B95224D}"/>
              </a:ext>
            </a:extLst>
          </p:cNvPr>
          <p:cNvSpPr>
            <a:spLocks noGrp="1"/>
          </p:cNvSpPr>
          <p:nvPr>
            <p:ph type="sldNum" sz="quarter" idx="4294967295"/>
          </p:nvPr>
        </p:nvSpPr>
        <p:spPr>
          <a:xfrm>
            <a:off x="8610600" y="6356350"/>
            <a:ext cx="2743200" cy="365125"/>
          </a:xfrm>
        </p:spPr>
        <p:txBody>
          <a:bodyPr/>
          <a:lstStyle/>
          <a:p>
            <a:fld id="{E58EF0E4-FD17-4734-B817-A60335821929}" type="slidenum">
              <a:rPr lang="en-US" smtClean="0"/>
              <a:pPr/>
              <a:t>5</a:t>
            </a:fld>
            <a:endParaRPr lang="en-US" dirty="0"/>
          </a:p>
        </p:txBody>
      </p:sp>
      <p:sp>
        <p:nvSpPr>
          <p:cNvPr id="5" name="Rectangle 4"/>
          <p:cNvSpPr/>
          <p:nvPr/>
        </p:nvSpPr>
        <p:spPr>
          <a:xfrm>
            <a:off x="744583" y="1650124"/>
            <a:ext cx="10633166" cy="3693319"/>
          </a:xfrm>
          <a:prstGeom prst="rect">
            <a:avLst/>
          </a:prstGeom>
        </p:spPr>
        <p:txBody>
          <a:bodyPr wrap="square">
            <a:spAutoFit/>
          </a:bodyPr>
          <a:lstStyle/>
          <a:p>
            <a:pPr algn="just"/>
            <a:r>
              <a:rPr lang="vi-VN" b="1" dirty="0">
                <a:latin typeface="Calibri" pitchFamily="34" charset="0"/>
                <a:cs typeface="Calibri" pitchFamily="34" charset="0"/>
              </a:rPr>
              <a:t>Kriza je psihičko stanje uzrokovano nekim kriznim događajem i </a:t>
            </a:r>
            <a:r>
              <a:rPr lang="vi-VN" b="1" dirty="0" smtClean="0">
                <a:latin typeface="Calibri" pitchFamily="34" charset="0"/>
                <a:cs typeface="Calibri" pitchFamily="34" charset="0"/>
              </a:rPr>
              <a:t>manifest</a:t>
            </a:r>
            <a:r>
              <a:rPr lang="bs-Latn-BA" b="1" dirty="0" smtClean="0">
                <a:latin typeface="Calibri" pitchFamily="34" charset="0"/>
                <a:cs typeface="Calibri" pitchFamily="34" charset="0"/>
              </a:rPr>
              <a:t>uje</a:t>
            </a:r>
            <a:r>
              <a:rPr lang="vi-VN" b="1" dirty="0" smtClean="0">
                <a:latin typeface="Calibri" pitchFamily="34" charset="0"/>
                <a:cs typeface="Calibri" pitchFamily="34" charset="0"/>
              </a:rPr>
              <a:t> </a:t>
            </a:r>
            <a:r>
              <a:rPr lang="vi-VN" b="1" dirty="0">
                <a:latin typeface="Calibri" pitchFamily="34" charset="0"/>
                <a:cs typeface="Calibri" pitchFamily="34" charset="0"/>
              </a:rPr>
              <a:t>se kroz reakcije koje se mogu</a:t>
            </a:r>
            <a:r>
              <a:rPr lang="bs-Latn-BA" b="1" dirty="0">
                <a:latin typeface="Calibri" pitchFamily="34" charset="0"/>
                <a:cs typeface="Calibri" pitchFamily="34" charset="0"/>
              </a:rPr>
              <a:t> </a:t>
            </a:r>
            <a:r>
              <a:rPr lang="vi-VN" b="1" dirty="0">
                <a:latin typeface="Calibri" pitchFamily="34" charset="0"/>
                <a:cs typeface="Calibri" pitchFamily="34" charset="0"/>
              </a:rPr>
              <a:t>javiti neposredno, t</a:t>
            </a:r>
            <a:r>
              <a:rPr lang="bs-Latn-BA" b="1" dirty="0">
                <a:latin typeface="Calibri" pitchFamily="34" charset="0"/>
                <a:cs typeface="Calibri" pitchFamily="34" charset="0"/>
              </a:rPr>
              <a:t>o</a:t>
            </a:r>
            <a:r>
              <a:rPr lang="vi-VN" b="1" dirty="0">
                <a:latin typeface="Calibri" pitchFamily="34" charset="0"/>
                <a:cs typeface="Calibri" pitchFamily="34" charset="0"/>
              </a:rPr>
              <a:t>kom samog događaja, ali i kao odgođene reakcije na taj događaj.</a:t>
            </a:r>
            <a:endParaRPr lang="bs-Latn-BA" b="1"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Bez</a:t>
            </a:r>
            <a:r>
              <a:rPr lang="vi-VN" dirty="0">
                <a:latin typeface="Calibri" pitchFamily="34" charset="0"/>
                <a:cs typeface="Calibri" pitchFamily="34" charset="0"/>
              </a:rPr>
              <a:t> </a:t>
            </a:r>
            <a:r>
              <a:rPr lang="bs-Latn-BA" dirty="0">
                <a:latin typeface="Calibri" pitchFamily="34" charset="0"/>
                <a:cs typeface="Calibri" pitchFamily="34" charset="0"/>
              </a:rPr>
              <a:t>obzira na to koji je događaj</a:t>
            </a:r>
            <a:r>
              <a:rPr lang="en-GB" dirty="0">
                <a:latin typeface="Calibri" pitchFamily="34" charset="0"/>
                <a:cs typeface="Calibri" pitchFamily="34" charset="0"/>
              </a:rPr>
              <a:t> “</a:t>
            </a:r>
            <a:r>
              <a:rPr lang="bs-Latn-BA" dirty="0">
                <a:latin typeface="Calibri" pitchFamily="34" charset="0"/>
                <a:cs typeface="Calibri" pitchFamily="34" charset="0"/>
              </a:rPr>
              <a:t>okidač</a:t>
            </a:r>
            <a:r>
              <a:rPr lang="en-GB" dirty="0">
                <a:latin typeface="Calibri" pitchFamily="34" charset="0"/>
                <a:cs typeface="Calibri" pitchFamily="34" charset="0"/>
              </a:rPr>
              <a:t>”</a:t>
            </a:r>
            <a:r>
              <a:rPr lang="bs-Latn-BA" dirty="0">
                <a:latin typeface="Calibri" pitchFamily="34" charset="0"/>
                <a:cs typeface="Calibri" pitchFamily="34" charset="0"/>
              </a:rPr>
              <a:t> krize, postoje obilježja koja su zajednička svim krizama:</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Obično su iznenadne i neočekivane, a uvijek su povezane sa osjećajem gubitka kontrole,</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Unutrašnja ravnoteža je narušena i osjećaj ranjivosti izrazito je snažan,</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Izazivaju preplavljenost osjećajima (vrlo jak strah, tuga , bespomoćnost, tjeskoba, ljutnja itd.), teškoće u misaonom </a:t>
            </a:r>
            <a:r>
              <a:rPr lang="bs-Latn-BA" dirty="0" smtClean="0">
                <a:latin typeface="Calibri" pitchFamily="34" charset="0"/>
                <a:cs typeface="Calibri" pitchFamily="34" charset="0"/>
              </a:rPr>
              <a:t>funkcionisanju </a:t>
            </a:r>
            <a:r>
              <a:rPr lang="bs-Latn-BA" dirty="0">
                <a:latin typeface="Calibri" pitchFamily="34" charset="0"/>
                <a:cs typeface="Calibri" pitchFamily="34" charset="0"/>
              </a:rPr>
              <a:t>(npr. izmjenjeno opažanje, nemogućnost  odlučivanja i koncentracije, zaboravljanje, teškoće u donošenju odluka i rješavanju problema itd.) i mnoštvo tjelesnih simptoma </a:t>
            </a:r>
            <a:endParaRPr lang="en-GB" dirty="0">
              <a:latin typeface="Calibri" pitchFamily="34" charset="0"/>
              <a:cs typeface="Calibri" pitchFamily="34" charset="0"/>
            </a:endParaRPr>
          </a:p>
          <a:p>
            <a:pPr marL="342900" indent="-342900" algn="just"/>
            <a:r>
              <a:rPr lang="en-GB" dirty="0">
                <a:latin typeface="Calibri" pitchFamily="34" charset="0"/>
                <a:cs typeface="Calibri" pitchFamily="34" charset="0"/>
              </a:rPr>
              <a:t>      </a:t>
            </a:r>
            <a:r>
              <a:rPr lang="bs-Latn-BA" dirty="0">
                <a:latin typeface="Calibri" pitchFamily="34" charset="0"/>
                <a:cs typeface="Calibri" pitchFamily="34" charset="0"/>
              </a:rPr>
              <a:t>(npr. glavobolje, poremećaj apetita, mučnina, teškoće sa disanjem, nelagoda u želucu itd.),</a:t>
            </a:r>
          </a:p>
        </p:txBody>
      </p:sp>
    </p:spTree>
    <p:extLst>
      <p:ext uri="{BB962C8B-B14F-4D97-AF65-F5344CB8AC3E}">
        <p14:creationId xmlns:p14="http://schemas.microsoft.com/office/powerpoint/2010/main" xmlns="" val="21746241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46235" y="1650124"/>
            <a:ext cx="10720552" cy="4247317"/>
          </a:xfrm>
          <a:prstGeom prst="rect">
            <a:avLst/>
          </a:prstGeom>
        </p:spPr>
        <p:txBody>
          <a:bodyPr wrap="square">
            <a:spAutoFit/>
          </a:bodyPr>
          <a:lstStyle/>
          <a:p>
            <a:pPr marL="342900" indent="-342900" algn="just"/>
            <a:r>
              <a:rPr lang="en-GB" dirty="0"/>
              <a:t>4. </a:t>
            </a:r>
            <a:r>
              <a:rPr lang="en-GB" dirty="0">
                <a:latin typeface="Calibri" pitchFamily="34" charset="0"/>
                <a:cs typeface="Calibri" pitchFamily="34" charset="0"/>
              </a:rPr>
              <a:t>E</a:t>
            </a:r>
            <a:r>
              <a:rPr lang="bs-Latn-BA" dirty="0">
                <a:latin typeface="Calibri" pitchFamily="34" charset="0"/>
                <a:cs typeface="Calibri" pitchFamily="34" charset="0"/>
              </a:rPr>
              <a:t>mocionalne i misaone reakcije (uz one tjelesne) dovode do dezorganizacije  </a:t>
            </a:r>
            <a:r>
              <a:rPr lang="bs-Latn-BA" i="1" dirty="0">
                <a:latin typeface="Calibri" pitchFamily="34" charset="0"/>
                <a:cs typeface="Calibri" pitchFamily="34" charset="0"/>
              </a:rPr>
              <a:t>ponašanja </a:t>
            </a:r>
            <a:r>
              <a:rPr lang="en-GB" i="1" dirty="0">
                <a:latin typeface="Calibri" pitchFamily="34" charset="0"/>
                <a:cs typeface="Calibri" pitchFamily="34" charset="0"/>
              </a:rPr>
              <a:t>                                        </a:t>
            </a:r>
            <a:r>
              <a:rPr lang="en-GB" i="1" dirty="0">
                <a:solidFill>
                  <a:schemeClr val="bg1"/>
                </a:solidFill>
                <a:latin typeface="Calibri" pitchFamily="34" charset="0"/>
                <a:cs typeface="Calibri" pitchFamily="34" charset="0"/>
              </a:rPr>
              <a:t>i</a:t>
            </a:r>
            <a:r>
              <a:rPr lang="bs-Latn-BA" dirty="0">
                <a:latin typeface="Calibri" pitchFamily="34" charset="0"/>
                <a:cs typeface="Calibri" pitchFamily="34" charset="0"/>
              </a:rPr>
              <a:t>(npr. osoba čini besmislene radnje, tjelesno je nemirna, ima teškoće sa spavanjem, vrlo je impulsivna, </a:t>
            </a:r>
            <a:r>
              <a:rPr lang="en-GB" dirty="0">
                <a:latin typeface="Calibri" pitchFamily="34" charset="0"/>
                <a:cs typeface="Calibri" pitchFamily="34" charset="0"/>
              </a:rPr>
              <a:t>                </a:t>
            </a:r>
            <a:r>
              <a:rPr lang="en-GB" dirty="0">
                <a:solidFill>
                  <a:schemeClr val="bg1"/>
                </a:solidFill>
                <a:latin typeface="Calibri" pitchFamily="34" charset="0"/>
                <a:cs typeface="Calibri" pitchFamily="34" charset="0"/>
              </a:rPr>
              <a:t>ii</a:t>
            </a:r>
            <a:r>
              <a:rPr lang="bs-Latn-BA" dirty="0">
                <a:latin typeface="Calibri" pitchFamily="34" charset="0"/>
                <a:cs typeface="Calibri" pitchFamily="34" charset="0"/>
              </a:rPr>
              <a:t>npr.</a:t>
            </a:r>
            <a:r>
              <a:rPr lang="en-GB" dirty="0">
                <a:latin typeface="Calibri" pitchFamily="34" charset="0"/>
                <a:cs typeface="Calibri" pitchFamily="34" charset="0"/>
              </a:rPr>
              <a:t> </a:t>
            </a:r>
            <a:r>
              <a:rPr lang="bs-Latn-BA" dirty="0">
                <a:latin typeface="Calibri" pitchFamily="34" charset="0"/>
                <a:cs typeface="Calibri" pitchFamily="34" charset="0"/>
              </a:rPr>
              <a:t>naglo donosi i /ili mijenja odluke ili pak ne čini ništa, povlači se od ljudi).</a:t>
            </a:r>
          </a:p>
          <a:p>
            <a:pPr marL="342900" indent="-342900" algn="just"/>
            <a:endParaRPr lang="vi-VN" dirty="0">
              <a:latin typeface="Calibri" pitchFamily="34" charset="0"/>
              <a:cs typeface="Calibri" pitchFamily="34" charset="0"/>
            </a:endParaRPr>
          </a:p>
          <a:p>
            <a:pPr algn="just"/>
            <a:r>
              <a:rPr lang="bs-Latn-BA" b="1" dirty="0">
                <a:latin typeface="Calibri" pitchFamily="34" charset="0"/>
                <a:cs typeface="Calibri" pitchFamily="34" charset="0"/>
              </a:rPr>
              <a:t>Npr. U školskim uslovima to se konkretno očituje u nemogućnosti učenika i učitelja da se koncentrišu na nastavu, u izrazitim teškoćama učenja i pamćenja, jakom strahu zbog mogućeg ponavljanja doga</a:t>
            </a:r>
            <a:r>
              <a:rPr lang="en-GB" b="1" dirty="0">
                <a:latin typeface="Calibri" pitchFamily="34" charset="0"/>
                <a:cs typeface="Calibri" pitchFamily="34" charset="0"/>
              </a:rPr>
              <a:t>đ</a:t>
            </a:r>
            <a:r>
              <a:rPr lang="bs-Latn-BA" b="1" dirty="0">
                <a:latin typeface="Calibri" pitchFamily="34" charset="0"/>
                <a:cs typeface="Calibri" pitchFamily="34" charset="0"/>
              </a:rPr>
              <a:t>aja, pretjeranoj osjetljivosti, jačanju agresivnosti itd.</a:t>
            </a:r>
            <a:endParaRPr lang="en-GB" b="1" dirty="0">
              <a:latin typeface="Calibri" pitchFamily="34" charset="0"/>
              <a:cs typeface="Calibri" pitchFamily="34" charset="0"/>
            </a:endParaRPr>
          </a:p>
          <a:p>
            <a:pPr algn="just"/>
            <a:endParaRPr lang="en-GB" b="1" dirty="0">
              <a:latin typeface="Calibri" pitchFamily="34" charset="0"/>
              <a:cs typeface="Calibri" pitchFamily="34" charset="0"/>
            </a:endParaRPr>
          </a:p>
          <a:p>
            <a:pPr algn="just"/>
            <a:r>
              <a:rPr lang="bs-Latn-BA" dirty="0">
                <a:latin typeface="Calibri" pitchFamily="34" charset="0"/>
                <a:cs typeface="Calibri" pitchFamily="34" charset="0"/>
              </a:rPr>
              <a:t>U stanju krize lančano se događa </a:t>
            </a:r>
            <a:r>
              <a:rPr lang="bs-Latn-BA" dirty="0" smtClean="0">
                <a:latin typeface="Calibri" pitchFamily="34" charset="0"/>
                <a:cs typeface="Calibri" pitchFamily="34" charset="0"/>
              </a:rPr>
              <a:t>sl</a:t>
            </a:r>
            <a:r>
              <a:rPr lang="en-GB" dirty="0" smtClean="0">
                <a:latin typeface="Calibri" pitchFamily="34" charset="0"/>
                <a:cs typeface="Calibri" pitchFamily="34" charset="0"/>
              </a:rPr>
              <a:t>je</a:t>
            </a:r>
            <a:r>
              <a:rPr lang="bs-Latn-BA" dirty="0" smtClean="0">
                <a:latin typeface="Calibri" pitchFamily="34" charset="0"/>
                <a:cs typeface="Calibri" pitchFamily="34" charset="0"/>
              </a:rPr>
              <a:t>deće</a:t>
            </a:r>
            <a:r>
              <a:rPr lang="bs-Latn-BA" dirty="0">
                <a:latin typeface="Calibri" pitchFamily="34" charset="0"/>
                <a:cs typeface="Calibri" pitchFamily="34" charset="0"/>
              </a:rPr>
              <a:t>: uobičajeno </a:t>
            </a:r>
            <a:r>
              <a:rPr lang="bs-Latn-BA" dirty="0" smtClean="0">
                <a:latin typeface="Calibri" pitchFamily="34" charset="0"/>
                <a:cs typeface="Calibri" pitchFamily="34" charset="0"/>
              </a:rPr>
              <a:t>funkcionisanje </a:t>
            </a:r>
            <a:r>
              <a:rPr lang="bs-Latn-BA" dirty="0">
                <a:latin typeface="Calibri" pitchFamily="34" charset="0"/>
                <a:cs typeface="Calibri" pitchFamily="34" charset="0"/>
              </a:rPr>
              <a:t>otežano je ili nemoguće, dolazi do gubitka autonomije i kontrole nad životom, to izaziva osjećaj bespomoćnosti i beznađa, a ranije uspješni načini rješavanja teškoća više nisu djelotvorni. </a:t>
            </a:r>
            <a:endParaRPr lang="en-GB" dirty="0">
              <a:latin typeface="Calibri" pitchFamily="34" charset="0"/>
              <a:cs typeface="Calibri" pitchFamily="34" charset="0"/>
            </a:endParaRPr>
          </a:p>
          <a:p>
            <a:pPr algn="just"/>
            <a:r>
              <a:rPr lang="bs-Latn-BA" dirty="0">
                <a:latin typeface="Calibri" pitchFamily="34" charset="0"/>
                <a:cs typeface="Calibri" pitchFamily="34" charset="0"/>
              </a:rPr>
              <a:t>Kada su u stanju psihičke krize ljudi su jako usmjereni na preživljavanje, prvenstveno psihičko preživljavanje, ali katkad to znači da se brinu i zato hoće li,</a:t>
            </a:r>
            <a:r>
              <a:rPr lang="en-GB" dirty="0">
                <a:latin typeface="Calibri" pitchFamily="34" charset="0"/>
                <a:cs typeface="Calibri" pitchFamily="34" charset="0"/>
              </a:rPr>
              <a:t> </a:t>
            </a:r>
            <a:r>
              <a:rPr lang="bs-Latn-BA" dirty="0">
                <a:latin typeface="Calibri" pitchFamily="34" charset="0"/>
                <a:cs typeface="Calibri" pitchFamily="34" charset="0"/>
              </a:rPr>
              <a:t>doslovno, tjelesno ostati živi (npr. boje se da će im srce stati i/ili puknuti).</a:t>
            </a:r>
          </a:p>
          <a:p>
            <a:pPr algn="just"/>
            <a:endParaRPr lang="bs-Latn-BA" b="1"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6744" y="1566041"/>
            <a:ext cx="10710041" cy="3970318"/>
          </a:xfrm>
          <a:prstGeom prst="rect">
            <a:avLst/>
          </a:prstGeom>
        </p:spPr>
        <p:txBody>
          <a:bodyPr wrap="square">
            <a:spAutoFit/>
          </a:bodyPr>
          <a:lstStyle/>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Iako su mnogi znakovi krize univerzalni, tj. pojavljuju se kod većine ljudi, doživljaj krize je vrlo </a:t>
            </a:r>
            <a:r>
              <a:rPr lang="bs-Latn-BA" dirty="0" smtClean="0">
                <a:latin typeface="Calibri" pitchFamily="34" charset="0"/>
                <a:cs typeface="Calibri" pitchFamily="34" charset="0"/>
              </a:rPr>
              <a:t>osoban.  </a:t>
            </a:r>
            <a:r>
              <a:rPr lang="en-GB" dirty="0" smtClean="0">
                <a:latin typeface="Calibri" pitchFamily="34" charset="0"/>
                <a:cs typeface="Calibri" pitchFamily="34" charset="0"/>
              </a:rPr>
              <a:t>                            </a:t>
            </a:r>
            <a:r>
              <a:rPr lang="bs-Latn-BA" dirty="0">
                <a:latin typeface="Calibri" pitchFamily="34" charset="0"/>
                <a:cs typeface="Calibri" pitchFamily="34" charset="0"/>
              </a:rPr>
              <a:t>Neke situacije mnoge ljude dovode do krize, a postoje i događaji koji će tek u nekima izazvati takvo stanje.  </a:t>
            </a:r>
            <a:r>
              <a:rPr lang="en-GB" dirty="0">
                <a:latin typeface="Calibri" pitchFamily="34" charset="0"/>
                <a:cs typeface="Calibri" pitchFamily="34" charset="0"/>
              </a:rPr>
              <a:t>                  </a:t>
            </a:r>
            <a:r>
              <a:rPr lang="bs-Latn-BA" dirty="0">
                <a:latin typeface="Calibri" pitchFamily="34" charset="0"/>
                <a:cs typeface="Calibri" pitchFamily="34" charset="0"/>
              </a:rPr>
              <a:t>Vrsta i jačina reakcije na krizni događaj razlikuju se od pojedinca do pojedinca.</a:t>
            </a: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Krize su vremenski samoograničena stanja ; </a:t>
            </a:r>
            <a:endParaRPr lang="bs-Latn-BA" dirty="0" smtClean="0">
              <a:latin typeface="Calibri" pitchFamily="34" charset="0"/>
              <a:cs typeface="Calibri" pitchFamily="34" charset="0"/>
            </a:endParaRPr>
          </a:p>
          <a:p>
            <a:pPr algn="just"/>
            <a:r>
              <a:rPr lang="bs-Latn-BA" b="1" dirty="0" smtClean="0">
                <a:latin typeface="Calibri" pitchFamily="34" charset="0"/>
                <a:cs typeface="Calibri" pitchFamily="34" charset="0"/>
              </a:rPr>
              <a:t>D</a:t>
            </a:r>
            <a:r>
              <a:rPr lang="bs-Latn-BA" b="1" dirty="0" smtClean="0">
                <a:latin typeface="Calibri" pitchFamily="34" charset="0"/>
                <a:cs typeface="Calibri" pitchFamily="34" charset="0"/>
              </a:rPr>
              <a:t>o </a:t>
            </a:r>
            <a:r>
              <a:rPr lang="bs-Latn-BA" b="1" dirty="0">
                <a:latin typeface="Calibri" pitchFamily="34" charset="0"/>
                <a:cs typeface="Calibri" pitchFamily="34" charset="0"/>
              </a:rPr>
              <a:t>uspješnog ili neuspješnog razrješenja krize dolazi  u razdoblju od četiri do šest  sedmica. </a:t>
            </a:r>
            <a:r>
              <a:rPr lang="bs-Latn-BA" dirty="0">
                <a:latin typeface="Calibri" pitchFamily="34" charset="0"/>
                <a:cs typeface="Calibri" pitchFamily="34" charset="0"/>
              </a:rPr>
              <a:t> </a:t>
            </a:r>
            <a:endParaRPr lang="bs-Latn-BA" dirty="0" smtClean="0">
              <a:latin typeface="Calibri" pitchFamily="34" charset="0"/>
              <a:cs typeface="Calibri" pitchFamily="34" charset="0"/>
            </a:endParaRPr>
          </a:p>
          <a:p>
            <a:pPr algn="just"/>
            <a:r>
              <a:rPr lang="bs-Latn-BA" dirty="0" smtClean="0">
                <a:latin typeface="Calibri" pitchFamily="34" charset="0"/>
                <a:cs typeface="Calibri" pitchFamily="34" charset="0"/>
              </a:rPr>
              <a:t>Jednostavno </a:t>
            </a:r>
            <a:r>
              <a:rPr lang="bs-Latn-BA" dirty="0">
                <a:latin typeface="Calibri" pitchFamily="34" charset="0"/>
                <a:cs typeface="Calibri" pitchFamily="34" charset="0"/>
              </a:rPr>
              <a:t>je nemoguće dalje </a:t>
            </a:r>
            <a:r>
              <a:rPr lang="bs-Latn-BA" dirty="0" smtClean="0">
                <a:latin typeface="Calibri" pitchFamily="34" charset="0"/>
                <a:cs typeface="Calibri" pitchFamily="34" charset="0"/>
              </a:rPr>
              <a:t>funkcionisati </a:t>
            </a:r>
            <a:r>
              <a:rPr lang="bs-Latn-BA" dirty="0">
                <a:latin typeface="Calibri" pitchFamily="34" charset="0"/>
                <a:cs typeface="Calibri" pitchFamily="34" charset="0"/>
              </a:rPr>
              <a:t>u stanju tako narušene unutrašnje ravnoteže, pa se uspostavlja </a:t>
            </a:r>
            <a:r>
              <a:rPr lang="bs-Latn-BA" i="1" dirty="0">
                <a:latin typeface="Calibri" pitchFamily="34" charset="0"/>
                <a:cs typeface="Calibri" pitchFamily="34" charset="0"/>
              </a:rPr>
              <a:t>nova  koja će biti  jednako čvrsta kao ona ranija, odnosno lošija ili bolja od nekadašnje.  </a:t>
            </a:r>
            <a:endParaRPr lang="en-GB" i="1" dirty="0">
              <a:latin typeface="Calibri" pitchFamily="34" charset="0"/>
              <a:cs typeface="Calibri" pitchFamily="34" charset="0"/>
            </a:endParaRPr>
          </a:p>
          <a:p>
            <a:pPr algn="just"/>
            <a:endParaRPr lang="en-GB" i="1" dirty="0">
              <a:latin typeface="Calibri" pitchFamily="34" charset="0"/>
              <a:cs typeface="Calibri" pitchFamily="34" charset="0"/>
            </a:endParaRPr>
          </a:p>
          <a:p>
            <a:pPr algn="just"/>
            <a:r>
              <a:rPr lang="bs-Latn-BA" i="1" dirty="0">
                <a:latin typeface="Calibri" pitchFamily="34" charset="0"/>
                <a:cs typeface="Calibri" pitchFamily="34" charset="0"/>
              </a:rPr>
              <a:t>Ako neko i mnogo duže od tog razdoblja ima izrazito jake i mnogobrojne psihičke ili tjelesne teškoće i ako se one pojačavaju, tada je vjerovatno riječ o ozbiljnim psihičkim smetnjama koje treba klinički dijagnosticirati  </a:t>
            </a:r>
            <a:r>
              <a:rPr lang="en-GB" i="1" dirty="0">
                <a:latin typeface="Calibri" pitchFamily="34" charset="0"/>
                <a:cs typeface="Calibri" pitchFamily="34" charset="0"/>
              </a:rPr>
              <a:t>                           </a:t>
            </a:r>
            <a:r>
              <a:rPr lang="bs-Latn-BA" i="1" dirty="0">
                <a:latin typeface="Calibri" pitchFamily="34" charset="0"/>
                <a:cs typeface="Calibri" pitchFamily="34" charset="0"/>
              </a:rPr>
              <a:t>npr. (depresija, PTSP, panični poremećaj, fobija, opći anksiozni poremećaj,itd.) .</a:t>
            </a:r>
          </a:p>
          <a:p>
            <a:endParaRPr lang="bs-Latn-BA" dirty="0">
              <a:latin typeface="Calibri" pitchFamily="34" charset="0"/>
              <a:cs typeface="Calibri" pitchFamily="34" charset="0"/>
            </a:endParaRPr>
          </a:p>
        </p:txBody>
      </p:sp>
    </p:spTree>
    <p:extLst>
      <p:ext uri="{BB962C8B-B14F-4D97-AF65-F5344CB8AC3E}">
        <p14:creationId xmlns:p14="http://schemas.microsoft.com/office/powerpoint/2010/main" xmlns="" val="16912235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70708" y="1086523"/>
            <a:ext cx="10675057" cy="4801314"/>
          </a:xfrm>
          <a:prstGeom prst="rect">
            <a:avLst/>
          </a:prstGeom>
        </p:spPr>
        <p:txBody>
          <a:bodyPr wrap="square">
            <a:spAutoFit/>
          </a:bodyPr>
          <a:lstStyle/>
          <a:p>
            <a:pPr algn="just"/>
            <a:r>
              <a:rPr lang="vi-VN" dirty="0">
                <a:latin typeface="Calibri" pitchFamily="34" charset="0"/>
                <a:cs typeface="Calibri" pitchFamily="34" charset="0"/>
              </a:rPr>
              <a:t>Kriza </a:t>
            </a:r>
            <a:r>
              <a:rPr lang="bs-Latn-BA" dirty="0">
                <a:latin typeface="Calibri" pitchFamily="34" charset="0"/>
                <a:cs typeface="Calibri" pitchFamily="34" charset="0"/>
              </a:rPr>
              <a:t> ne počiva na dihotomiji patološko – normalno:</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Kriza nije povezana sa psihopatologijom, tj. kriza nije psihička bolest ili psihički poremećaj.</a:t>
            </a:r>
            <a:r>
              <a:rPr lang="en-GB" dirty="0">
                <a:latin typeface="Calibri" pitchFamily="34" charset="0"/>
                <a:cs typeface="Calibri" pitchFamily="34" charset="0"/>
              </a:rPr>
              <a:t>                                   </a:t>
            </a:r>
            <a:r>
              <a:rPr lang="bs-Latn-BA" dirty="0">
                <a:latin typeface="Calibri" pitchFamily="34" charset="0"/>
                <a:cs typeface="Calibri" pitchFamily="34" charset="0"/>
              </a:rPr>
              <a:t>Riječ je o stanju koje se događa normalnim, normalno funkcionirajućim ljudima koje je neki krizni događaj privremeno izbacio iz kolosijeka, a nabrojeni znakovi krize smatraju se </a:t>
            </a:r>
            <a:r>
              <a:rPr lang="bs-Latn-BA" dirty="0" smtClean="0">
                <a:latin typeface="Calibri" pitchFamily="34" charset="0"/>
                <a:cs typeface="Calibri" pitchFamily="34" charset="0"/>
              </a:rPr>
              <a:t>NORMALNIM </a:t>
            </a:r>
            <a:r>
              <a:rPr lang="bs-Latn-BA" dirty="0">
                <a:latin typeface="Calibri" pitchFamily="34" charset="0"/>
                <a:cs typeface="Calibri" pitchFamily="34" charset="0"/>
              </a:rPr>
              <a:t>(prirodnim, uobičajenim) REAKCIJAMA NA NENORMALNE (izvanredne, neočekivane, neuobičajene) OKOLNOSTI.</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buAutoNum type="arabicPeriod" startAt="2"/>
            </a:pPr>
            <a:r>
              <a:rPr lang="bs-Latn-BA" dirty="0">
                <a:latin typeface="Calibri" pitchFamily="34" charset="0"/>
                <a:cs typeface="Calibri" pitchFamily="34" charset="0"/>
              </a:rPr>
              <a:t>Niko nije imun na psihičko stanje krize, a hoće li se ono pojaviti ili ne, odnosno kada će se pojaviti, ovisi o mnoštvu faktora povezanih sa obilježjima kriznog događaja, osobinama pojedinca, načinom tumačenja toga što se dogodilo, razvijenosti načina suočavanja sa stresom i dostupnom podrškom iz okoline.</a:t>
            </a:r>
            <a:endParaRPr lang="en-GB" dirty="0">
              <a:latin typeface="Calibri" pitchFamily="34" charset="0"/>
              <a:cs typeface="Calibri" pitchFamily="34" charset="0"/>
            </a:endParaRPr>
          </a:p>
          <a:p>
            <a:pPr marL="342900" indent="-342900" algn="just">
              <a:buAutoNum type="arabicPeriod" startAt="2"/>
            </a:pPr>
            <a:endParaRPr lang="bs-Latn-BA" dirty="0">
              <a:latin typeface="Calibri" pitchFamily="34" charset="0"/>
              <a:cs typeface="Calibri" pitchFamily="34" charset="0"/>
            </a:endParaRPr>
          </a:p>
          <a:p>
            <a:pPr marL="342900" indent="-342900" algn="just"/>
            <a:r>
              <a:rPr lang="en-GB" dirty="0">
                <a:latin typeface="Calibri" pitchFamily="34" charset="0"/>
                <a:cs typeface="Calibri" pitchFamily="34" charset="0"/>
              </a:rPr>
              <a:t>3.  </a:t>
            </a:r>
            <a:r>
              <a:rPr lang="bs-Latn-BA" dirty="0">
                <a:latin typeface="Calibri" pitchFamily="34" charset="0"/>
                <a:cs typeface="Calibri" pitchFamily="34" charset="0"/>
              </a:rPr>
              <a:t>Kriza je sastavni dio razvoja pojedinca, što znači da u razvojnom putu svakog od nas postoje trenuci ili zbivanja koja imaju jači ili slabiji  potencijal da nas dovedu u stanje psihičke krize.</a:t>
            </a:r>
          </a:p>
          <a:p>
            <a:pPr marL="342900" indent="-342900" algn="just"/>
            <a:endParaRPr lang="bs-Latn-BA" dirty="0">
              <a:latin typeface="Calibri" pitchFamily="34" charset="0"/>
              <a:cs typeface="Calibri" pitchFamily="34" charset="0"/>
            </a:endParaRPr>
          </a:p>
          <a:p>
            <a:pPr marL="342900" indent="-342900" algn="just"/>
            <a:r>
              <a:rPr lang="en-GB" b="1" dirty="0">
                <a:latin typeface="Calibri" pitchFamily="34" charset="0"/>
                <a:cs typeface="Calibri" pitchFamily="34" charset="0"/>
              </a:rPr>
              <a:t>      </a:t>
            </a:r>
            <a:r>
              <a:rPr lang="bs-Latn-BA" b="1" dirty="0">
                <a:latin typeface="Calibri" pitchFamily="34" charset="0"/>
                <a:cs typeface="Calibri" pitchFamily="34" charset="0"/>
              </a:rPr>
              <a:t>U kriznom stanju svaka osoba je vrlo otvorena za psihološke intervencije budući da su joj uobičajeni mehanizmi odbrane oslabljeni, a ustaljeni načini rješavanja teškoća neuspješni. Ljudi su tada istodobno i vrlo osjetljivi i ranjivi što poziva na pažljivost i oprez u provođenju kriznih intervencija.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56745" y="966652"/>
            <a:ext cx="10689021" cy="5078313"/>
          </a:xfrm>
          <a:prstGeom prst="rect">
            <a:avLst/>
          </a:prstGeom>
        </p:spPr>
        <p:txBody>
          <a:bodyPr wrap="square">
            <a:spAutoFit/>
          </a:bodyPr>
          <a:lstStyle/>
          <a:p>
            <a:pPr algn="just"/>
            <a:r>
              <a:rPr lang="bs-Latn-BA" b="1" dirty="0">
                <a:latin typeface="Calibri" pitchFamily="34" charset="0"/>
                <a:cs typeface="Calibri" pitchFamily="34" charset="0"/>
              </a:rPr>
              <a:t>NAČELA PROVEDBE KRIZNIH INTERVENCIJA</a:t>
            </a:r>
            <a:endParaRPr lang="en-GB" b="1"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Načela kriznih intervencija temelje se na integrativnom pristupu ljudima  (izravno i posredno, u osobnom kontaktu ili telefonom, grupno i individualno, svojim modelom, pisanim </a:t>
            </a:r>
            <a:r>
              <a:rPr lang="bs-Latn-BA" dirty="0" smtClean="0">
                <a:latin typeface="Calibri" pitchFamily="34" charset="0"/>
                <a:cs typeface="Calibri" pitchFamily="34" charset="0"/>
              </a:rPr>
              <a:t>materijalom</a:t>
            </a:r>
            <a:r>
              <a:rPr lang="bs-Latn-BA" dirty="0">
                <a:latin typeface="Calibri" pitchFamily="34" charset="0"/>
                <a:cs typeface="Calibri" pitchFamily="34" charset="0"/>
              </a:rPr>
              <a:t>, te koristeći različite psihoterapijske </a:t>
            </a:r>
            <a:r>
              <a:rPr lang="bs-Latn-BA" dirty="0" smtClean="0">
                <a:latin typeface="Calibri" pitchFamily="34" charset="0"/>
                <a:cs typeface="Calibri" pitchFamily="34" charset="0"/>
              </a:rPr>
              <a:t>pravce), </a:t>
            </a:r>
            <a:r>
              <a:rPr lang="bs-Latn-BA" dirty="0">
                <a:latin typeface="Calibri" pitchFamily="34" charset="0"/>
                <a:cs typeface="Calibri" pitchFamily="34" charset="0"/>
              </a:rPr>
              <a:t>a vrijednosni okvir </a:t>
            </a:r>
            <a:r>
              <a:rPr lang="bs-Latn-BA" dirty="0" smtClean="0">
                <a:latin typeface="Calibri" pitchFamily="34" charset="0"/>
                <a:cs typeface="Calibri" pitchFamily="34" charset="0"/>
              </a:rPr>
              <a:t>je izrazito </a:t>
            </a:r>
            <a:r>
              <a:rPr lang="bs-Latn-BA" dirty="0">
                <a:latin typeface="Calibri" pitchFamily="34" charset="0"/>
                <a:cs typeface="Calibri" pitchFamily="34" charset="0"/>
              </a:rPr>
              <a:t>humanistički. </a:t>
            </a:r>
            <a:endParaRPr lang="en-GB" dirty="0">
              <a:latin typeface="Calibri" pitchFamily="34" charset="0"/>
              <a:cs typeface="Calibri" pitchFamily="34" charset="0"/>
            </a:endParaRPr>
          </a:p>
          <a:p>
            <a:pPr algn="just"/>
            <a:endParaRPr lang="bs-Latn-BA" dirty="0" smtClean="0">
              <a:latin typeface="Calibri" pitchFamily="34" charset="0"/>
              <a:cs typeface="Calibri" pitchFamily="34" charset="0"/>
            </a:endParaRPr>
          </a:p>
          <a:p>
            <a:pPr algn="just"/>
            <a:r>
              <a:rPr lang="en-GB" dirty="0" smtClean="0">
                <a:latin typeface="Calibri" pitchFamily="34" charset="0"/>
                <a:cs typeface="Calibri" pitchFamily="34" charset="0"/>
              </a:rPr>
              <a:t>H</a:t>
            </a:r>
            <a:r>
              <a:rPr lang="bs-Latn-BA" dirty="0">
                <a:latin typeface="Calibri" pitchFamily="34" charset="0"/>
                <a:cs typeface="Calibri" pitchFamily="34" charset="0"/>
              </a:rPr>
              <a:t>umanistički pristup traumatiziranim ljudima uključuje empatijsko reagovanje na patnje pojedinca, skupine, zajednice, uspostavu nade i uvjerenja u oporavak od kriznog događaja, te jačanje klijenta kako bi ponovno mogao upotrijebiti vlastite prirodne strategije suočavanja ili naučiti neke </a:t>
            </a:r>
            <a:r>
              <a:rPr lang="bs-Latn-BA" dirty="0" smtClean="0">
                <a:latin typeface="Calibri" pitchFamily="34" charset="0"/>
                <a:cs typeface="Calibri" pitchFamily="34" charset="0"/>
              </a:rPr>
              <a:t>nove.</a:t>
            </a:r>
            <a:endParaRPr lang="en-GB" dirty="0">
              <a:latin typeface="Calibri" pitchFamily="34" charset="0"/>
              <a:cs typeface="Calibri" pitchFamily="34" charset="0"/>
            </a:endParaRPr>
          </a:p>
          <a:p>
            <a:pPr algn="just"/>
            <a:endParaRPr lang="bs-Latn-BA" dirty="0" smtClean="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Ključni pojmovi i strategije potrebne za razumijevanje ljudi u krizi i za pružanje djelotvorne podrške mogu </a:t>
            </a:r>
            <a:r>
              <a:rPr lang="bs-Latn-BA" dirty="0" smtClean="0">
                <a:latin typeface="Calibri" pitchFamily="34" charset="0"/>
                <a:cs typeface="Calibri" pitchFamily="34" charset="0"/>
              </a:rPr>
              <a:t>se i trebaju posmatrati i utvrditi  </a:t>
            </a:r>
            <a:r>
              <a:rPr lang="bs-Latn-BA" dirty="0">
                <a:latin typeface="Calibri" pitchFamily="34" charset="0"/>
                <a:cs typeface="Calibri" pitchFamily="34" charset="0"/>
              </a:rPr>
              <a:t>na način:</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obilježja pojedinca koji je u stanju krize (npr.  </a:t>
            </a:r>
            <a:r>
              <a:rPr lang="bs-Latn-BA" dirty="0" smtClean="0">
                <a:latin typeface="Calibri" pitchFamily="34" charset="0"/>
                <a:cs typeface="Calibri" pitchFamily="34" charset="0"/>
              </a:rPr>
              <a:t>osobine </a:t>
            </a:r>
            <a:r>
              <a:rPr lang="bs-Latn-BA" dirty="0">
                <a:latin typeface="Calibri" pitchFamily="34" charset="0"/>
                <a:cs typeface="Calibri" pitchFamily="34" charset="0"/>
              </a:rPr>
              <a:t>ličnosti u užem i širem smislu- ukljućujući stavove i uvjerenja o sebi, drugim ljudima, o životu, ranija životna iskustva, uobičajeni načini součavanja sa </a:t>
            </a:r>
            <a:r>
              <a:rPr lang="bs-Latn-BA" dirty="0" smtClean="0">
                <a:latin typeface="Calibri" pitchFamily="34" charset="0"/>
                <a:cs typeface="Calibri" pitchFamily="34" charset="0"/>
              </a:rPr>
              <a:t>stresom</a:t>
            </a:r>
            <a:r>
              <a:rPr lang="bs-Latn-BA" dirty="0">
                <a:latin typeface="Calibri" pitchFamily="34" charset="0"/>
                <a:cs typeface="Calibri" pitchFamily="34" charset="0"/>
              </a:rPr>
              <a:t>, dostupnost podrške najbližih ljudi), </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46233" y="1319349"/>
            <a:ext cx="10741573" cy="4801314"/>
          </a:xfrm>
          <a:prstGeom prst="rect">
            <a:avLst/>
          </a:prstGeom>
        </p:spPr>
        <p:txBody>
          <a:bodyPr wrap="square">
            <a:spAutoFit/>
          </a:bodyPr>
          <a:lstStyle/>
          <a:p>
            <a:pPr marL="342900" indent="-342900" algn="just">
              <a:buAutoNum type="arabicPeriod" startAt="2"/>
            </a:pPr>
            <a:r>
              <a:rPr lang="bs-Latn-BA" dirty="0" smtClean="0">
                <a:latin typeface="Calibri" pitchFamily="34" charset="0"/>
                <a:cs typeface="Calibri" pitchFamily="34" charset="0"/>
              </a:rPr>
              <a:t>Osobni doživljaj krize, tj. znakovi krize (uvrditi: specifičan način reagovanja pojedinca na krizni događaj i  drugo, utvrditi šta mu je zajedničko sa ostalim ljudima koji su doživjeli istu nevolju), </a:t>
            </a:r>
          </a:p>
          <a:p>
            <a:pPr marL="342900" indent="-342900" algn="just">
              <a:buAutoNum type="arabicPeriod" startAt="2"/>
            </a:pPr>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3.    Okolina </a:t>
            </a:r>
            <a:r>
              <a:rPr lang="bs-Latn-BA" dirty="0">
                <a:latin typeface="Calibri" pitchFamily="34" charset="0"/>
                <a:cs typeface="Calibri" pitchFamily="34" charset="0"/>
              </a:rPr>
              <a:t>i kontekst u kojima se kriza ublažava/savladava i njezino razrješenje,</a:t>
            </a:r>
            <a:endParaRPr lang="en-GB" dirty="0">
              <a:latin typeface="Calibri" pitchFamily="34" charset="0"/>
              <a:cs typeface="Calibri" pitchFamily="34" charset="0"/>
            </a:endParaRPr>
          </a:p>
          <a:p>
            <a:pPr marL="342900" indent="-342900" algn="just"/>
            <a:endParaRPr lang="en-GB" dirty="0">
              <a:latin typeface="Calibri" pitchFamily="34" charset="0"/>
              <a:cs typeface="Calibri" pitchFamily="34" charset="0"/>
            </a:endParaRPr>
          </a:p>
          <a:p>
            <a:pPr marL="342900" indent="-342900" algn="just"/>
            <a:r>
              <a:rPr lang="en-GB" dirty="0">
                <a:latin typeface="Calibri" pitchFamily="34" charset="0"/>
                <a:cs typeface="Calibri" pitchFamily="34" charset="0"/>
              </a:rPr>
              <a:t>4.  </a:t>
            </a:r>
            <a:r>
              <a:rPr lang="bs-Latn-BA" dirty="0">
                <a:latin typeface="Calibri" pitchFamily="34" charset="0"/>
                <a:cs typeface="Calibri" pitchFamily="34" charset="0"/>
              </a:rPr>
              <a:t>Formalni proces pružanja podrške – procjena stanja, planiranje i provođenje krizne intervencije, te praćenje stanja pojedinca, skupina i zajednice po završetku intervencije.</a:t>
            </a:r>
            <a:endParaRPr lang="en-GB" dirty="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r>
              <a:rPr lang="bs-Latn-BA" b="1" dirty="0" smtClean="0">
                <a:latin typeface="Calibri" pitchFamily="34" charset="0"/>
                <a:cs typeface="Calibri" pitchFamily="34" charset="0"/>
              </a:rPr>
              <a:t>Još jedno važno načelo: ljudima u krizi pružamo podršku (emocionalnu, praktičnu, informacijsku,socijalnu)</a:t>
            </a:r>
            <a:endParaRPr lang="en-GB" b="1" dirty="0" smtClean="0">
              <a:latin typeface="Calibri" pitchFamily="34" charset="0"/>
              <a:cs typeface="Calibri" pitchFamily="34" charset="0"/>
            </a:endParaRPr>
          </a:p>
          <a:p>
            <a:pPr marL="342900" indent="-342900" algn="just"/>
            <a:r>
              <a:rPr lang="bs-Latn-BA" b="1" dirty="0" smtClean="0">
                <a:latin typeface="Calibri" pitchFamily="34" charset="0"/>
                <a:cs typeface="Calibri" pitchFamily="34" charset="0"/>
              </a:rPr>
              <a:t>umjesto da im pomažemo.  </a:t>
            </a:r>
          </a:p>
          <a:p>
            <a:pPr marL="342900" indent="-342900" algn="just"/>
            <a:endParaRPr lang="bs-Latn-BA" b="1"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Podrška </a:t>
            </a:r>
            <a:r>
              <a:rPr lang="bs-Latn-BA" dirty="0">
                <a:latin typeface="Calibri" pitchFamily="34" charset="0"/>
                <a:cs typeface="Calibri" pitchFamily="34" charset="0"/>
              </a:rPr>
              <a:t>uzima u obzir i poštuje klijentove (preostale) kapacitete, te je on sam </a:t>
            </a:r>
            <a:r>
              <a:rPr lang="bs-Latn-BA" dirty="0" smtClean="0">
                <a:latin typeface="Calibri" pitchFamily="34" charset="0"/>
                <a:cs typeface="Calibri" pitchFamily="34" charset="0"/>
              </a:rPr>
              <a:t>aktivni sudionik </a:t>
            </a:r>
            <a:r>
              <a:rPr lang="bs-Latn-BA" dirty="0">
                <a:latin typeface="Calibri" pitchFamily="34" charset="0"/>
                <a:cs typeface="Calibri" pitchFamily="34" charset="0"/>
              </a:rPr>
              <a:t>svog oporavka. </a:t>
            </a:r>
            <a:endParaRPr lang="bs-Latn-BA" dirty="0" smtClean="0">
              <a:latin typeface="Calibri" pitchFamily="34" charset="0"/>
              <a:cs typeface="Calibri" pitchFamily="34" charset="0"/>
            </a:endParaRP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S </a:t>
            </a:r>
            <a:r>
              <a:rPr lang="bs-Latn-BA" dirty="0">
                <a:latin typeface="Calibri" pitchFamily="34" charset="0"/>
                <a:cs typeface="Calibri" pitchFamily="34" charset="0"/>
              </a:rPr>
              <a:t>druge strane primanje pomoći utiče da s klijent više osjeća kao objekt, nego kao </a:t>
            </a:r>
            <a:r>
              <a:rPr lang="bs-Latn-BA" dirty="0" smtClean="0">
                <a:latin typeface="Calibri" pitchFamily="34" charset="0"/>
                <a:cs typeface="Calibri" pitchFamily="34" charset="0"/>
              </a:rPr>
              <a:t>subjekt u prilagodbi na nevolje koje su ga snašle.</a:t>
            </a:r>
          </a:p>
          <a:p>
            <a:endParaRPr lang="bs-Latn-BA"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574765" y="1471448"/>
            <a:ext cx="10894423" cy="3970318"/>
          </a:xfrm>
          <a:prstGeom prst="rect">
            <a:avLst/>
          </a:prstGeom>
        </p:spPr>
        <p:txBody>
          <a:bodyPr wrap="square">
            <a:spAutoFit/>
          </a:bodyPr>
          <a:lstStyle/>
          <a:p>
            <a:pPr algn="just"/>
            <a:r>
              <a:rPr lang="bs-Latn-BA" b="1" dirty="0">
                <a:latin typeface="Calibri" pitchFamily="34" charset="0"/>
                <a:cs typeface="Calibri" pitchFamily="34" charset="0"/>
              </a:rPr>
              <a:t>ŠTA SU PSIHOLOŠKE KRIZNE INTERVENCIJE I ŠTA SU IM CILJEVI ?</a:t>
            </a:r>
            <a:endParaRPr lang="en-GB" b="1"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b="1" dirty="0">
                <a:latin typeface="Calibri" pitchFamily="34" charset="0"/>
                <a:cs typeface="Calibri" pitchFamily="34" charset="0"/>
              </a:rPr>
              <a:t>Psihološke krizne intervencije su kratkotrajan proces pružanja podrške ljudima u krizi</a:t>
            </a:r>
            <a:r>
              <a:rPr lang="bs-Latn-BA" b="1" dirty="0" smtClean="0">
                <a:latin typeface="Calibri" pitchFamily="34" charset="0"/>
                <a:cs typeface="Calibri" pitchFamily="34" charset="0"/>
              </a:rPr>
              <a:t>.</a:t>
            </a:r>
          </a:p>
          <a:p>
            <a:pPr algn="just"/>
            <a:r>
              <a:rPr lang="bs-Latn-BA" dirty="0" smtClean="0">
                <a:latin typeface="Calibri" pitchFamily="34" charset="0"/>
                <a:cs typeface="Calibri" pitchFamily="34" charset="0"/>
              </a:rPr>
              <a:t>Usmjerene </a:t>
            </a:r>
            <a:r>
              <a:rPr lang="bs-Latn-BA" dirty="0">
                <a:latin typeface="Calibri" pitchFamily="34" charset="0"/>
                <a:cs typeface="Calibri" pitchFamily="34" charset="0"/>
              </a:rPr>
              <a:t>su na ublažavanje i/ili rješavanje nekog trenutačnog problema upotrebom ličnih, društvenih i okolinskih mogućnosti.</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Da bismo mogli razumjeti kako je ljudima u krizi i da bismo im znali pružiti podršku, pored njihove emocionalne napetosti, moramo voditi računa i  o socijalnim, kulturnim, materijalnim faktorima koji određuju način njihove reakcije. </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b="1" dirty="0">
                <a:latin typeface="Calibri" pitchFamily="34" charset="0"/>
                <a:cs typeface="Calibri" pitchFamily="34" charset="0"/>
              </a:rPr>
              <a:t>Krizne intervencije najčešće uključuju jednokratne razgovore sa skupinama ljudi koji su zahvaćeni događajem, individualne razgovore koji mogu biti jednokratni ili višekratni, edukaciju o mogućem toku postojećih psihičkih reakcija, oporavku, strategijama samopomoći, načinima pružanja međusobne podrške, podršku u praktičnim pitanjima, telefonske konsultacije, upućivanje na psihološko savjetovanje ili psihoterapiju, praćenje stanja.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67255" y="1997839"/>
            <a:ext cx="10710042" cy="3139321"/>
          </a:xfrm>
          <a:prstGeom prst="rect">
            <a:avLst/>
          </a:prstGeom>
        </p:spPr>
        <p:txBody>
          <a:bodyPr wrap="square">
            <a:spAutoFit/>
          </a:bodyPr>
          <a:lstStyle/>
          <a:p>
            <a:pPr algn="just"/>
            <a:r>
              <a:rPr lang="bs-Latn-BA" dirty="0">
                <a:latin typeface="Calibri" pitchFamily="34" charset="0"/>
                <a:cs typeface="Calibri" pitchFamily="34" charset="0"/>
              </a:rPr>
              <a:t>U usporedbi sa ostalim vrstama psiholoških intervencija, krizne intervencije su:</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1.</a:t>
            </a:r>
            <a:r>
              <a:rPr lang="en-GB" dirty="0">
                <a:latin typeface="Calibri" pitchFamily="34" charset="0"/>
                <a:cs typeface="Calibri" pitchFamily="34" charset="0"/>
              </a:rPr>
              <a:t>  </a:t>
            </a:r>
            <a:r>
              <a:rPr lang="bs-Latn-BA" dirty="0">
                <a:latin typeface="Calibri" pitchFamily="34" charset="0"/>
                <a:cs typeface="Calibri" pitchFamily="34" charset="0"/>
              </a:rPr>
              <a:t>Kratke i vremenski ograničene</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2. </a:t>
            </a:r>
            <a:r>
              <a:rPr lang="en-GB" dirty="0">
                <a:latin typeface="Calibri" pitchFamily="34" charset="0"/>
                <a:cs typeface="Calibri" pitchFamily="34" charset="0"/>
              </a:rPr>
              <a:t> </a:t>
            </a:r>
            <a:r>
              <a:rPr lang="bs-Latn-BA" dirty="0">
                <a:latin typeface="Calibri" pitchFamily="34" charset="0"/>
                <a:cs typeface="Calibri" pitchFamily="34" charset="0"/>
              </a:rPr>
              <a:t>Usmjerene su na krizni događaj  njegove posljedice, a ne na ranije psihičke ili druge teškoće</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3.</a:t>
            </a:r>
            <a:r>
              <a:rPr lang="en-GB" dirty="0">
                <a:latin typeface="Calibri" pitchFamily="34" charset="0"/>
                <a:cs typeface="Calibri" pitchFamily="34" charset="0"/>
              </a:rPr>
              <a:t>  </a:t>
            </a:r>
            <a:r>
              <a:rPr lang="bs-Latn-BA" dirty="0">
                <a:latin typeface="Calibri" pitchFamily="34" charset="0"/>
                <a:cs typeface="Calibri" pitchFamily="34" charset="0"/>
              </a:rPr>
              <a:t>Treba ih provesti što brže nakon događaja</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4. Pomagač je dosta direktivniji, daje izravne savjete, što znači da privremeno i djelimično preuzima odgovornost </a:t>
            </a:r>
            <a:r>
              <a:rPr lang="en-GB" dirty="0">
                <a:latin typeface="Calibri" pitchFamily="34" charset="0"/>
                <a:cs typeface="Calibri" pitchFamily="34" charset="0"/>
              </a:rPr>
              <a:t>              </a:t>
            </a:r>
            <a:r>
              <a:rPr lang="en-GB" dirty="0">
                <a:solidFill>
                  <a:schemeClr val="bg1"/>
                </a:solidFill>
                <a:latin typeface="Calibri" pitchFamily="34" charset="0"/>
                <a:cs typeface="Calibri" pitchFamily="34" charset="0"/>
              </a:rPr>
              <a:t>ii </a:t>
            </a:r>
            <a:r>
              <a:rPr lang="en-GB" dirty="0">
                <a:latin typeface="Calibri" pitchFamily="34" charset="0"/>
                <a:cs typeface="Calibri" pitchFamily="34" charset="0"/>
              </a:rPr>
              <a:t>  </a:t>
            </a:r>
            <a:r>
              <a:rPr lang="bs-Latn-BA" dirty="0">
                <a:latin typeface="Calibri" pitchFamily="34" charset="0"/>
                <a:cs typeface="Calibri" pitchFamily="34" charset="0"/>
              </a:rPr>
              <a:t>za pojedine aspekte života ljudi u krizi.</a:t>
            </a:r>
          </a:p>
          <a:p>
            <a:pPr algn="just"/>
            <a:r>
              <a:rPr lang="vi-VN" dirty="0">
                <a:latin typeface="Calibri" pitchFamily="34" charset="0"/>
                <a:cs typeface="Calibri" pitchFamily="34" charset="0"/>
              </a:rPr>
              <a:t> </a:t>
            </a:r>
            <a:endParaRPr lang="bs-Latn-BA"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2331" y="1123406"/>
            <a:ext cx="10855235" cy="369332"/>
          </a:xfrm>
          <a:prstGeom prst="rect">
            <a:avLst/>
          </a:prstGeom>
        </p:spPr>
        <p:txBody>
          <a:bodyPr wrap="square">
            <a:spAutoFit/>
          </a:bodyPr>
          <a:lstStyle/>
          <a:p>
            <a:r>
              <a:rPr lang="vi-VN" b="1" dirty="0"/>
              <a:t> </a:t>
            </a:r>
            <a:endParaRPr lang="bs-Latn-BA" dirty="0"/>
          </a:p>
        </p:txBody>
      </p:sp>
      <p:sp>
        <p:nvSpPr>
          <p:cNvPr id="4" name="Rectangle 3"/>
          <p:cNvSpPr/>
          <p:nvPr/>
        </p:nvSpPr>
        <p:spPr>
          <a:xfrm>
            <a:off x="757646" y="1387366"/>
            <a:ext cx="10646228" cy="4247317"/>
          </a:xfrm>
          <a:prstGeom prst="rect">
            <a:avLst/>
          </a:prstGeom>
        </p:spPr>
        <p:txBody>
          <a:bodyPr wrap="square">
            <a:spAutoFit/>
          </a:bodyPr>
          <a:lstStyle/>
          <a:p>
            <a:pPr algn="just"/>
            <a:r>
              <a:rPr lang="bs-Latn-BA" b="1" dirty="0">
                <a:latin typeface="Calibri" pitchFamily="34" charset="0"/>
                <a:cs typeface="Calibri" pitchFamily="34" charset="0"/>
              </a:rPr>
              <a:t>CILJEVI KRIZNIH INTERVENCIJA</a:t>
            </a:r>
          </a:p>
          <a:p>
            <a:pPr algn="just"/>
            <a:endParaRPr lang="en-GB" dirty="0">
              <a:latin typeface="Calibri" pitchFamily="34" charset="0"/>
              <a:cs typeface="Calibri" pitchFamily="34" charset="0"/>
            </a:endParaRPr>
          </a:p>
          <a:p>
            <a:pPr algn="just"/>
            <a:r>
              <a:rPr lang="bs-Latn-BA" dirty="0">
                <a:latin typeface="Calibri" pitchFamily="34" charset="0"/>
                <a:cs typeface="Calibri" pitchFamily="34" charset="0"/>
              </a:rPr>
              <a:t>Postoji nekoliko razloga zašto je dobro u uslovima krize sprovesti  kriznu intervenciju:</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Smanjenje učestalosti i /ili intenziteta nepoželjnih ponašanja</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Brža uspostava normalnog funkcionisanja pojedinaca i zajednice</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Finansijska ušteda zbog kraćih bolovanja, manje lijekova za smirenje, manje izgubljenih radnih sati i sl.</a:t>
            </a: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Krizne intervencije katkada se nazivaju i psihološka prva pomoć i to po analogiji  s medicinskom prvom </a:t>
            </a:r>
            <a:endParaRPr lang="en-GB" dirty="0">
              <a:latin typeface="Calibri" pitchFamily="34" charset="0"/>
              <a:cs typeface="Calibri" pitchFamily="34" charset="0"/>
            </a:endParaRPr>
          </a:p>
          <a:p>
            <a:pPr marL="342900" indent="-342900" algn="just"/>
            <a:r>
              <a:rPr lang="bs-Latn-BA" dirty="0">
                <a:latin typeface="Calibri" pitchFamily="34" charset="0"/>
                <a:cs typeface="Calibri" pitchFamily="34" charset="0"/>
              </a:rPr>
              <a:t>pomoći koju treba pružiti što brže po ozljeđivanju.</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Psihološka prva pomoć , odnosno psihološke krizne intervencije imaju više ciljeva (glavni i dodatni</a:t>
            </a:r>
            <a:r>
              <a:rPr lang="bs-Latn-BA" dirty="0" smtClean="0">
                <a:latin typeface="Calibri" pitchFamily="34" charset="0"/>
                <a:cs typeface="Calibri" pitchFamily="34" charset="0"/>
              </a:rPr>
              <a:t>)</a:t>
            </a:r>
            <a:r>
              <a:rPr lang="en-GB" dirty="0" smtClean="0">
                <a:latin typeface="Calibri" pitchFamily="34" charset="0"/>
                <a:cs typeface="Calibri" pitchFamily="34" charset="0"/>
              </a:rPr>
              <a:t>.</a:t>
            </a:r>
            <a:endParaRPr lang="bs-Latn-BA"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77767" y="1639614"/>
            <a:ext cx="10657488" cy="4247317"/>
          </a:xfrm>
          <a:prstGeom prst="rect">
            <a:avLst/>
          </a:prstGeom>
        </p:spPr>
        <p:txBody>
          <a:bodyPr wrap="square">
            <a:spAutoFit/>
          </a:bodyPr>
          <a:lstStyle/>
          <a:p>
            <a:pPr marL="342900" indent="-342900" algn="just"/>
            <a:r>
              <a:rPr lang="bs-Latn-BA" b="1" dirty="0">
                <a:latin typeface="Calibri" pitchFamily="34" charset="0"/>
                <a:cs typeface="Calibri" pitchFamily="34" charset="0"/>
              </a:rPr>
              <a:t>Glavni ciljevi krizne intervencije</a:t>
            </a:r>
            <a:endParaRPr lang="en-GB" b="1"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Stabilizacija stanja ( podrška i pomoć da bi ljudi lakše podnijeli to što su doživjeli)</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Normalizacija reakcija na krizni događaj (poučavanje o tom</a:t>
            </a:r>
            <a:r>
              <a:rPr lang="en-GB" dirty="0">
                <a:latin typeface="Calibri" pitchFamily="34" charset="0"/>
                <a:cs typeface="Calibri" pitchFamily="34" charset="0"/>
              </a:rPr>
              <a:t>e</a:t>
            </a:r>
            <a:r>
              <a:rPr lang="bs-Latn-BA" dirty="0">
                <a:latin typeface="Calibri" pitchFamily="34" charset="0"/>
                <a:cs typeface="Calibri" pitchFamily="34" charset="0"/>
              </a:rPr>
              <a:t> da su znakovi stresa, traume i krize koje ljudi osjećaju povodom kriznog </a:t>
            </a:r>
            <a:r>
              <a:rPr lang="bs-Latn-BA" dirty="0" smtClean="0">
                <a:latin typeface="Calibri" pitchFamily="34" charset="0"/>
                <a:cs typeface="Calibri" pitchFamily="34" charset="0"/>
              </a:rPr>
              <a:t>događaja </a:t>
            </a:r>
            <a:r>
              <a:rPr lang="bs-Latn-BA" dirty="0">
                <a:latin typeface="Calibri" pitchFamily="34" charset="0"/>
                <a:cs typeface="Calibri" pitchFamily="34" charset="0"/>
              </a:rPr>
              <a:t>prirodne, uobičajene i normalne reakcije u izvanrednim, nenormalnim okolnostima, te upozoravanje na individualne razlike u reagiranju i na važnost njihova uvažavanja)</a:t>
            </a:r>
            <a:endParaRPr lang="en-GB" dirty="0">
              <a:latin typeface="Calibri" pitchFamily="34" charset="0"/>
              <a:cs typeface="Calibri" pitchFamily="34" charset="0"/>
            </a:endParaRPr>
          </a:p>
          <a:p>
            <a:pPr marL="342900" indent="-342900" algn="just">
              <a:buAutoNum type="arabicPeriod"/>
            </a:pPr>
            <a:endParaRPr lang="en-GB" dirty="0">
              <a:latin typeface="Calibri" pitchFamily="34" charset="0"/>
              <a:cs typeface="Calibri" pitchFamily="34" charset="0"/>
            </a:endParaRPr>
          </a:p>
          <a:p>
            <a:pPr marL="342900" indent="-342900" algn="just"/>
            <a:r>
              <a:rPr lang="en-GB" dirty="0"/>
              <a:t>3</a:t>
            </a:r>
            <a:r>
              <a:rPr lang="bs-Latn-BA" dirty="0"/>
              <a:t>.</a:t>
            </a:r>
            <a:r>
              <a:rPr lang="bs-Latn-BA" b="1" dirty="0"/>
              <a:t> </a:t>
            </a:r>
            <a:r>
              <a:rPr lang="bs-Latn-BA" dirty="0">
                <a:latin typeface="Calibri" pitchFamily="34" charset="0"/>
                <a:cs typeface="Calibri" pitchFamily="34" charset="0"/>
              </a:rPr>
              <a:t>Ponovna uspostava prilagođenog neovisnog </a:t>
            </a:r>
            <a:r>
              <a:rPr lang="bs-Latn-BA" dirty="0" smtClean="0">
                <a:latin typeface="Calibri" pitchFamily="34" charset="0"/>
                <a:cs typeface="Calibri" pitchFamily="34" charset="0"/>
              </a:rPr>
              <a:t>funkcionisanja </a:t>
            </a:r>
            <a:r>
              <a:rPr lang="bs-Latn-BA" dirty="0">
                <a:latin typeface="Calibri" pitchFamily="34" charset="0"/>
                <a:cs typeface="Calibri" pitchFamily="34" charset="0"/>
              </a:rPr>
              <a:t>(što brža uspostava ranije ravnoteže u funkcionisanju i to usmjeravanjem na postojeće kapacitete pojedinca i zajednice, koji su privremeno nedostupni, te upućivanje na traženje podrške iz prirodnih socijalnih mreža)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buAutoNum type="arabicPeriod" startAt="4"/>
            </a:pPr>
            <a:r>
              <a:rPr lang="bs-Latn-BA" dirty="0">
                <a:latin typeface="Calibri" pitchFamily="34" charset="0"/>
                <a:cs typeface="Calibri" pitchFamily="34" charset="0"/>
              </a:rPr>
              <a:t>Trijaža (prepoznavanje rizičnih pojedinaca/skupina, tj. procjena potrebe za dodatnom podrškom stručnjaka koji provode kriznu intervencijui/ili upućivanje drugim </a:t>
            </a:r>
            <a:r>
              <a:rPr lang="bs-Latn-BA" dirty="0" smtClean="0">
                <a:latin typeface="Calibri" pitchFamily="34" charset="0"/>
                <a:cs typeface="Calibri" pitchFamily="34" charset="0"/>
              </a:rPr>
              <a:t>stručnjacima)</a:t>
            </a:r>
            <a:endParaRPr lang="bs-Latn-BA"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53143" y="1156138"/>
            <a:ext cx="10672354" cy="3970318"/>
          </a:xfrm>
          <a:prstGeom prst="rect">
            <a:avLst/>
          </a:prstGeom>
        </p:spPr>
        <p:txBody>
          <a:bodyPr wrap="square">
            <a:spAutoFit/>
          </a:bodyPr>
          <a:lstStyle/>
          <a:p>
            <a:pPr marL="342900" indent="-342900">
              <a:buAutoNum type="arabicPeriod"/>
            </a:pPr>
            <a:endParaRPr lang="bs-Latn-BA" b="1" dirty="0"/>
          </a:p>
          <a:p>
            <a:pPr marL="342900" indent="-342900" algn="just"/>
            <a:endParaRPr lang="bs-Latn-BA" dirty="0">
              <a:latin typeface="Calibri" pitchFamily="34" charset="0"/>
              <a:cs typeface="Calibri" pitchFamily="34" charset="0"/>
            </a:endParaRPr>
          </a:p>
          <a:p>
            <a:pPr marL="342900" indent="-342900" algn="just"/>
            <a:r>
              <a:rPr lang="bs-Latn-BA" b="1" dirty="0">
                <a:latin typeface="Calibri" pitchFamily="34" charset="0"/>
                <a:cs typeface="Calibri" pitchFamily="34" charset="0"/>
              </a:rPr>
              <a:t>Dodatni ciljevi</a:t>
            </a:r>
          </a:p>
          <a:p>
            <a:pPr marL="342900" indent="-342900"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Podrška u </a:t>
            </a:r>
            <a:r>
              <a:rPr lang="bs-Latn-BA" dirty="0" smtClean="0">
                <a:latin typeface="Calibri" pitchFamily="34" charset="0"/>
                <a:cs typeface="Calibri" pitchFamily="34" charset="0"/>
              </a:rPr>
              <a:t>pokuš</a:t>
            </a:r>
            <a:r>
              <a:rPr lang="en-GB" dirty="0" smtClean="0">
                <a:latin typeface="Calibri" pitchFamily="34" charset="0"/>
                <a:cs typeface="Calibri" pitchFamily="34" charset="0"/>
              </a:rPr>
              <a:t>a</a:t>
            </a:r>
            <a:r>
              <a:rPr lang="bs-Latn-BA" dirty="0" smtClean="0">
                <a:latin typeface="Calibri" pitchFamily="34" charset="0"/>
                <a:cs typeface="Calibri" pitchFamily="34" charset="0"/>
              </a:rPr>
              <a:t>ju </a:t>
            </a:r>
            <a:r>
              <a:rPr lang="bs-Latn-BA" dirty="0">
                <a:latin typeface="Calibri" pitchFamily="34" charset="0"/>
                <a:cs typeface="Calibri" pitchFamily="34" charset="0"/>
              </a:rPr>
              <a:t>razumijevanja toga što se dogodilo i toga kako se ljudi zbog toga osjećaju</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Podrška u praktičnim stvarima</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Poučavanje npr. o vrstama traumatskih reakcija, toku oporavka, strategijama samopomoći, traženja i primanja podrške </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Jačanje ili vraćanje grupne kohezije/povezanosti među članovima zajednice</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Pokušaj sprečavanja dugotrajnih teškoća u funkcionisanju nastalih zbog kriznog događaja.</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77766" y="1136469"/>
            <a:ext cx="10625958" cy="4524315"/>
          </a:xfrm>
          <a:prstGeom prst="rect">
            <a:avLst/>
          </a:prstGeom>
        </p:spPr>
        <p:txBody>
          <a:bodyPr wrap="square">
            <a:spAutoFit/>
          </a:bodyPr>
          <a:lstStyle/>
          <a:p>
            <a:pPr algn="just"/>
            <a:r>
              <a:rPr lang="bs-Latn-BA" dirty="0" smtClean="0">
                <a:latin typeface="Calibri" pitchFamily="34" charset="0"/>
                <a:cs typeface="Calibri" pitchFamily="34" charset="0"/>
              </a:rPr>
              <a:t>Primjeri psiholoških postupaka o ostvarivanju ciljeva krizne intervencije</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Normalizacija:  Vi ste nomalni, zdravi ljudi sa brojnim snagama i resursima , ali ste zbog nenormalnih okolnosti privremeno izbačeni iz svog uobičajenog načina funkcionisanja.</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Uspostava ranije razine funkcionisanja: Znamo da trenutno ne funkcionišete kao prije i da ste zabrinuti zbog toga</a:t>
            </a:r>
            <a:r>
              <a:rPr lang="en-GB" dirty="0">
                <a:latin typeface="Calibri" pitchFamily="34" charset="0"/>
                <a:cs typeface="Calibri" pitchFamily="34" charset="0"/>
              </a:rPr>
              <a:t>,</a:t>
            </a:r>
            <a:r>
              <a:rPr lang="bs-Latn-BA" dirty="0">
                <a:latin typeface="Calibri" pitchFamily="34" charset="0"/>
                <a:cs typeface="Calibri" pitchFamily="34" charset="0"/>
              </a:rPr>
              <a:t> te da se pitate hoćete li se i kad ćete se vratiti na prijašnje stanje. Sve što o vama znamo od prije, ali i sve što znamo općenito o ljudskom funkcionisanju u ovakvim okolnostima govori nam da još neko vrijeme nećete biti oni stari ali da ćete </a:t>
            </a:r>
            <a:r>
              <a:rPr lang="bs-Latn-BA" dirty="0" smtClean="0">
                <a:latin typeface="Calibri" pitchFamily="34" charset="0"/>
                <a:cs typeface="Calibri" pitchFamily="34" charset="0"/>
              </a:rPr>
              <a:t>malo-pomalo, polako </a:t>
            </a:r>
            <a:r>
              <a:rPr lang="bs-Latn-BA" dirty="0">
                <a:latin typeface="Calibri" pitchFamily="34" charset="0"/>
                <a:cs typeface="Calibri" pitchFamily="34" charset="0"/>
              </a:rPr>
              <a:t>uspostaviti kontrolu nad svojim životom i da ćete ponovo moći funkcionisati slično kao nekada.</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Jačanje grupne kohezije: dati priliku da vide/čuju jedni druge jer dijeljenjem teških osjećaja i misli članovi postaju bliži i iskreniji jedni prema drugima.</a:t>
            </a:r>
            <a:endParaRPr lang="en-GB"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Trijaža: probir pojedinaca kojima će možda trebati dodatna podrška  bilo nas koji provodimo kriznu intervenciju, školskog psihologa/pedagoga, razrednika, socijalnog radnika ili nekog drugog stručnjaka iz zajednice.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653143" y="1912883"/>
            <a:ext cx="10698480" cy="2308324"/>
          </a:xfrm>
          <a:prstGeom prst="rect">
            <a:avLst/>
          </a:prstGeom>
        </p:spPr>
        <p:txBody>
          <a:bodyPr wrap="square">
            <a:spAutoFit/>
          </a:bodyPr>
          <a:lstStyle/>
          <a:p>
            <a:pPr algn="just"/>
            <a:r>
              <a:rPr lang="bs-Latn-BA" b="1" dirty="0">
                <a:latin typeface="Calibri" pitchFamily="34" charset="0"/>
                <a:cs typeface="Calibri" pitchFamily="34" charset="0"/>
              </a:rPr>
              <a:t>PROVOĐENJE KRIZNIH INTERVENCIJA</a:t>
            </a:r>
          </a:p>
          <a:p>
            <a:pPr algn="just"/>
            <a:endParaRPr lang="bs-Latn-BA" b="1" dirty="0">
              <a:latin typeface="Calibri" pitchFamily="34" charset="0"/>
              <a:cs typeface="Calibri" pitchFamily="34" charset="0"/>
            </a:endParaRPr>
          </a:p>
          <a:p>
            <a:pPr marL="342900" indent="-342900" algn="just">
              <a:buAutoNum type="arabicPeriod"/>
            </a:pPr>
            <a:r>
              <a:rPr lang="bs-Latn-BA" b="1" dirty="0">
                <a:latin typeface="Calibri" pitchFamily="34" charset="0"/>
                <a:cs typeface="Calibri" pitchFamily="34" charset="0"/>
              </a:rPr>
              <a:t>NAKON KAKVIH DOGAĐAJA SE PROVODE?</a:t>
            </a:r>
          </a:p>
          <a:p>
            <a:pPr marL="342900" indent="-342900" algn="just">
              <a:buAutoNum type="arabicPeriod"/>
            </a:pPr>
            <a:r>
              <a:rPr lang="bs-Latn-BA" b="1" dirty="0">
                <a:latin typeface="Calibri" pitchFamily="34" charset="0"/>
                <a:cs typeface="Calibri" pitchFamily="34" charset="0"/>
              </a:rPr>
              <a:t>KOME SU NAMIJENJENE?</a:t>
            </a:r>
          </a:p>
          <a:p>
            <a:pPr marL="342900" indent="-342900" algn="just">
              <a:buAutoNum type="arabicPeriod"/>
            </a:pPr>
            <a:r>
              <a:rPr lang="bs-Latn-BA" b="1" dirty="0">
                <a:latin typeface="Calibri" pitchFamily="34" charset="0"/>
                <a:cs typeface="Calibri" pitchFamily="34" charset="0"/>
              </a:rPr>
              <a:t>KO IH PROVODI?</a:t>
            </a:r>
          </a:p>
          <a:p>
            <a:pPr marL="342900" indent="-342900" algn="just">
              <a:buAutoNum type="arabicPeriod"/>
            </a:pPr>
            <a:r>
              <a:rPr lang="bs-Latn-BA" b="1" dirty="0">
                <a:latin typeface="Calibri" pitchFamily="34" charset="0"/>
                <a:cs typeface="Calibri" pitchFamily="34" charset="0"/>
              </a:rPr>
              <a:t>KAD  I KAKO IH TREBA POKRENUTI?</a:t>
            </a:r>
          </a:p>
          <a:p>
            <a:pPr marL="342900" indent="-342900" algn="just">
              <a:buAutoNum type="arabicPeriod"/>
            </a:pPr>
            <a:r>
              <a:rPr lang="bs-Latn-BA" b="1" dirty="0">
                <a:latin typeface="Calibri" pitchFamily="34" charset="0"/>
                <a:cs typeface="Calibri" pitchFamily="34" charset="0"/>
              </a:rPr>
              <a:t>KOLIKO TRAJU?</a:t>
            </a:r>
          </a:p>
          <a:p>
            <a:pPr marL="342900" indent="-342900" algn="just">
              <a:buAutoNum type="arabicPeriod"/>
            </a:pPr>
            <a:r>
              <a:rPr lang="bs-Latn-BA" b="1" dirty="0">
                <a:latin typeface="Calibri" pitchFamily="34" charset="0"/>
                <a:cs typeface="Calibri" pitchFamily="34" charset="0"/>
              </a:rPr>
              <a:t>JESU LI DJELOTVORNE?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57646" y="1280160"/>
            <a:ext cx="10688120" cy="4524315"/>
          </a:xfrm>
          <a:prstGeom prst="rect">
            <a:avLst/>
          </a:prstGeom>
        </p:spPr>
        <p:txBody>
          <a:bodyPr wrap="square">
            <a:spAutoFit/>
          </a:bodyPr>
          <a:lstStyle/>
          <a:p>
            <a:pPr marL="342900" indent="-342900" algn="just">
              <a:buAutoNum type="arabicPeriod"/>
            </a:pPr>
            <a:r>
              <a:rPr lang="bs-Latn-BA" b="1" dirty="0">
                <a:latin typeface="Calibri" pitchFamily="34" charset="0"/>
                <a:cs typeface="Calibri" pitchFamily="34" charset="0"/>
              </a:rPr>
              <a:t>NAKON KAKVIH DOGAĐAJA SE PROVODE?</a:t>
            </a: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Najčešći krizni događaji: samoubistvo, ubistvo (slučajno ili namjerno), prijetnja smrću ili </a:t>
            </a:r>
            <a:r>
              <a:rPr lang="bs-Latn-BA" dirty="0" smtClean="0">
                <a:latin typeface="Calibri" pitchFamily="34" charset="0"/>
                <a:cs typeface="Calibri" pitchFamily="34" charset="0"/>
              </a:rPr>
              <a:t>ranjavanjem</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(npr. oružana pljačka ili talačka kriza</a:t>
            </a:r>
            <a:r>
              <a:rPr lang="bs-Latn-BA" dirty="0" smtClean="0">
                <a:latin typeface="Calibri" pitchFamily="34" charset="0"/>
                <a:cs typeface="Calibri" pitchFamily="34" charset="0"/>
              </a:rPr>
              <a:t>,) </a:t>
            </a:r>
            <a:r>
              <a:rPr lang="bs-Latn-BA" dirty="0" smtClean="0">
                <a:latin typeface="Calibri" pitchFamily="34" charset="0"/>
                <a:cs typeface="Calibri" pitchFamily="34" charset="0"/>
              </a:rPr>
              <a:t>ranjavanje (slučajno ili namjerno), iznenadna smrt (npr. prometna nesreća,</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prirodni ranije (ne) poznat tjelesni uzrok ), razbojnički napad, spolno zlostavljanje i slično. </a:t>
            </a:r>
            <a:endParaRPr lang="en-GB" dirty="0" smtClean="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Riječ je o događajima koji mogu i ne moraju uključivati smrti/ili tjelesne ozljede, ali i o onima koji sadrže </a:t>
            </a:r>
            <a:r>
              <a:rPr lang="bs-Latn-BA" dirty="0" smtClean="0">
                <a:latin typeface="Calibri" pitchFamily="34" charset="0"/>
                <a:cs typeface="Calibri" pitchFamily="34" charset="0"/>
              </a:rPr>
              <a:t>prijetnju</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životu </a:t>
            </a:r>
            <a:r>
              <a:rPr lang="bs-Latn-BA" dirty="0">
                <a:latin typeface="Calibri" pitchFamily="34" charset="0"/>
                <a:cs typeface="Calibri" pitchFamily="34" charset="0"/>
              </a:rPr>
              <a:t>odnosno tjelesnom integritetu. </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Takvi događaji su </a:t>
            </a:r>
            <a:r>
              <a:rPr lang="bs-Latn-BA" dirty="0" smtClean="0">
                <a:latin typeface="Calibri" pitchFamily="34" charset="0"/>
                <a:cs typeface="Calibri" pitchFamily="34" charset="0"/>
              </a:rPr>
              <a:t>indicirani </a:t>
            </a:r>
            <a:r>
              <a:rPr lang="bs-Latn-BA" dirty="0">
                <a:latin typeface="Calibri" pitchFamily="34" charset="0"/>
                <a:cs typeface="Calibri" pitchFamily="34" charset="0"/>
              </a:rPr>
              <a:t>za pokretanje krizne intervencije, a hoće li ona zaista biti provedena ovisi o </a:t>
            </a:r>
            <a:r>
              <a:rPr lang="bs-Latn-BA" i="1" dirty="0" smtClean="0">
                <a:latin typeface="Calibri" pitchFamily="34" charset="0"/>
                <a:cs typeface="Calibri" pitchFamily="34" charset="0"/>
              </a:rPr>
              <a:t>procjeni</a:t>
            </a:r>
            <a:endParaRPr lang="en-GB" i="1" dirty="0" smtClean="0">
              <a:latin typeface="Calibri" pitchFamily="34" charset="0"/>
              <a:cs typeface="Calibri" pitchFamily="34" charset="0"/>
            </a:endParaRPr>
          </a:p>
          <a:p>
            <a:pPr marL="342900" indent="-342900" algn="just"/>
            <a:r>
              <a:rPr lang="bs-Latn-BA" i="1" dirty="0" smtClean="0">
                <a:latin typeface="Calibri" pitchFamily="34" charset="0"/>
                <a:cs typeface="Calibri" pitchFamily="34" charset="0"/>
              </a:rPr>
              <a:t>zajednice  </a:t>
            </a:r>
            <a:r>
              <a:rPr lang="bs-Latn-BA" i="1" dirty="0">
                <a:latin typeface="Calibri" pitchFamily="34" charset="0"/>
                <a:cs typeface="Calibri" pitchFamily="34" charset="0"/>
              </a:rPr>
              <a:t>i to je li je taj događaj doveo u stanje krize i može li vlastitim snagama izaći na kraj s tim stanjem. </a:t>
            </a:r>
            <a:endParaRPr lang="en-GB" i="1" dirty="0">
              <a:latin typeface="Calibri" pitchFamily="34" charset="0"/>
              <a:cs typeface="Calibri" pitchFamily="34" charset="0"/>
            </a:endParaRPr>
          </a:p>
          <a:p>
            <a:pPr marL="342900" indent="-342900" algn="just"/>
            <a:endParaRPr lang="bs-Latn-BA" i="1" dirty="0">
              <a:latin typeface="Calibri" pitchFamily="34" charset="0"/>
              <a:cs typeface="Calibri" pitchFamily="34" charset="0"/>
            </a:endParaRPr>
          </a:p>
          <a:p>
            <a:pPr marL="342900" indent="-342900" algn="just"/>
            <a:r>
              <a:rPr lang="bs-Latn-BA" i="1" dirty="0">
                <a:latin typeface="Calibri" pitchFamily="34" charset="0"/>
                <a:cs typeface="Calibri" pitchFamily="34" charset="0"/>
              </a:rPr>
              <a:t>Takođe ovisi i </a:t>
            </a:r>
            <a:r>
              <a:rPr lang="bs-Latn-BA" i="1" dirty="0" smtClean="0">
                <a:latin typeface="Calibri" pitchFamily="34" charset="0"/>
                <a:cs typeface="Calibri" pitchFamily="34" charset="0"/>
              </a:rPr>
              <a:t>o procjeni </a:t>
            </a:r>
            <a:r>
              <a:rPr lang="bs-Latn-BA" i="1" dirty="0">
                <a:latin typeface="Calibri" pitchFamily="34" charset="0"/>
                <a:cs typeface="Calibri" pitchFamily="34" charset="0"/>
              </a:rPr>
              <a:t>Mobilnog Tima za krizne intervencije </a:t>
            </a:r>
            <a:r>
              <a:rPr lang="bs-Latn-BA" i="1" dirty="0" smtClean="0">
                <a:latin typeface="Calibri" pitchFamily="34" charset="0"/>
                <a:cs typeface="Calibri" pitchFamily="34" charset="0"/>
              </a:rPr>
              <a:t>u </a:t>
            </a:r>
            <a:r>
              <a:rPr lang="bs-Latn-BA" i="1" dirty="0">
                <a:latin typeface="Calibri" pitchFamily="34" charset="0"/>
                <a:cs typeface="Calibri" pitchFamily="34" charset="0"/>
              </a:rPr>
              <a:t>smislu da li se radi o jednom događaju  za koji </a:t>
            </a:r>
            <a:r>
              <a:rPr lang="bs-Latn-BA" i="1" dirty="0" smtClean="0">
                <a:latin typeface="Calibri" pitchFamily="34" charset="0"/>
                <a:cs typeface="Calibri" pitchFamily="34" charset="0"/>
              </a:rPr>
              <a:t>se</a:t>
            </a:r>
            <a:endParaRPr lang="en-GB" i="1" dirty="0" smtClean="0">
              <a:latin typeface="Calibri" pitchFamily="34" charset="0"/>
              <a:cs typeface="Calibri" pitchFamily="34" charset="0"/>
            </a:endParaRPr>
          </a:p>
          <a:p>
            <a:pPr marL="342900" indent="-342900" algn="just"/>
            <a:r>
              <a:rPr lang="bs-Latn-BA" i="1" dirty="0" smtClean="0">
                <a:latin typeface="Calibri" pitchFamily="34" charset="0"/>
                <a:cs typeface="Calibri" pitchFamily="34" charset="0"/>
              </a:rPr>
              <a:t>jasno </a:t>
            </a:r>
            <a:r>
              <a:rPr lang="bs-Latn-BA" i="1" dirty="0">
                <a:latin typeface="Calibri" pitchFamily="34" charset="0"/>
                <a:cs typeface="Calibri" pitchFamily="34" charset="0"/>
              </a:rPr>
              <a:t>zna da je uzrok krize ili  je potrebna pomoć zbog dugotrajnog slijeda nepovoljnih zbivanja koja su u </a:t>
            </a:r>
            <a:r>
              <a:rPr lang="bs-Latn-BA" i="1" dirty="0" smtClean="0">
                <a:latin typeface="Calibri" pitchFamily="34" charset="0"/>
                <a:cs typeface="Calibri" pitchFamily="34" charset="0"/>
              </a:rPr>
              <a:t>jednom</a:t>
            </a:r>
            <a:endParaRPr lang="en-GB" i="1" dirty="0" smtClean="0">
              <a:latin typeface="Calibri" pitchFamily="34" charset="0"/>
              <a:cs typeface="Calibri" pitchFamily="34" charset="0"/>
            </a:endParaRPr>
          </a:p>
          <a:p>
            <a:pPr marL="342900" indent="-342900" algn="just"/>
            <a:r>
              <a:rPr lang="bs-Latn-BA" i="1" dirty="0" smtClean="0">
                <a:latin typeface="Calibri" pitchFamily="34" charset="0"/>
                <a:cs typeface="Calibri" pitchFamily="34" charset="0"/>
              </a:rPr>
              <a:t>trenutku </a:t>
            </a:r>
            <a:r>
              <a:rPr lang="bs-Latn-BA" i="1" dirty="0">
                <a:latin typeface="Calibri" pitchFamily="34" charset="0"/>
                <a:cs typeface="Calibri" pitchFamily="34" charset="0"/>
              </a:rPr>
              <a:t>prelila čašu koja se već dugo punila. Ta druga situacija najčešće nije indikacija za </a:t>
            </a:r>
            <a:r>
              <a:rPr lang="bs-Latn-BA" i="1" dirty="0" smtClean="0">
                <a:latin typeface="Calibri" pitchFamily="34" charset="0"/>
                <a:cs typeface="Calibri" pitchFamily="34" charset="0"/>
              </a:rPr>
              <a:t>pokretanje krizne</a:t>
            </a:r>
            <a:endParaRPr lang="en-GB" i="1" dirty="0" smtClean="0">
              <a:latin typeface="Calibri" pitchFamily="34" charset="0"/>
              <a:cs typeface="Calibri" pitchFamily="34" charset="0"/>
            </a:endParaRPr>
          </a:p>
          <a:p>
            <a:pPr marL="342900" indent="-342900" algn="just"/>
            <a:r>
              <a:rPr lang="bs-Latn-BA" i="1" dirty="0" smtClean="0">
                <a:latin typeface="Calibri" pitchFamily="34" charset="0"/>
                <a:cs typeface="Calibri" pitchFamily="34" charset="0"/>
              </a:rPr>
              <a:t>intervencije</a:t>
            </a:r>
            <a:r>
              <a:rPr lang="bs-Latn-BA" i="1" dirty="0">
                <a:latin typeface="Calibri" pitchFamily="34" charset="0"/>
                <a:cs typeface="Calibri" pitchFamily="34" charset="0"/>
              </a:rPr>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56745" y="903890"/>
            <a:ext cx="10699531" cy="5078313"/>
          </a:xfrm>
          <a:prstGeom prst="rect">
            <a:avLst/>
          </a:prstGeom>
        </p:spPr>
        <p:txBody>
          <a:bodyPr wrap="square">
            <a:spAutoFit/>
          </a:bodyPr>
          <a:lstStyle/>
          <a:p>
            <a:pPr marL="342900" indent="-342900" algn="just">
              <a:buAutoNum type="arabicPeriod" startAt="2"/>
            </a:pPr>
            <a:r>
              <a:rPr lang="bs-Latn-BA" b="1" dirty="0">
                <a:latin typeface="Calibri" pitchFamily="34" charset="0"/>
                <a:cs typeface="Calibri" pitchFamily="34" charset="0"/>
              </a:rPr>
              <a:t>KOME SU NAMIJENJENE?</a:t>
            </a: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Krizne intervencije namijenjene su svima koji su posredno ili neposredno  bili izloženi kriznom događaju:</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a</a:t>
            </a:r>
            <a:r>
              <a:rPr lang="bs-Latn-BA" dirty="0" smtClean="0">
                <a:latin typeface="Calibri" pitchFamily="34" charset="0"/>
                <a:cs typeface="Calibri" pitchFamily="34" charset="0"/>
              </a:rPr>
              <a:t>)</a:t>
            </a:r>
            <a:r>
              <a:rPr lang="en-GB" dirty="0" smtClean="0">
                <a:latin typeface="Calibri" pitchFamily="34" charset="0"/>
                <a:cs typeface="Calibri" pitchFamily="34" charset="0"/>
              </a:rPr>
              <a:t>  </a:t>
            </a:r>
            <a:r>
              <a:rPr lang="bs-Latn-BA" dirty="0" smtClean="0">
                <a:latin typeface="Calibri" pitchFamily="34" charset="0"/>
                <a:cs typeface="Calibri" pitchFamily="34" charset="0"/>
              </a:rPr>
              <a:t>izravnim </a:t>
            </a:r>
            <a:r>
              <a:rPr lang="bs-Latn-BA" dirty="0">
                <a:latin typeface="Calibri" pitchFamily="34" charset="0"/>
                <a:cs typeface="Calibri" pitchFamily="34" charset="0"/>
              </a:rPr>
              <a:t>žrtvama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b</a:t>
            </a:r>
            <a:r>
              <a:rPr lang="bs-Latn-BA" dirty="0" smtClean="0">
                <a:latin typeface="Calibri" pitchFamily="34" charset="0"/>
                <a:cs typeface="Calibri" pitchFamily="34" charset="0"/>
              </a:rPr>
              <a:t>)</a:t>
            </a:r>
            <a:r>
              <a:rPr lang="en-GB" dirty="0" smtClean="0">
                <a:latin typeface="Calibri" pitchFamily="34" charset="0"/>
                <a:cs typeface="Calibri" pitchFamily="34" charset="0"/>
              </a:rPr>
              <a:t>  </a:t>
            </a:r>
            <a:r>
              <a:rPr lang="bs-Latn-BA" dirty="0" smtClean="0">
                <a:latin typeface="Calibri" pitchFamily="34" charset="0"/>
                <a:cs typeface="Calibri" pitchFamily="34" charset="0"/>
              </a:rPr>
              <a:t>očevicima </a:t>
            </a:r>
            <a:r>
              <a:rPr lang="bs-Latn-BA" dirty="0">
                <a:latin typeface="Calibri" pitchFamily="34" charset="0"/>
                <a:cs typeface="Calibri" pitchFamily="34" charset="0"/>
              </a:rPr>
              <a:t>događaja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c) </a:t>
            </a:r>
            <a:r>
              <a:rPr lang="en-GB" dirty="0" smtClean="0">
                <a:latin typeface="Calibri" pitchFamily="34" charset="0"/>
                <a:cs typeface="Calibri" pitchFamily="34" charset="0"/>
              </a:rPr>
              <a:t> </a:t>
            </a:r>
            <a:r>
              <a:rPr lang="bs-Latn-BA" dirty="0" smtClean="0">
                <a:latin typeface="Calibri" pitchFamily="34" charset="0"/>
                <a:cs typeface="Calibri" pitchFamily="34" charset="0"/>
              </a:rPr>
              <a:t>pripadnicima </a:t>
            </a:r>
            <a:r>
              <a:rPr lang="bs-Latn-BA" dirty="0">
                <a:latin typeface="Calibri" pitchFamily="34" charset="0"/>
                <a:cs typeface="Calibri" pitchFamily="34" charset="0"/>
              </a:rPr>
              <a:t>spasilačkih službi i drugim profesionalnim pomagačima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d) </a:t>
            </a:r>
            <a:r>
              <a:rPr lang="en-GB" dirty="0" smtClean="0">
                <a:latin typeface="Calibri" pitchFamily="34" charset="0"/>
                <a:cs typeface="Calibri" pitchFamily="34" charset="0"/>
              </a:rPr>
              <a:t> </a:t>
            </a:r>
            <a:r>
              <a:rPr lang="bs-Latn-BA" dirty="0" smtClean="0">
                <a:latin typeface="Calibri" pitchFamily="34" charset="0"/>
                <a:cs typeface="Calibri" pitchFamily="34" charset="0"/>
              </a:rPr>
              <a:t>svima </a:t>
            </a:r>
            <a:r>
              <a:rPr lang="bs-Latn-BA" dirty="0">
                <a:latin typeface="Calibri" pitchFamily="34" charset="0"/>
                <a:cs typeface="Calibri" pitchFamily="34" charset="0"/>
              </a:rPr>
              <a:t>koji osjećaju  da je događaj uticao na njihovo psihičko (i tjelesno) stanje.</a:t>
            </a: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Pri formiranju skupina za grupne razgovore važno je voditi računa istodobno o dva kriterija: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Da je riječ o članovima prirodnih grupa (npr. učenici jednog razreda škole)</a:t>
            </a:r>
            <a:endParaRPr lang="en-GB" dirty="0">
              <a:latin typeface="Calibri" pitchFamily="34" charset="0"/>
              <a:cs typeface="Calibri" pitchFamily="34" charset="0"/>
            </a:endParaRPr>
          </a:p>
          <a:p>
            <a:pPr marL="342900" indent="-342900" algn="just">
              <a:buAutoNum type="arabicPeriod"/>
            </a:pPr>
            <a:endParaRPr lang="bs-Latn-BA" dirty="0">
              <a:latin typeface="Calibri" pitchFamily="34" charset="0"/>
              <a:cs typeface="Calibri" pitchFamily="34" charset="0"/>
            </a:endParaRPr>
          </a:p>
          <a:p>
            <a:pPr marL="342900" indent="-342900" algn="just">
              <a:buAutoNum type="arabicPeriod"/>
            </a:pPr>
            <a:r>
              <a:rPr lang="bs-Latn-BA" dirty="0">
                <a:latin typeface="Calibri" pitchFamily="34" charset="0"/>
                <a:cs typeface="Calibri" pitchFamily="34" charset="0"/>
              </a:rPr>
              <a:t>Da je krizni događaj članove grupe pogodio na što sličnije  izravan ili posredni način </a:t>
            </a:r>
            <a:r>
              <a:rPr lang="bs-Latn-BA" dirty="0" smtClean="0">
                <a:latin typeface="Calibri" pitchFamily="34" charset="0"/>
                <a:cs typeface="Calibri" pitchFamily="34" charset="0"/>
              </a:rPr>
              <a:t>(npr. učenici </a:t>
            </a:r>
            <a:r>
              <a:rPr lang="bs-Latn-BA" dirty="0">
                <a:latin typeface="Calibri" pitchFamily="34" charset="0"/>
                <a:cs typeface="Calibri" pitchFamily="34" charset="0"/>
              </a:rPr>
              <a:t>jednog odjeljenja sedmog razreda naspram drugog odjeljenja istog r</a:t>
            </a:r>
            <a:r>
              <a:rPr lang="en-GB" dirty="0">
                <a:latin typeface="Calibri" pitchFamily="34" charset="0"/>
                <a:cs typeface="Calibri" pitchFamily="34" charset="0"/>
              </a:rPr>
              <a:t>a</a:t>
            </a:r>
            <a:r>
              <a:rPr lang="bs-Latn-BA" dirty="0">
                <a:latin typeface="Calibri" pitchFamily="34" charset="0"/>
                <a:cs typeface="Calibri" pitchFamily="34" charset="0"/>
              </a:rPr>
              <a:t>zreda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Novo Sarajevo\Downloads\IMG_8425.jpg"/>
          <p:cNvPicPr>
            <a:picLocks noChangeAspect="1" noChangeArrowheads="1"/>
          </p:cNvPicPr>
          <p:nvPr/>
        </p:nvPicPr>
        <p:blipFill>
          <a:blip r:embed="rId2" cstate="print"/>
          <a:srcRect/>
          <a:stretch>
            <a:fillRect/>
          </a:stretch>
        </p:blipFill>
        <p:spPr bwMode="auto">
          <a:xfrm>
            <a:off x="2932386" y="1051033"/>
            <a:ext cx="6327227" cy="5633546"/>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04193" y="798787"/>
            <a:ext cx="10731062" cy="5632311"/>
          </a:xfrm>
          <a:prstGeom prst="rect">
            <a:avLst/>
          </a:prstGeom>
        </p:spPr>
        <p:txBody>
          <a:bodyPr wrap="square">
            <a:spAutoFit/>
          </a:bodyPr>
          <a:lstStyle/>
          <a:p>
            <a:pPr marL="342900" indent="-342900" algn="just"/>
            <a:r>
              <a:rPr lang="bs-Latn-BA" b="1" dirty="0" smtClean="0"/>
              <a:t>3. </a:t>
            </a:r>
            <a:r>
              <a:rPr lang="en-GB" b="1" dirty="0" smtClean="0"/>
              <a:t> </a:t>
            </a:r>
            <a:r>
              <a:rPr lang="bs-Latn-BA" b="1" dirty="0" smtClean="0">
                <a:latin typeface="Calibri" pitchFamily="34" charset="0"/>
                <a:cs typeface="Calibri" pitchFamily="34" charset="0"/>
              </a:rPr>
              <a:t>KO </a:t>
            </a:r>
            <a:r>
              <a:rPr lang="bs-Latn-BA" b="1" dirty="0">
                <a:latin typeface="Calibri" pitchFamily="34" charset="0"/>
                <a:cs typeface="Calibri" pitchFamily="34" charset="0"/>
              </a:rPr>
              <a:t>IH PROVODI?</a:t>
            </a:r>
            <a:endParaRPr lang="en-GB" b="1"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U Kantonu Sarajevo postoji MOBILNI TIM ZA KRIZNE </a:t>
            </a:r>
            <a:r>
              <a:rPr lang="bs-Latn-BA" dirty="0" smtClean="0">
                <a:latin typeface="Calibri" pitchFamily="34" charset="0"/>
                <a:cs typeface="Calibri" pitchFamily="34" charset="0"/>
              </a:rPr>
              <a:t>INTERVENCIJE</a:t>
            </a:r>
            <a:r>
              <a:rPr lang="en-GB" dirty="0" smtClean="0">
                <a:latin typeface="Calibri" pitchFamily="34" charset="0"/>
                <a:cs typeface="Calibri" pitchFamily="34" charset="0"/>
              </a:rPr>
              <a:t> </a:t>
            </a:r>
            <a:r>
              <a:rPr lang="bs-Latn-BA" dirty="0" smtClean="0">
                <a:latin typeface="Calibri" pitchFamily="34" charset="0"/>
                <a:cs typeface="Calibri" pitchFamily="34" charset="0"/>
              </a:rPr>
              <a:t>koji </a:t>
            </a:r>
            <a:r>
              <a:rPr lang="bs-Latn-BA" dirty="0">
                <a:latin typeface="Calibri" pitchFamily="34" charset="0"/>
                <a:cs typeface="Calibri" pitchFamily="34" charset="0"/>
              </a:rPr>
              <a:t>je osnovan na osnovu člana 18.</a:t>
            </a:r>
            <a:r>
              <a:rPr lang="en-GB" dirty="0">
                <a:latin typeface="Calibri" pitchFamily="34" charset="0"/>
                <a:cs typeface="Calibri" pitchFamily="34" charset="0"/>
              </a:rPr>
              <a:t> </a:t>
            </a:r>
            <a:r>
              <a:rPr lang="bs-Latn-BA" dirty="0" smtClean="0">
                <a:latin typeface="Calibri" pitchFamily="34" charset="0"/>
                <a:cs typeface="Calibri" pitchFamily="34" charset="0"/>
              </a:rPr>
              <a:t>a</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Pravilnika </a:t>
            </a:r>
            <a:r>
              <a:rPr lang="bs-Latn-BA" dirty="0">
                <a:latin typeface="Calibri" pitchFamily="34" charset="0"/>
                <a:cs typeface="Calibri" pitchFamily="34" charset="0"/>
              </a:rPr>
              <a:t>o izmjenama i dopunama Pravilnika o načinu i obliku provođenja odgojno-obrazovne podrške </a:t>
            </a:r>
            <a:r>
              <a:rPr lang="bs-Latn-BA" dirty="0" smtClean="0">
                <a:latin typeface="Calibri" pitchFamily="34" charset="0"/>
                <a:cs typeface="Calibri" pitchFamily="34" charset="0"/>
              </a:rPr>
              <a:t>i</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stručnog </a:t>
            </a:r>
            <a:r>
              <a:rPr lang="bs-Latn-BA" dirty="0">
                <a:latin typeface="Calibri" pitchFamily="34" charset="0"/>
                <a:cs typeface="Calibri" pitchFamily="34" charset="0"/>
              </a:rPr>
              <a:t>tretmana (Službene novine KS</a:t>
            </a:r>
            <a:r>
              <a:rPr lang="en-GB" dirty="0">
                <a:latin typeface="Calibri" pitchFamily="34" charset="0"/>
                <a:cs typeface="Calibri" pitchFamily="34" charset="0"/>
              </a:rPr>
              <a:t> </a:t>
            </a:r>
            <a:r>
              <a:rPr lang="bs-Latn-BA" dirty="0">
                <a:latin typeface="Calibri" pitchFamily="34" charset="0"/>
                <a:cs typeface="Calibri" pitchFamily="34" charset="0"/>
              </a:rPr>
              <a:t>broj 29/19 i 38/22).</a:t>
            </a:r>
            <a:r>
              <a:rPr lang="en-GB" dirty="0">
                <a:latin typeface="Calibri" pitchFamily="34" charset="0"/>
                <a:cs typeface="Calibri" pitchFamily="34" charset="0"/>
              </a:rPr>
              <a:t> </a:t>
            </a:r>
            <a:r>
              <a:rPr lang="bs-Latn-BA" dirty="0">
                <a:latin typeface="Calibri" pitchFamily="34" charset="0"/>
                <a:cs typeface="Calibri" pitchFamily="34" charset="0"/>
              </a:rPr>
              <a:t>Jedinstven je za sve osnovne škole u </a:t>
            </a:r>
            <a:r>
              <a:rPr lang="bs-Latn-BA" dirty="0" smtClean="0">
                <a:latin typeface="Calibri" pitchFamily="34" charset="0"/>
                <a:cs typeface="Calibri" pitchFamily="34" charset="0"/>
              </a:rPr>
              <a:t>KS</a:t>
            </a:r>
            <a:r>
              <a:rPr lang="bs-Latn-BA" dirty="0">
                <a:latin typeface="Calibri" pitchFamily="34" charset="0"/>
                <a:cs typeface="Calibri" pitchFamily="34" charset="0"/>
              </a:rPr>
              <a:t> </a:t>
            </a:r>
            <a:r>
              <a:rPr lang="bs-Latn-BA" dirty="0" smtClean="0">
                <a:latin typeface="Calibri" pitchFamily="34" charset="0"/>
                <a:cs typeface="Calibri" pitchFamily="34" charset="0"/>
              </a:rPr>
              <a:t>i formiran je </a:t>
            </a:r>
          </a:p>
          <a:p>
            <a:pPr marL="342900" indent="-342900" algn="just"/>
            <a:r>
              <a:rPr lang="bs-Latn-BA" dirty="0" smtClean="0">
                <a:latin typeface="Calibri" pitchFamily="34" charset="0"/>
                <a:cs typeface="Calibri" pitchFamily="34" charset="0"/>
              </a:rPr>
              <a:t>z</a:t>
            </a:r>
            <a:r>
              <a:rPr lang="bs-Latn-BA" dirty="0" smtClean="0">
                <a:latin typeface="Calibri" pitchFamily="34" charset="0"/>
                <a:cs typeface="Calibri" pitchFamily="34" charset="0"/>
              </a:rPr>
              <a:t>a školsku 2023/2024 godinu.</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Članovi </a:t>
            </a:r>
            <a:r>
              <a:rPr lang="bs-Latn-BA" dirty="0" smtClean="0">
                <a:latin typeface="Calibri" pitchFamily="34" charset="0"/>
                <a:cs typeface="Calibri" pitchFamily="34" charset="0"/>
              </a:rPr>
              <a:t>M</a:t>
            </a:r>
            <a:r>
              <a:rPr lang="en-GB" dirty="0" smtClean="0">
                <a:latin typeface="Calibri" pitchFamily="34" charset="0"/>
                <a:cs typeface="Calibri" pitchFamily="34" charset="0"/>
              </a:rPr>
              <a:t>obilnog tima za krizne intervencije</a:t>
            </a:r>
            <a:r>
              <a:rPr lang="bs-Latn-BA" dirty="0" smtClean="0">
                <a:latin typeface="Calibri" pitchFamily="34" charset="0"/>
                <a:cs typeface="Calibri" pitchFamily="34" charset="0"/>
              </a:rPr>
              <a:t> </a:t>
            </a:r>
            <a:r>
              <a:rPr lang="bs-Latn-BA" dirty="0">
                <a:latin typeface="Calibri" pitchFamily="34" charset="0"/>
                <a:cs typeface="Calibri" pitchFamily="34" charset="0"/>
              </a:rPr>
              <a:t>su stručna lica koja pružaju podršku ustanovama odgoja </a:t>
            </a:r>
            <a:r>
              <a:rPr lang="bs-Latn-BA" dirty="0" smtClean="0">
                <a:latin typeface="Calibri" pitchFamily="34" charset="0"/>
                <a:cs typeface="Calibri" pitchFamily="34" charset="0"/>
              </a:rPr>
              <a:t>i</a:t>
            </a:r>
            <a:endParaRPr lang="en-GB" dirty="0" smtClean="0">
              <a:latin typeface="Calibri" pitchFamily="34" charset="0"/>
              <a:cs typeface="Calibri" pitchFamily="34" charset="0"/>
            </a:endParaRPr>
          </a:p>
          <a:p>
            <a:pPr marL="342900" indent="-342900" algn="just"/>
            <a:r>
              <a:rPr lang="en-GB" dirty="0" smtClean="0">
                <a:latin typeface="Calibri" pitchFamily="34" charset="0"/>
                <a:cs typeface="Calibri" pitchFamily="34" charset="0"/>
              </a:rPr>
              <a:t>obrazovanja </a:t>
            </a:r>
            <a:r>
              <a:rPr lang="bs-Latn-BA" dirty="0" smtClean="0">
                <a:latin typeface="Calibri" pitchFamily="34" charset="0"/>
                <a:cs typeface="Calibri" pitchFamily="34" charset="0"/>
              </a:rPr>
              <a:t>u </a:t>
            </a:r>
            <a:r>
              <a:rPr lang="bs-Latn-BA" dirty="0">
                <a:latin typeface="Calibri" pitchFamily="34" charset="0"/>
                <a:cs typeface="Calibri" pitchFamily="34" charset="0"/>
              </a:rPr>
              <a:t>procesu suočavanja i postupanja u kriznim, izrazito uznemirujućim događajima u kojima je </a:t>
            </a:r>
            <a:r>
              <a:rPr lang="bs-Latn-BA" dirty="0" smtClean="0">
                <a:latin typeface="Calibri" pitchFamily="34" charset="0"/>
                <a:cs typeface="Calibri" pitchFamily="34" charset="0"/>
              </a:rPr>
              <a:t>ugrožen</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jedan</a:t>
            </a:r>
            <a:r>
              <a:rPr lang="bs-Latn-BA" dirty="0">
                <a:latin typeface="Calibri" pitchFamily="34" charset="0"/>
                <a:cs typeface="Calibri" pitchFamily="34" charset="0"/>
              </a:rPr>
              <a:t>, više učenika ili cijela školska zajednica.</a:t>
            </a:r>
            <a:endParaRPr lang="en-GB" dirty="0">
              <a:latin typeface="Calibri" pitchFamily="34" charset="0"/>
              <a:cs typeface="Calibri" pitchFamily="34" charset="0"/>
            </a:endParaRPr>
          </a:p>
          <a:p>
            <a:pPr marL="342900" indent="-342900" algn="just"/>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Uloga članova </a:t>
            </a:r>
            <a:r>
              <a:rPr lang="bs-Latn-BA" dirty="0" smtClean="0">
                <a:latin typeface="Calibri" pitchFamily="34" charset="0"/>
                <a:cs typeface="Calibri" pitchFamily="34" charset="0"/>
              </a:rPr>
              <a:t>M</a:t>
            </a:r>
            <a:r>
              <a:rPr lang="en-GB" dirty="0" smtClean="0">
                <a:latin typeface="Calibri" pitchFamily="34" charset="0"/>
                <a:cs typeface="Calibri" pitchFamily="34" charset="0"/>
              </a:rPr>
              <a:t>obilnog tima za krizne intervencije</a:t>
            </a:r>
            <a:r>
              <a:rPr lang="bs-Latn-BA" dirty="0" smtClean="0">
                <a:latin typeface="Calibri" pitchFamily="34" charset="0"/>
                <a:cs typeface="Calibri" pitchFamily="34" charset="0"/>
              </a:rPr>
              <a:t> </a:t>
            </a:r>
            <a:r>
              <a:rPr lang="bs-Latn-BA" dirty="0">
                <a:latin typeface="Calibri" pitchFamily="34" charset="0"/>
                <a:cs typeface="Calibri" pitchFamily="34" charset="0"/>
              </a:rPr>
              <a:t>je konsultativna i isti će doprinjeti smanjenju </a:t>
            </a:r>
            <a:r>
              <a:rPr lang="bs-Latn-BA" dirty="0" smtClean="0">
                <a:latin typeface="Calibri" pitchFamily="34" charset="0"/>
                <a:cs typeface="Calibri" pitchFamily="34" charset="0"/>
              </a:rPr>
              <a:t>posljedica</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kriznog </a:t>
            </a:r>
            <a:r>
              <a:rPr lang="bs-Latn-BA" dirty="0">
                <a:latin typeface="Calibri" pitchFamily="34" charset="0"/>
                <a:cs typeface="Calibri" pitchFamily="34" charset="0"/>
              </a:rPr>
              <a:t>događaja na najmanju mjeru</a:t>
            </a:r>
            <a:r>
              <a:rPr lang="bs-Latn-BA" dirty="0" smtClean="0">
                <a:latin typeface="Calibri" pitchFamily="34" charset="0"/>
                <a:cs typeface="Calibri" pitchFamily="34" charset="0"/>
              </a:rPr>
              <a:t>.</a:t>
            </a:r>
            <a:endParaRPr lang="bs-Latn-BA" dirty="0">
              <a:latin typeface="Calibri" pitchFamily="34" charset="0"/>
              <a:cs typeface="Calibri" pitchFamily="34" charset="0"/>
            </a:endParaRPr>
          </a:p>
          <a:p>
            <a:pPr marL="342900" indent="-342900" algn="just"/>
            <a:r>
              <a:rPr lang="bs-Latn-BA" dirty="0">
                <a:latin typeface="Calibri" pitchFamily="34" charset="0"/>
                <a:cs typeface="Calibri" pitchFamily="34" charset="0"/>
              </a:rPr>
              <a:t>Savjetodavna i stručna podrška u radu sa upravom škole, nastavničkim vijećem, vijećem roditelja u izrazito </a:t>
            </a:r>
            <a:r>
              <a:rPr lang="bs-Latn-BA" dirty="0" smtClean="0">
                <a:latin typeface="Calibri" pitchFamily="34" charset="0"/>
                <a:cs typeface="Calibri" pitchFamily="34" charset="0"/>
              </a:rPr>
              <a:t>kriznim</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situacijama </a:t>
            </a:r>
            <a:r>
              <a:rPr lang="bs-Latn-BA" dirty="0" smtClean="0">
                <a:latin typeface="Calibri" pitchFamily="34" charset="0"/>
                <a:cs typeface="Calibri" pitchFamily="34" charset="0"/>
              </a:rPr>
              <a:t>i to, isključivo i samo kada </a:t>
            </a:r>
            <a:r>
              <a:rPr lang="bs-Latn-BA" dirty="0">
                <a:latin typeface="Calibri" pitchFamily="34" charset="0"/>
                <a:cs typeface="Calibri" pitchFamily="34" charset="0"/>
              </a:rPr>
              <a:t>školska zajednica nije u mogućnosti uz pomoć dostupnih resursa i mehanizama </a:t>
            </a:r>
            <a:r>
              <a:rPr lang="bs-Latn-BA" dirty="0" smtClean="0">
                <a:latin typeface="Calibri" pitchFamily="34" charset="0"/>
                <a:cs typeface="Calibri" pitchFamily="34" charset="0"/>
              </a:rPr>
              <a:t>riješiti</a:t>
            </a:r>
            <a:r>
              <a:rPr lang="bs-Latn-BA" dirty="0" smtClean="0">
                <a:latin typeface="Calibri" pitchFamily="34" charset="0"/>
                <a:cs typeface="Calibri" pitchFamily="34" charset="0"/>
              </a:rPr>
              <a:t>  </a:t>
            </a:r>
            <a:r>
              <a:rPr lang="bs-Latn-BA" dirty="0" smtClean="0">
                <a:latin typeface="Calibri" pitchFamily="34" charset="0"/>
                <a:cs typeface="Calibri" pitchFamily="34" charset="0"/>
              </a:rPr>
              <a:t>krizni </a:t>
            </a:r>
            <a:r>
              <a:rPr lang="bs-Latn-BA" dirty="0">
                <a:latin typeface="Calibri" pitchFamily="34" charset="0"/>
                <a:cs typeface="Calibri" pitchFamily="34" charset="0"/>
              </a:rPr>
              <a:t>događaj</a:t>
            </a:r>
            <a:r>
              <a:rPr lang="bs-Latn-BA" dirty="0" smtClean="0">
                <a:latin typeface="Calibri" pitchFamily="34" charset="0"/>
                <a:cs typeface="Calibri" pitchFamily="34" charset="0"/>
              </a:rPr>
              <a:t>.</a:t>
            </a:r>
            <a:endParaRPr lang="en-GB" dirty="0" smtClean="0">
              <a:latin typeface="Calibri" pitchFamily="34" charset="0"/>
              <a:cs typeface="Calibri" pitchFamily="34" charset="0"/>
            </a:endParaRPr>
          </a:p>
          <a:p>
            <a:pPr marL="342900" indent="-342900" algn="just"/>
            <a:endParaRPr lang="en-GB" dirty="0">
              <a:latin typeface="Calibri" pitchFamily="34" charset="0"/>
              <a:cs typeface="Calibri" pitchFamily="34" charset="0"/>
            </a:endParaRPr>
          </a:p>
          <a:p>
            <a:pPr marL="342900" indent="-342900" algn="just"/>
            <a:r>
              <a:rPr lang="bs-Latn-BA" dirty="0">
                <a:latin typeface="Calibri" pitchFamily="34" charset="0"/>
                <a:cs typeface="Calibri" pitchFamily="34" charset="0"/>
              </a:rPr>
              <a:t>Članovi </a:t>
            </a:r>
            <a:r>
              <a:rPr lang="bs-Latn-BA" dirty="0" smtClean="0">
                <a:latin typeface="Calibri" pitchFamily="34" charset="0"/>
                <a:cs typeface="Calibri" pitchFamily="34" charset="0"/>
              </a:rPr>
              <a:t>M</a:t>
            </a:r>
            <a:r>
              <a:rPr lang="en-GB" dirty="0" smtClean="0">
                <a:latin typeface="Calibri" pitchFamily="34" charset="0"/>
                <a:cs typeface="Calibri" pitchFamily="34" charset="0"/>
              </a:rPr>
              <a:t>obilnog tima za krizne intervencije</a:t>
            </a:r>
            <a:r>
              <a:rPr lang="bs-Latn-BA" dirty="0" smtClean="0">
                <a:latin typeface="Calibri" pitchFamily="34" charset="0"/>
                <a:cs typeface="Calibri" pitchFamily="34" charset="0"/>
              </a:rPr>
              <a:t> </a:t>
            </a:r>
            <a:r>
              <a:rPr lang="bs-Latn-BA" dirty="0">
                <a:latin typeface="Calibri" pitchFamily="34" charset="0"/>
                <a:cs typeface="Calibri" pitchFamily="34" charset="0"/>
              </a:rPr>
              <a:t>povezuju referalne mehanizme iz zajednice sa školskom </a:t>
            </a:r>
            <a:r>
              <a:rPr lang="bs-Latn-BA" dirty="0" smtClean="0">
                <a:latin typeface="Calibri" pitchFamily="34" charset="0"/>
                <a:cs typeface="Calibri" pitchFamily="34" charset="0"/>
              </a:rPr>
              <a:t>zajednicom</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u </a:t>
            </a:r>
            <a:r>
              <a:rPr lang="bs-Latn-BA" dirty="0">
                <a:latin typeface="Calibri" pitchFamily="34" charset="0"/>
                <a:cs typeface="Calibri" pitchFamily="34" charset="0"/>
              </a:rPr>
              <a:t>vremenu krizne intervencije  kako bi se što prije reagovalo i kako bi se pokrenule aktivnosti  u cilju </a:t>
            </a:r>
            <a:r>
              <a:rPr lang="bs-Latn-BA" dirty="0" smtClean="0">
                <a:latin typeface="Calibri" pitchFamily="34" charset="0"/>
                <a:cs typeface="Calibri" pitchFamily="34" charset="0"/>
              </a:rPr>
              <a:t>zaštite</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učenika,a </a:t>
            </a:r>
            <a:r>
              <a:rPr lang="bs-Latn-BA" dirty="0">
                <a:latin typeface="Calibri" pitchFamily="34" charset="0"/>
                <a:cs typeface="Calibri" pitchFamily="34" charset="0"/>
              </a:rPr>
              <a:t>što prije nakon kriznog događaja.</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77766" y="1639614"/>
            <a:ext cx="10657489" cy="3693319"/>
          </a:xfrm>
          <a:prstGeom prst="rect">
            <a:avLst/>
          </a:prstGeom>
        </p:spPr>
        <p:txBody>
          <a:bodyPr wrap="square">
            <a:spAutoFit/>
          </a:bodyPr>
          <a:lstStyle/>
          <a:p>
            <a:pPr marL="342900" indent="-342900" algn="just"/>
            <a:r>
              <a:rPr lang="bs-Latn-BA" dirty="0" smtClean="0">
                <a:latin typeface="Calibri" pitchFamily="34" charset="0"/>
                <a:cs typeface="Calibri" pitchFamily="34" charset="0"/>
              </a:rPr>
              <a:t>M</a:t>
            </a:r>
            <a:r>
              <a:rPr lang="en-GB" dirty="0" smtClean="0">
                <a:latin typeface="Calibri" pitchFamily="34" charset="0"/>
                <a:cs typeface="Calibri" pitchFamily="34" charset="0"/>
              </a:rPr>
              <a:t>obilni tim za krizne intervencije</a:t>
            </a:r>
            <a:r>
              <a:rPr lang="bs-Latn-BA" dirty="0" smtClean="0">
                <a:latin typeface="Calibri" pitchFamily="34" charset="0"/>
                <a:cs typeface="Calibri" pitchFamily="34" charset="0"/>
              </a:rPr>
              <a:t> čine stručna lica iz oblasti koja se odnose na sigurnost i zaštitu učenika:</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1.</a:t>
            </a:r>
            <a:r>
              <a:rPr lang="en-GB" dirty="0" smtClean="0">
                <a:latin typeface="Calibri" pitchFamily="34" charset="0"/>
                <a:cs typeface="Calibri" pitchFamily="34" charset="0"/>
              </a:rPr>
              <a:t> </a:t>
            </a:r>
            <a:r>
              <a:rPr lang="bs-Latn-BA" dirty="0" smtClean="0">
                <a:latin typeface="Calibri" pitchFamily="34" charset="0"/>
                <a:cs typeface="Calibri" pitchFamily="34" charset="0"/>
              </a:rPr>
              <a:t>Prim.dr.</a:t>
            </a:r>
            <a:r>
              <a:rPr lang="en-GB" dirty="0" smtClean="0">
                <a:latin typeface="Calibri" pitchFamily="34" charset="0"/>
                <a:cs typeface="Calibri" pitchFamily="34" charset="0"/>
              </a:rPr>
              <a:t> </a:t>
            </a:r>
            <a:r>
              <a:rPr lang="bs-Latn-BA" dirty="0" smtClean="0">
                <a:latin typeface="Calibri" pitchFamily="34" charset="0"/>
                <a:cs typeface="Calibri" pitchFamily="34" charset="0"/>
              </a:rPr>
              <a:t>Goran Čerkez, doktor medicine</a:t>
            </a:r>
          </a:p>
          <a:p>
            <a:pPr marL="342900" indent="-342900" algn="just"/>
            <a:r>
              <a:rPr lang="bs-Latn-BA" dirty="0" smtClean="0">
                <a:latin typeface="Calibri" pitchFamily="34" charset="0"/>
                <a:cs typeface="Calibri" pitchFamily="34" charset="0"/>
              </a:rPr>
              <a:t>2.</a:t>
            </a:r>
            <a:r>
              <a:rPr lang="en-GB" dirty="0" smtClean="0">
                <a:latin typeface="Calibri" pitchFamily="34" charset="0"/>
                <a:cs typeface="Calibri" pitchFamily="34" charset="0"/>
              </a:rPr>
              <a:t> </a:t>
            </a:r>
            <a:r>
              <a:rPr lang="bs-Latn-BA" dirty="0" smtClean="0">
                <a:latin typeface="Calibri" pitchFamily="34" charset="0"/>
                <a:cs typeface="Calibri" pitchFamily="34" charset="0"/>
              </a:rPr>
              <a:t>Ajla Tahirović, pedagog </a:t>
            </a:r>
            <a:r>
              <a:rPr lang="en-GB" dirty="0" smtClean="0">
                <a:latin typeface="Calibri" pitchFamily="34" charset="0"/>
                <a:cs typeface="Calibri" pitchFamily="34" charset="0"/>
              </a:rPr>
              <a:t> </a:t>
            </a:r>
            <a:r>
              <a:rPr lang="bs-Latn-BA" dirty="0" smtClean="0">
                <a:latin typeface="Calibri" pitchFamily="34" charset="0"/>
                <a:cs typeface="Calibri" pitchFamily="34" charset="0"/>
              </a:rPr>
              <a:t>Službe socijalne zaštite</a:t>
            </a:r>
          </a:p>
          <a:p>
            <a:pPr marL="342900" indent="-342900" algn="just"/>
            <a:r>
              <a:rPr lang="bs-Latn-BA" dirty="0" smtClean="0">
                <a:latin typeface="Calibri" pitchFamily="34" charset="0"/>
                <a:cs typeface="Calibri" pitchFamily="34" charset="0"/>
              </a:rPr>
              <a:t>3.</a:t>
            </a:r>
            <a:r>
              <a:rPr lang="en-GB" dirty="0" smtClean="0">
                <a:latin typeface="Calibri" pitchFamily="34" charset="0"/>
                <a:cs typeface="Calibri" pitchFamily="34" charset="0"/>
              </a:rPr>
              <a:t> </a:t>
            </a:r>
            <a:r>
              <a:rPr lang="bs-Latn-BA" dirty="0" smtClean="0">
                <a:latin typeface="Calibri" pitchFamily="34" charset="0"/>
                <a:cs typeface="Calibri" pitchFamily="34" charset="0"/>
              </a:rPr>
              <a:t>Irma Džambo,</a:t>
            </a:r>
            <a:r>
              <a:rPr lang="en-GB" dirty="0" smtClean="0">
                <a:latin typeface="Calibri" pitchFamily="34" charset="0"/>
                <a:cs typeface="Calibri" pitchFamily="34" charset="0"/>
              </a:rPr>
              <a:t> </a:t>
            </a:r>
            <a:r>
              <a:rPr lang="bs-Latn-BA" dirty="0" smtClean="0">
                <a:latin typeface="Calibri" pitchFamily="34" charset="0"/>
                <a:cs typeface="Calibri" pitchFamily="34" charset="0"/>
              </a:rPr>
              <a:t>dipl.psiholog  Centar za mentalno zdravlje</a:t>
            </a:r>
          </a:p>
          <a:p>
            <a:pPr marL="342900" indent="-342900" algn="just"/>
            <a:r>
              <a:rPr lang="bs-Latn-BA" dirty="0" smtClean="0">
                <a:latin typeface="Calibri" pitchFamily="34" charset="0"/>
                <a:cs typeface="Calibri" pitchFamily="34" charset="0"/>
              </a:rPr>
              <a:t>4.</a:t>
            </a:r>
            <a:r>
              <a:rPr lang="en-GB" dirty="0" smtClean="0">
                <a:latin typeface="Calibri" pitchFamily="34" charset="0"/>
                <a:cs typeface="Calibri" pitchFamily="34" charset="0"/>
              </a:rPr>
              <a:t> </a:t>
            </a:r>
            <a:r>
              <a:rPr lang="bs-Latn-BA" dirty="0" smtClean="0">
                <a:latin typeface="Calibri" pitchFamily="34" charset="0"/>
                <a:cs typeface="Calibri" pitchFamily="34" charset="0"/>
              </a:rPr>
              <a:t>Amela Bostandžija-Podumljak, dipl.psiholog  Centar za mentalno zdravlje</a:t>
            </a:r>
          </a:p>
          <a:p>
            <a:pPr marL="342900" indent="-342900" algn="just"/>
            <a:r>
              <a:rPr lang="bs-Latn-BA" dirty="0" smtClean="0">
                <a:latin typeface="Calibri" pitchFamily="34" charset="0"/>
                <a:cs typeface="Calibri" pitchFamily="34" charset="0"/>
              </a:rPr>
              <a:t>5.</a:t>
            </a:r>
            <a:r>
              <a:rPr lang="en-GB" dirty="0" smtClean="0">
                <a:latin typeface="Calibri" pitchFamily="34" charset="0"/>
                <a:cs typeface="Calibri" pitchFamily="34" charset="0"/>
              </a:rPr>
              <a:t> </a:t>
            </a:r>
            <a:r>
              <a:rPr lang="bs-Latn-BA" dirty="0" smtClean="0">
                <a:latin typeface="Calibri" pitchFamily="34" charset="0"/>
                <a:cs typeface="Calibri" pitchFamily="34" charset="0"/>
              </a:rPr>
              <a:t>Gordana Vasić ,MA  kriminologije</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Vanjski saradnik, </a:t>
            </a:r>
            <a:r>
              <a:rPr lang="en-GB" dirty="0" smtClean="0">
                <a:latin typeface="Calibri" pitchFamily="34" charset="0"/>
                <a:cs typeface="Calibri" pitchFamily="34" charset="0"/>
              </a:rPr>
              <a:t> </a:t>
            </a:r>
            <a:r>
              <a:rPr lang="bs-Latn-BA" dirty="0" smtClean="0">
                <a:latin typeface="Calibri" pitchFamily="34" charset="0"/>
                <a:cs typeface="Calibri" pitchFamily="34" charset="0"/>
              </a:rPr>
              <a:t>Adis Dučić, stručnjak iz oblasti sigurnosti i zaštite u digitalnom (cyber) prostoru</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Koordinatorica aktivnosti u ime Ministarstva za odgoj i obrazovanje je savjetnica Melisa Mizdrak</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Koordinatorica rada u ime Instituta za razvoj preduniverzitetskog obrazovanja je saradnica Samela Alagić</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a:t>
            </a:r>
            <a:r>
              <a:rPr lang="en-US" b="1" dirty="0" smtClean="0">
                <a:solidFill>
                  <a:srgbClr val="0070C0"/>
                </a:solidFill>
              </a:rPr>
              <a:t>godine</a:t>
            </a:r>
            <a:endParaRPr lang="en-US" b="1" dirty="0">
              <a:solidFill>
                <a:srgbClr val="0070C0"/>
              </a:solidFill>
            </a:endParaRPr>
          </a:p>
        </p:txBody>
      </p:sp>
      <p:sp>
        <p:nvSpPr>
          <p:cNvPr id="3" name="Rectangle 2"/>
          <p:cNvSpPr/>
          <p:nvPr/>
        </p:nvSpPr>
        <p:spPr>
          <a:xfrm>
            <a:off x="822960" y="966952"/>
            <a:ext cx="10612295" cy="923330"/>
          </a:xfrm>
          <a:prstGeom prst="rect">
            <a:avLst/>
          </a:prstGeom>
        </p:spPr>
        <p:txBody>
          <a:bodyPr wrap="square">
            <a:spAutoFit/>
          </a:bodyPr>
          <a:lstStyle/>
          <a:p>
            <a:pPr marL="342900" indent="-342900"/>
            <a:endParaRPr lang="bs-Latn-BA" dirty="0">
              <a:latin typeface="Calibri" pitchFamily="34" charset="0"/>
              <a:cs typeface="Calibri" pitchFamily="34" charset="0"/>
            </a:endParaRPr>
          </a:p>
          <a:p>
            <a:pPr marL="342900" indent="-342900"/>
            <a:endParaRPr lang="bs-Latn-BA" dirty="0">
              <a:latin typeface="Calibri" pitchFamily="34" charset="0"/>
              <a:cs typeface="Calibri" pitchFamily="34" charset="0"/>
            </a:endParaRPr>
          </a:p>
          <a:p>
            <a:pPr marL="342900" indent="-342900"/>
            <a:endParaRPr lang="bs-Latn-BA" dirty="0">
              <a:latin typeface="Calibri" pitchFamily="34" charset="0"/>
              <a:cs typeface="Calibri" pitchFamily="34" charset="0"/>
            </a:endParaRPr>
          </a:p>
        </p:txBody>
      </p:sp>
      <p:sp>
        <p:nvSpPr>
          <p:cNvPr id="4" name="Rectangle 3"/>
          <p:cNvSpPr/>
          <p:nvPr/>
        </p:nvSpPr>
        <p:spPr>
          <a:xfrm>
            <a:off x="735724" y="872359"/>
            <a:ext cx="10720552" cy="5355312"/>
          </a:xfrm>
          <a:prstGeom prst="rect">
            <a:avLst/>
          </a:prstGeom>
        </p:spPr>
        <p:txBody>
          <a:bodyPr wrap="square">
            <a:spAutoFit/>
          </a:bodyPr>
          <a:lstStyle/>
          <a:p>
            <a:r>
              <a:rPr lang="en-GB" b="1" dirty="0" smtClean="0">
                <a:latin typeface="Calibri" pitchFamily="34" charset="0"/>
                <a:cs typeface="Calibri" pitchFamily="34" charset="0"/>
              </a:rPr>
              <a:t>4.  KAD I KAKO </a:t>
            </a:r>
            <a:r>
              <a:rPr lang="bs-Latn-BA" b="1" dirty="0" smtClean="0">
                <a:latin typeface="Calibri" pitchFamily="34" charset="0"/>
                <a:cs typeface="Calibri" pitchFamily="34" charset="0"/>
              </a:rPr>
              <a:t>IH TREBA POKRENUTI?</a:t>
            </a:r>
          </a:p>
          <a:p>
            <a:endParaRPr lang="bs-Latn-BA" b="1" dirty="0" smtClean="0">
              <a:latin typeface="Calibri" pitchFamily="34" charset="0"/>
              <a:cs typeface="Calibri" pitchFamily="34" charset="0"/>
            </a:endParaRPr>
          </a:p>
          <a:p>
            <a:r>
              <a:rPr lang="bs-Latn-BA" dirty="0" smtClean="0">
                <a:latin typeface="Calibri" pitchFamily="34" charset="0"/>
                <a:cs typeface="Calibri" pitchFamily="34" charset="0"/>
              </a:rPr>
              <a:t>Direktor škole i stručna služba škole utvrđuju potrebu za kriznom intervencijom, pripremaju i dostavljaju M</a:t>
            </a:r>
            <a:r>
              <a:rPr lang="en-GB" dirty="0" smtClean="0">
                <a:latin typeface="Calibri" pitchFamily="34" charset="0"/>
                <a:cs typeface="Calibri" pitchFamily="34" charset="0"/>
              </a:rPr>
              <a:t>obilnom timu za krizne intervencije</a:t>
            </a:r>
            <a:r>
              <a:rPr lang="bs-Latn-BA" dirty="0" smtClean="0">
                <a:latin typeface="Calibri" pitchFamily="34" charset="0"/>
                <a:cs typeface="Calibri" pitchFamily="34" charset="0"/>
              </a:rPr>
              <a:t> sl</a:t>
            </a:r>
            <a:r>
              <a:rPr lang="en-GB" dirty="0" smtClean="0">
                <a:latin typeface="Calibri" pitchFamily="34" charset="0"/>
                <a:cs typeface="Calibri" pitchFamily="34" charset="0"/>
              </a:rPr>
              <a:t>je</a:t>
            </a:r>
            <a:r>
              <a:rPr lang="bs-Latn-BA" dirty="0" smtClean="0">
                <a:latin typeface="Calibri" pitchFamily="34" charset="0"/>
                <a:cs typeface="Calibri" pitchFamily="34" charset="0"/>
              </a:rPr>
              <a:t>deće informacije :</a:t>
            </a:r>
            <a:endParaRPr lang="en-GB" dirty="0" smtClean="0">
              <a:latin typeface="Calibri" pitchFamily="34" charset="0"/>
              <a:cs typeface="Calibri" pitchFamily="34" charset="0"/>
            </a:endParaRPr>
          </a:p>
          <a:p>
            <a:endParaRPr lang="bs-Latn-BA" dirty="0" smtClean="0">
              <a:latin typeface="Calibri" pitchFamily="34" charset="0"/>
              <a:cs typeface="Calibri" pitchFamily="34" charset="0"/>
            </a:endParaRPr>
          </a:p>
          <a:p>
            <a:pPr marL="342900" indent="-342900">
              <a:buFont typeface="Arial" pitchFamily="34" charset="0"/>
              <a:buChar char="•"/>
            </a:pPr>
            <a:r>
              <a:rPr lang="en-GB" dirty="0" smtClean="0">
                <a:latin typeface="Calibri" pitchFamily="34" charset="0"/>
                <a:cs typeface="Calibri" pitchFamily="34" charset="0"/>
              </a:rPr>
              <a:t>š</a:t>
            </a:r>
            <a:r>
              <a:rPr lang="bs-Latn-BA" dirty="0" smtClean="0">
                <a:latin typeface="Calibri" pitchFamily="34" charset="0"/>
                <a:cs typeface="Calibri" pitchFamily="34" charset="0"/>
              </a:rPr>
              <a:t>ta se dogodilo,</a:t>
            </a:r>
          </a:p>
          <a:p>
            <a:pPr marL="342900" indent="-342900">
              <a:buFont typeface="Arial" pitchFamily="34" charset="0"/>
              <a:buChar char="•"/>
            </a:pPr>
            <a:r>
              <a:rPr lang="en-GB" dirty="0" smtClean="0">
                <a:latin typeface="Calibri" pitchFamily="34" charset="0"/>
                <a:cs typeface="Calibri" pitchFamily="34" charset="0"/>
              </a:rPr>
              <a:t>k</a:t>
            </a:r>
            <a:r>
              <a:rPr lang="bs-Latn-BA" dirty="0" smtClean="0">
                <a:latin typeface="Calibri" pitchFamily="34" charset="0"/>
                <a:cs typeface="Calibri" pitchFamily="34" charset="0"/>
              </a:rPr>
              <a:t>ada, kako, zašto,  gdje</a:t>
            </a:r>
          </a:p>
          <a:p>
            <a:pPr marL="342900" indent="-342900">
              <a:buFont typeface="Arial" pitchFamily="34" charset="0"/>
              <a:buChar char="•"/>
            </a:pPr>
            <a:r>
              <a:rPr lang="en-GB" dirty="0" smtClean="0">
                <a:latin typeface="Calibri" pitchFamily="34" charset="0"/>
                <a:cs typeface="Calibri" pitchFamily="34" charset="0"/>
              </a:rPr>
              <a:t>k</a:t>
            </a:r>
            <a:r>
              <a:rPr lang="bs-Latn-BA" dirty="0" smtClean="0">
                <a:latin typeface="Calibri" pitchFamily="34" charset="0"/>
                <a:cs typeface="Calibri" pitchFamily="34" charset="0"/>
              </a:rPr>
              <a:t>o je učestvovao u događaju (broj ljudi uključenih u događaj), (ko je bio direktno i indirektno uključen u događaj)</a:t>
            </a:r>
          </a:p>
          <a:p>
            <a:pPr marL="342900" indent="-342900">
              <a:buFont typeface="Arial" pitchFamily="34" charset="0"/>
              <a:buChar char="•"/>
            </a:pPr>
            <a:r>
              <a:rPr lang="en-GB" dirty="0" smtClean="0">
                <a:latin typeface="Calibri" pitchFamily="34" charset="0"/>
                <a:cs typeface="Calibri" pitchFamily="34" charset="0"/>
              </a:rPr>
              <a:t>u</a:t>
            </a:r>
            <a:r>
              <a:rPr lang="bs-Latn-BA" dirty="0" smtClean="0">
                <a:latin typeface="Calibri" pitchFamily="34" charset="0"/>
                <a:cs typeface="Calibri" pitchFamily="34" charset="0"/>
              </a:rPr>
              <a:t> kakvom su stanju, gdje se nalaze učenici/uposlenici, kako reaguju</a:t>
            </a:r>
          </a:p>
          <a:p>
            <a:pPr marL="342900" indent="-342900">
              <a:buFont typeface="Arial" pitchFamily="34" charset="0"/>
              <a:buChar char="•"/>
            </a:pPr>
            <a:r>
              <a:rPr lang="en-GB" dirty="0" smtClean="0">
                <a:latin typeface="Calibri" pitchFamily="34" charset="0"/>
                <a:cs typeface="Calibri" pitchFamily="34" charset="0"/>
              </a:rPr>
              <a:t>d</a:t>
            </a:r>
            <a:r>
              <a:rPr lang="bs-Latn-BA" dirty="0" smtClean="0">
                <a:latin typeface="Calibri" pitchFamily="34" charset="0"/>
                <a:cs typeface="Calibri" pitchFamily="34" charset="0"/>
              </a:rPr>
              <a:t>a li je neka od hitnih službi već intervenisala (policija</a:t>
            </a:r>
            <a:r>
              <a:rPr lang="en-GB" dirty="0" smtClean="0">
                <a:latin typeface="Calibri" pitchFamily="34" charset="0"/>
                <a:cs typeface="Calibri" pitchFamily="34" charset="0"/>
              </a:rPr>
              <a:t>,</a:t>
            </a:r>
            <a:r>
              <a:rPr lang="bs-Latn-BA" dirty="0" smtClean="0">
                <a:latin typeface="Calibri" pitchFamily="34" charset="0"/>
                <a:cs typeface="Calibri" pitchFamily="34" charset="0"/>
              </a:rPr>
              <a:t> HMP, vatrogasci)</a:t>
            </a:r>
          </a:p>
          <a:p>
            <a:pPr marL="342900" indent="-342900">
              <a:buFont typeface="Arial" pitchFamily="34" charset="0"/>
              <a:buChar char="•"/>
            </a:pPr>
            <a:r>
              <a:rPr lang="en-GB" dirty="0" smtClean="0">
                <a:latin typeface="Calibri" pitchFamily="34" charset="0"/>
                <a:cs typeface="Calibri" pitchFamily="34" charset="0"/>
              </a:rPr>
              <a:t>š</a:t>
            </a:r>
            <a:r>
              <a:rPr lang="bs-Latn-BA" dirty="0" smtClean="0">
                <a:latin typeface="Calibri" pitchFamily="34" charset="0"/>
                <a:cs typeface="Calibri" pitchFamily="34" charset="0"/>
              </a:rPr>
              <a:t>ta je škola poduzela (da li je već nešto učinjeno radi ublažavanja psiholoških posljedica događaja )</a:t>
            </a:r>
          </a:p>
          <a:p>
            <a:pPr marL="342900" indent="-342900">
              <a:buFont typeface="Arial" pitchFamily="34" charset="0"/>
              <a:buChar char="•"/>
            </a:pPr>
            <a:r>
              <a:rPr lang="en-GB" dirty="0" smtClean="0">
                <a:latin typeface="Calibri" pitchFamily="34" charset="0"/>
                <a:cs typeface="Calibri" pitchFamily="34" charset="0"/>
              </a:rPr>
              <a:t>d</a:t>
            </a:r>
            <a:r>
              <a:rPr lang="bs-Latn-BA" dirty="0" smtClean="0">
                <a:latin typeface="Calibri" pitchFamily="34" charset="0"/>
                <a:cs typeface="Calibri" pitchFamily="34" charset="0"/>
              </a:rPr>
              <a:t>a li su informisani roditelji/staratelji učenika,</a:t>
            </a:r>
          </a:p>
          <a:p>
            <a:pPr marL="342900" indent="-342900">
              <a:buFont typeface="Arial" pitchFamily="34" charset="0"/>
              <a:buChar char="•"/>
            </a:pPr>
            <a:r>
              <a:rPr lang="en-GB" dirty="0" smtClean="0">
                <a:latin typeface="Calibri" pitchFamily="34" charset="0"/>
                <a:cs typeface="Calibri" pitchFamily="34" charset="0"/>
              </a:rPr>
              <a:t>d</a:t>
            </a:r>
            <a:r>
              <a:rPr lang="bs-Latn-BA" dirty="0" smtClean="0">
                <a:latin typeface="Calibri" pitchFamily="34" charset="0"/>
                <a:cs typeface="Calibri" pitchFamily="34" charset="0"/>
              </a:rPr>
              <a:t>a li je narušen najbolji interes učenika.</a:t>
            </a:r>
          </a:p>
          <a:p>
            <a:pPr marL="342900" indent="-342900"/>
            <a:endParaRPr lang="bs-Latn-BA" dirty="0" smtClean="0">
              <a:latin typeface="Calibri" pitchFamily="34" charset="0"/>
              <a:cs typeface="Calibri" pitchFamily="34" charset="0"/>
            </a:endParaRPr>
          </a:p>
          <a:p>
            <a:pPr marL="342900" indent="-342900"/>
            <a:r>
              <a:rPr lang="bs-Latn-BA" b="1" dirty="0" smtClean="0">
                <a:latin typeface="Calibri" pitchFamily="34" charset="0"/>
                <a:cs typeface="Calibri" pitchFamily="34" charset="0"/>
              </a:rPr>
              <a:t>Poziv  upućuje  direktor škole na kontakt</a:t>
            </a:r>
            <a:r>
              <a:rPr lang="en-GB" b="1" dirty="0" smtClean="0">
                <a:latin typeface="Calibri" pitchFamily="34" charset="0"/>
                <a:cs typeface="Calibri" pitchFamily="34" charset="0"/>
              </a:rPr>
              <a:t>  </a:t>
            </a:r>
            <a:r>
              <a:rPr lang="bs-Latn-BA" b="1" dirty="0" smtClean="0">
                <a:latin typeface="Calibri" pitchFamily="34" charset="0"/>
                <a:cs typeface="Calibri" pitchFamily="34" charset="0"/>
              </a:rPr>
              <a:t>Email: krizneintervencije irpo.ba uz dostavu predviđenih podataka.</a:t>
            </a:r>
            <a:endParaRPr lang="en-GB" b="1"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Osnovno pravilo je pokrenuti krizne intervencije što brže nakon kriznog događaja  - 24, 48, 72 sata.  </a:t>
            </a:r>
          </a:p>
          <a:p>
            <a:pPr marL="342900" indent="-342900" algn="just"/>
            <a:r>
              <a:rPr lang="bs-Latn-BA" dirty="0" smtClean="0">
                <a:latin typeface="Calibri" pitchFamily="34" charset="0"/>
                <a:cs typeface="Calibri" pitchFamily="34" charset="0"/>
              </a:rPr>
              <a:t>Ne postoji precizan odgovor koji bi vrijedio za sve situacije. Ljudi su najčešće u stanju šoka u prva 24 sata</a:t>
            </a:r>
          </a:p>
          <a:p>
            <a:pPr marL="342900" indent="-342900" algn="just"/>
            <a:r>
              <a:rPr lang="bs-Latn-BA" dirty="0" smtClean="0">
                <a:latin typeface="Calibri" pitchFamily="34" charset="0"/>
                <a:cs typeface="Calibri" pitchFamily="34" charset="0"/>
              </a:rPr>
              <a:t>do 3 dana, a posttraumatske reakcije svoj vrhunac dosežu oko trećeg dana, pa opadaju kroz sljedeći tjedan.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12" name="TextBox 11">
            <a:extLst>
              <a:ext uri="{FF2B5EF4-FFF2-40B4-BE49-F238E27FC236}">
                <a16:creationId xmlns:a16="http://schemas.microsoft.com/office/drawing/2014/main" xmlns="" id="{71BAA039-D498-4539-B2EF-4240A75C0CE4}"/>
              </a:ext>
            </a:extLst>
          </p:cNvPr>
          <p:cNvSpPr txBox="1"/>
          <p:nvPr/>
        </p:nvSpPr>
        <p:spPr>
          <a:xfrm>
            <a:off x="746233" y="867337"/>
            <a:ext cx="10678511" cy="5355312"/>
          </a:xfrm>
          <a:prstGeom prst="rect">
            <a:avLst/>
          </a:prstGeom>
          <a:noFill/>
        </p:spPr>
        <p:txBody>
          <a:bodyPr wrap="square">
            <a:spAutoFit/>
          </a:bodyPr>
          <a:lstStyle/>
          <a:p>
            <a:pPr>
              <a:buFont typeface="Arial" pitchFamily="34" charset="0"/>
              <a:buChar char="•"/>
            </a:pPr>
            <a:r>
              <a:rPr lang="en-GB" dirty="0" smtClean="0">
                <a:latin typeface="Calibri" pitchFamily="34" charset="0"/>
                <a:cs typeface="Calibri" pitchFamily="34" charset="0"/>
              </a:rPr>
              <a:t> </a:t>
            </a:r>
            <a:r>
              <a:rPr lang="bs-Latn-BA" dirty="0" smtClean="0">
                <a:latin typeface="Calibri" pitchFamily="34" charset="0"/>
                <a:cs typeface="Calibri" pitchFamily="34" charset="0"/>
              </a:rPr>
              <a:t> </a:t>
            </a:r>
            <a:r>
              <a:rPr lang="bs-Latn-BA" dirty="0">
                <a:latin typeface="Calibri" pitchFamily="34" charset="0"/>
                <a:cs typeface="Calibri" pitchFamily="34" charset="0"/>
              </a:rPr>
              <a:t>ŠTA?</a:t>
            </a:r>
          </a:p>
          <a:p>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se dogodio – što više pojedinosti o kriznom događaju (i to što tačnijih)</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se </a:t>
            </a:r>
            <a:r>
              <a:rPr lang="en-GB" dirty="0" smtClean="0">
                <a:latin typeface="Calibri" pitchFamily="34" charset="0"/>
                <a:cs typeface="Calibri" pitchFamily="34" charset="0"/>
              </a:rPr>
              <a:t>dešavalo</a:t>
            </a:r>
            <a:r>
              <a:rPr lang="bs-Latn-BA" dirty="0" smtClean="0">
                <a:latin typeface="Calibri" pitchFamily="34" charset="0"/>
                <a:cs typeface="Calibri" pitchFamily="34" charset="0"/>
              </a:rPr>
              <a:t> </a:t>
            </a:r>
            <a:r>
              <a:rPr lang="bs-Latn-BA" dirty="0">
                <a:latin typeface="Calibri" pitchFamily="34" charset="0"/>
                <a:cs typeface="Calibri" pitchFamily="34" charset="0"/>
              </a:rPr>
              <a:t>u međuvremenu – od kriznog događaja (ili od saznavanja o njemu) do trenutka kad vodimo razgovor</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je sve do sada poduzeto – uključujući i to što od (ne)učinjenog najviše muči nadređene (to mogu biti </a:t>
            </a:r>
            <a:r>
              <a:rPr lang="bs-Latn-BA" dirty="0" smtClean="0">
                <a:latin typeface="Calibri" pitchFamily="34" charset="0"/>
                <a:cs typeface="Calibri" pitchFamily="34" charset="0"/>
              </a:rPr>
              <a:t>rukovoditelji ili neki </a:t>
            </a:r>
            <a:r>
              <a:rPr lang="bs-Latn-BA" dirty="0">
                <a:latin typeface="Calibri" pitchFamily="34" charset="0"/>
                <a:cs typeface="Calibri" pitchFamily="34" charset="0"/>
              </a:rPr>
              <a:t>drugi odrasli ako je događaj povezan s djecom/mladima itd.), ali i ostale članove zajednice</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se sve o kriznom događaju pojavilo u medijima, šta ugroženi pojedinci, skupine, zajednica misle o tome i jesu li nešto učinili kao reakciju na to (ako jesu, šta su učinili)</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treba ugroženima – pojedincima, skupinama, čitavoj zajednici itd.</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otežava/olakšava situaciju</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šta su snage i slabosti – pojedinaca, skupina, čitave zajednice, šireg okruženja itd.</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6" name="TextBox 5">
            <a:extLst>
              <a:ext uri="{FF2B5EF4-FFF2-40B4-BE49-F238E27FC236}">
                <a16:creationId xmlns:a16="http://schemas.microsoft.com/office/drawing/2014/main" xmlns="" id="{E8ACECC3-CE74-4924-A2F5-621AF8DD9769}"/>
              </a:ext>
            </a:extLst>
          </p:cNvPr>
          <p:cNvSpPr txBox="1"/>
          <p:nvPr/>
        </p:nvSpPr>
        <p:spPr>
          <a:xfrm>
            <a:off x="792332" y="1435508"/>
            <a:ext cx="10653434" cy="4524315"/>
          </a:xfrm>
          <a:prstGeom prst="rect">
            <a:avLst/>
          </a:prstGeom>
          <a:noFill/>
        </p:spPr>
        <p:txBody>
          <a:bodyPr wrap="square">
            <a:spAutoFit/>
          </a:bodyPr>
          <a:lstStyle/>
          <a:p>
            <a:pPr>
              <a:buFont typeface="Arial" pitchFamily="34" charset="0"/>
              <a:buChar char="•"/>
            </a:pPr>
            <a:r>
              <a:rPr lang="en-GB" dirty="0" smtClean="0">
                <a:latin typeface="Calibri" pitchFamily="34" charset="0"/>
                <a:cs typeface="Calibri" pitchFamily="34" charset="0"/>
              </a:rPr>
              <a:t> </a:t>
            </a:r>
            <a:r>
              <a:rPr lang="bs-Latn-BA" dirty="0" smtClean="0">
                <a:latin typeface="Calibri" pitchFamily="34" charset="0"/>
                <a:cs typeface="Calibri" pitchFamily="34" charset="0"/>
              </a:rPr>
              <a:t>KAD</a:t>
            </a:r>
            <a:r>
              <a:rPr lang="bs-Latn-BA" dirty="0">
                <a:latin typeface="Calibri" pitchFamily="34" charset="0"/>
                <a:cs typeface="Calibri" pitchFamily="34" charset="0"/>
              </a:rPr>
              <a:t>?</a:t>
            </a:r>
          </a:p>
          <a:p>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kad se događaj </a:t>
            </a:r>
            <a:r>
              <a:rPr lang="en-GB" dirty="0" smtClean="0">
                <a:latin typeface="Calibri" pitchFamily="34" charset="0"/>
                <a:cs typeface="Calibri" pitchFamily="34" charset="0"/>
              </a:rPr>
              <a:t>desio</a:t>
            </a:r>
            <a:r>
              <a:rPr lang="bs-Latn-BA" dirty="0" smtClean="0">
                <a:latin typeface="Calibri" pitchFamily="34" charset="0"/>
                <a:cs typeface="Calibri" pitchFamily="34" charset="0"/>
              </a:rPr>
              <a:t>, </a:t>
            </a:r>
            <a:r>
              <a:rPr lang="bs-Latn-BA" dirty="0">
                <a:latin typeface="Calibri" pitchFamily="34" charset="0"/>
                <a:cs typeface="Calibri" pitchFamily="34" charset="0"/>
              </a:rPr>
              <a:t>odnosno koliko je vremena prošlo od događaja</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kad se saznalo za događaj (i kako)</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kad je komemoracija, </a:t>
            </a:r>
            <a:r>
              <a:rPr lang="en-GB" dirty="0" smtClean="0">
                <a:latin typeface="Calibri" pitchFamily="34" charset="0"/>
                <a:cs typeface="Calibri" pitchFamily="34" charset="0"/>
              </a:rPr>
              <a:t>sahrana</a:t>
            </a:r>
            <a:endParaRPr lang="bs-Latn-BA" dirty="0">
              <a:latin typeface="Calibri" pitchFamily="34" charset="0"/>
              <a:cs typeface="Calibri" pitchFamily="34" charset="0"/>
            </a:endParaRPr>
          </a:p>
          <a:p>
            <a:pPr marL="342900" indent="-342900">
              <a:buAutoNum type="alphaLcParenR"/>
            </a:pPr>
            <a:endParaRPr lang="bs-Latn-BA" dirty="0">
              <a:latin typeface="Calibri" pitchFamily="34" charset="0"/>
              <a:cs typeface="Calibri" pitchFamily="34" charset="0"/>
            </a:endParaRPr>
          </a:p>
          <a:p>
            <a:pPr marL="342900" indent="-342900">
              <a:buAutoNum type="alphaLcParenR"/>
            </a:pPr>
            <a:endParaRPr lang="bs-Latn-BA" dirty="0">
              <a:latin typeface="Calibri" pitchFamily="34" charset="0"/>
              <a:cs typeface="Calibri" pitchFamily="34" charset="0"/>
            </a:endParaRPr>
          </a:p>
          <a:p>
            <a:pPr>
              <a:buFont typeface="Arial" pitchFamily="34" charset="0"/>
              <a:buChar char="•"/>
            </a:pPr>
            <a:r>
              <a:rPr lang="en-GB" dirty="0" smtClean="0">
                <a:latin typeface="Calibri" pitchFamily="34" charset="0"/>
                <a:cs typeface="Calibri" pitchFamily="34" charset="0"/>
              </a:rPr>
              <a:t> </a:t>
            </a:r>
            <a:r>
              <a:rPr lang="bs-Latn-BA" dirty="0" smtClean="0">
                <a:latin typeface="Calibri" pitchFamily="34" charset="0"/>
                <a:cs typeface="Calibri" pitchFamily="34" charset="0"/>
              </a:rPr>
              <a:t>GDJE</a:t>
            </a:r>
            <a:r>
              <a:rPr lang="bs-Latn-BA" dirty="0">
                <a:latin typeface="Calibri" pitchFamily="34" charset="0"/>
                <a:cs typeface="Calibri" pitchFamily="34" charset="0"/>
              </a:rPr>
              <a:t>?</a:t>
            </a:r>
          </a:p>
          <a:p>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gdje se događaj </a:t>
            </a:r>
            <a:r>
              <a:rPr lang="en-GB" dirty="0" smtClean="0">
                <a:latin typeface="Calibri" pitchFamily="34" charset="0"/>
                <a:cs typeface="Calibri" pitchFamily="34" charset="0"/>
              </a:rPr>
              <a:t>desio</a:t>
            </a:r>
            <a:r>
              <a:rPr lang="bs-Latn-BA" dirty="0" smtClean="0">
                <a:latin typeface="Calibri" pitchFamily="34" charset="0"/>
                <a:cs typeface="Calibri" pitchFamily="34" charset="0"/>
              </a:rPr>
              <a:t> </a:t>
            </a:r>
            <a:r>
              <a:rPr lang="bs-Latn-BA" dirty="0">
                <a:latin typeface="Calibri" pitchFamily="34" charset="0"/>
                <a:cs typeface="Calibri" pitchFamily="34" charset="0"/>
              </a:rPr>
              <a:t>i ima li to mjesto neko posebno značenje za ugrožene</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gdje su unesrećeni i u kakvom su stanju</a:t>
            </a:r>
          </a:p>
          <a:p>
            <a:pPr marL="342900" indent="-342900">
              <a:buAutoNum type="alphaLcParenR"/>
            </a:pPr>
            <a:endParaRPr lang="bs-Latn-BA" dirty="0">
              <a:latin typeface="Calibri" pitchFamily="34" charset="0"/>
              <a:cs typeface="Calibri" pitchFamily="34" charset="0"/>
            </a:endParaRPr>
          </a:p>
          <a:p>
            <a:pPr marL="342900" indent="-342900">
              <a:buAutoNum type="alphaLcParenR"/>
            </a:pPr>
            <a:r>
              <a:rPr lang="bs-Latn-BA" dirty="0">
                <a:latin typeface="Calibri" pitchFamily="34" charset="0"/>
                <a:cs typeface="Calibri" pitchFamily="34" charset="0"/>
              </a:rPr>
              <a:t>gdje će biti </a:t>
            </a:r>
            <a:r>
              <a:rPr lang="en-GB" dirty="0" smtClean="0">
                <a:latin typeface="Calibri" pitchFamily="34" charset="0"/>
                <a:cs typeface="Calibri" pitchFamily="34" charset="0"/>
              </a:rPr>
              <a:t>sahrana</a:t>
            </a:r>
            <a:r>
              <a:rPr lang="bs-Latn-BA" dirty="0" smtClean="0">
                <a:latin typeface="Calibri" pitchFamily="34" charset="0"/>
                <a:cs typeface="Calibri" pitchFamily="34" charset="0"/>
              </a:rPr>
              <a:t> </a:t>
            </a:r>
            <a:r>
              <a:rPr lang="bs-Latn-BA" dirty="0">
                <a:latin typeface="Calibri" pitchFamily="34" charset="0"/>
                <a:cs typeface="Calibri" pitchFamily="34" charset="0"/>
              </a:rPr>
              <a:t>(i hoće li i kako pogođena zajednica organizirati odlazak na </a:t>
            </a:r>
            <a:r>
              <a:rPr lang="bs-Latn-BA" dirty="0" smtClean="0">
                <a:latin typeface="Calibri" pitchFamily="34" charset="0"/>
                <a:cs typeface="Calibri" pitchFamily="34" charset="0"/>
              </a:rPr>
              <a:t>nju)</a:t>
            </a:r>
            <a:endParaRPr lang="bs-Latn-BA"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62AAA477-D5F5-42FC-AA6B-4AF409A34783}"/>
              </a:ext>
            </a:extLst>
          </p:cNvPr>
          <p:cNvSpPr txBox="1"/>
          <p:nvPr/>
        </p:nvSpPr>
        <p:spPr>
          <a:xfrm>
            <a:off x="756745" y="1435508"/>
            <a:ext cx="10636469" cy="4247317"/>
          </a:xfrm>
          <a:prstGeom prst="rect">
            <a:avLst/>
          </a:prstGeom>
          <a:noFill/>
        </p:spPr>
        <p:txBody>
          <a:bodyPr wrap="square">
            <a:spAutoFit/>
          </a:bodyPr>
          <a:lstStyle/>
          <a:p>
            <a:pPr>
              <a:buFont typeface="Arial" pitchFamily="34" charset="0"/>
              <a:buChar char="•"/>
            </a:pPr>
            <a:r>
              <a:rPr lang="en-GB" dirty="0" smtClean="0">
                <a:latin typeface="Calibri" pitchFamily="34" charset="0"/>
                <a:cs typeface="Calibri" pitchFamily="34" charset="0"/>
              </a:rPr>
              <a:t> </a:t>
            </a:r>
            <a:r>
              <a:rPr lang="bs-Latn-BA" dirty="0" smtClean="0">
                <a:latin typeface="Calibri" pitchFamily="34" charset="0"/>
                <a:cs typeface="Calibri" pitchFamily="34" charset="0"/>
              </a:rPr>
              <a:t>KO </a:t>
            </a:r>
            <a:r>
              <a:rPr lang="bs-Latn-BA" dirty="0">
                <a:latin typeface="Calibri" pitchFamily="34" charset="0"/>
                <a:cs typeface="Calibri" pitchFamily="34" charset="0"/>
              </a:rPr>
              <a:t>I KOLIKO?</a:t>
            </a:r>
          </a:p>
          <a:p>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 ko je sve (bio) uključen u događaj – izravno i posredno (npr. očevici)</a:t>
            </a:r>
          </a:p>
          <a:p>
            <a:pPr marL="342900" indent="-342900" algn="just">
              <a:buFont typeface="+mj-lt"/>
              <a:buAutoNum type="alphaLcParenR"/>
            </a:pPr>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 koliko ima izravnih žrtava, očevidaca, članova određenih skupina, čitave zajednice itd. (npr. koliko ima učenika u izravno pogođenom razredu, a koliko u čitavoj školi, koliko ima očevidaca i ko su </a:t>
            </a:r>
            <a:r>
              <a:rPr lang="bs-Latn-BA" dirty="0" smtClean="0">
                <a:latin typeface="Calibri" pitchFamily="34" charset="0"/>
                <a:cs typeface="Calibri" pitchFamily="34" charset="0"/>
              </a:rPr>
              <a:t>oni</a:t>
            </a:r>
            <a:r>
              <a:rPr lang="en-GB" dirty="0" smtClean="0">
                <a:latin typeface="Calibri" pitchFamily="34" charset="0"/>
                <a:cs typeface="Calibri" pitchFamily="34" charset="0"/>
              </a:rPr>
              <a:t> itd.)</a:t>
            </a:r>
            <a:endParaRPr lang="bs-Latn-BA" dirty="0">
              <a:latin typeface="Calibri" pitchFamily="34" charset="0"/>
              <a:cs typeface="Calibri" pitchFamily="34" charset="0"/>
            </a:endParaRPr>
          </a:p>
          <a:p>
            <a:pPr marL="342900" indent="-342900" algn="just">
              <a:buFont typeface="+mj-lt"/>
              <a:buAutoNum type="alphaLcParenR"/>
            </a:pPr>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pohađa li istu </a:t>
            </a:r>
            <a:r>
              <a:rPr lang="bs-Latn-BA" dirty="0" smtClean="0">
                <a:latin typeface="Calibri" pitchFamily="34" charset="0"/>
                <a:cs typeface="Calibri" pitchFamily="34" charset="0"/>
              </a:rPr>
              <a:t>školu brat </a:t>
            </a:r>
            <a:r>
              <a:rPr lang="bs-Latn-BA" dirty="0">
                <a:latin typeface="Calibri" pitchFamily="34" charset="0"/>
                <a:cs typeface="Calibri" pitchFamily="34" charset="0"/>
              </a:rPr>
              <a:t>ili sestra poginulog/unesrećenog djeteta ili mlade osobe</a:t>
            </a:r>
          </a:p>
          <a:p>
            <a:pPr marL="342900" indent="-342900" algn="just">
              <a:buFont typeface="+mj-lt"/>
              <a:buAutoNum type="alphaLcParenR"/>
            </a:pPr>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ko je sve obaviješten o kriznom događaju i koga još treba obavijestiti</a:t>
            </a:r>
          </a:p>
          <a:p>
            <a:pPr marL="342900" indent="-342900" algn="just">
              <a:buFont typeface="+mj-lt"/>
              <a:buAutoNum type="alphaLcParenR"/>
            </a:pPr>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ko je već poduzimao neke korake i kakve</a:t>
            </a:r>
          </a:p>
          <a:p>
            <a:pPr marL="342900" indent="-342900" algn="just">
              <a:buFont typeface="+mj-lt"/>
              <a:buAutoNum type="alphaLcParenR"/>
            </a:pPr>
            <a:endParaRPr lang="bs-Latn-BA" dirty="0">
              <a:latin typeface="Calibri" pitchFamily="34" charset="0"/>
              <a:cs typeface="Calibri" pitchFamily="34" charset="0"/>
            </a:endParaRPr>
          </a:p>
          <a:p>
            <a:pPr marL="342900" indent="-342900" algn="just">
              <a:buFont typeface="+mj-lt"/>
              <a:buAutoNum type="alphaLcParenR"/>
            </a:pPr>
            <a:r>
              <a:rPr lang="bs-Latn-BA" dirty="0">
                <a:latin typeface="Calibri" pitchFamily="34" charset="0"/>
                <a:cs typeface="Calibri" pitchFamily="34" charset="0"/>
              </a:rPr>
              <a:t>ko je prirodna socijalna podrška pogođenima ili bi to mogao biti - uključujući dostupnost tih osoba</a:t>
            </a:r>
          </a:p>
          <a:p>
            <a:pPr algn="just"/>
            <a:endParaRPr lang="bs-Latn-BA"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86073F83-A88C-4A68-80E4-1D9A8EDB0EA9}"/>
              </a:ext>
            </a:extLst>
          </p:cNvPr>
          <p:cNvSpPr txBox="1"/>
          <p:nvPr/>
        </p:nvSpPr>
        <p:spPr>
          <a:xfrm>
            <a:off x="765698" y="1559795"/>
            <a:ext cx="10659047" cy="3416320"/>
          </a:xfrm>
          <a:prstGeom prst="rect">
            <a:avLst/>
          </a:prstGeom>
          <a:noFill/>
        </p:spPr>
        <p:txBody>
          <a:bodyPr wrap="square">
            <a:spAutoFit/>
          </a:bodyPr>
          <a:lstStyle/>
          <a:p>
            <a:pPr>
              <a:buFont typeface="Arial" pitchFamily="34" charset="0"/>
              <a:buChar char="•"/>
            </a:pPr>
            <a:r>
              <a:rPr lang="en-GB" dirty="0" smtClean="0">
                <a:latin typeface="Calibri" pitchFamily="34" charset="0"/>
                <a:cs typeface="Calibri" pitchFamily="34" charset="0"/>
              </a:rPr>
              <a:t> </a:t>
            </a:r>
            <a:r>
              <a:rPr lang="bs-Latn-BA" dirty="0" smtClean="0">
                <a:latin typeface="Calibri" pitchFamily="34" charset="0"/>
                <a:cs typeface="Calibri" pitchFamily="34" charset="0"/>
              </a:rPr>
              <a:t>KAKO </a:t>
            </a:r>
            <a:r>
              <a:rPr lang="bs-Latn-BA" dirty="0">
                <a:latin typeface="Calibri" pitchFamily="34" charset="0"/>
                <a:cs typeface="Calibri" pitchFamily="34" charset="0"/>
              </a:rPr>
              <a:t>UGROŽENI REAGUJU?</a:t>
            </a:r>
          </a:p>
          <a:p>
            <a:endParaRPr lang="bs-Latn-BA" dirty="0">
              <a:latin typeface="Calibri" pitchFamily="34" charset="0"/>
              <a:cs typeface="Calibri" pitchFamily="34" charset="0"/>
            </a:endParaRPr>
          </a:p>
          <a:p>
            <a:pPr marL="342900" indent="-342900">
              <a:buFont typeface="+mj-lt"/>
              <a:buAutoNum type="alphaLcParenR"/>
            </a:pPr>
            <a:r>
              <a:rPr lang="bs-Latn-BA" dirty="0">
                <a:latin typeface="Calibri" pitchFamily="34" charset="0"/>
                <a:cs typeface="Calibri" pitchFamily="34" charset="0"/>
              </a:rPr>
              <a:t>misli, emocije, ponašanje, tjelesne reakcije</a:t>
            </a:r>
          </a:p>
          <a:p>
            <a:pPr marL="342900" indent="-342900">
              <a:buFont typeface="+mj-lt"/>
              <a:buAutoNum type="alphaLcParenR"/>
            </a:pPr>
            <a:endParaRPr lang="bs-Latn-BA" dirty="0">
              <a:latin typeface="Calibri" pitchFamily="34" charset="0"/>
              <a:cs typeface="Calibri" pitchFamily="34" charset="0"/>
            </a:endParaRPr>
          </a:p>
          <a:p>
            <a:pPr marL="342900" indent="-342900">
              <a:buFont typeface="+mj-lt"/>
              <a:buAutoNum type="alphaLcParenR"/>
            </a:pPr>
            <a:r>
              <a:rPr lang="bs-Latn-BA" dirty="0">
                <a:latin typeface="Calibri" pitchFamily="34" charset="0"/>
                <a:cs typeface="Calibri" pitchFamily="34" charset="0"/>
              </a:rPr>
              <a:t>namjere za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istvo</a:t>
            </a:r>
            <a:r>
              <a:rPr lang="bs-Latn-BA" dirty="0" smtClean="0">
                <a:latin typeface="Calibri" pitchFamily="34" charset="0"/>
                <a:cs typeface="Calibri" pitchFamily="34" charset="0"/>
              </a:rPr>
              <a:t>, </a:t>
            </a:r>
            <a:r>
              <a:rPr lang="bs-Latn-BA" dirty="0">
                <a:latin typeface="Calibri" pitchFamily="34" charset="0"/>
                <a:cs typeface="Calibri" pitchFamily="34" charset="0"/>
              </a:rPr>
              <a:t>razmišljanje o (</a:t>
            </a:r>
            <a:r>
              <a:rPr lang="bs-Latn-BA" dirty="0" smtClean="0">
                <a:latin typeface="Calibri" pitchFamily="34" charset="0"/>
                <a:cs typeface="Calibri" pitchFamily="34" charset="0"/>
              </a:rPr>
              <a:t>samo)u</a:t>
            </a:r>
            <a:r>
              <a:rPr lang="en-GB" dirty="0" smtClean="0">
                <a:latin typeface="Calibri" pitchFamily="34" charset="0"/>
                <a:cs typeface="Calibri" pitchFamily="34" charset="0"/>
              </a:rPr>
              <a:t>bistvu</a:t>
            </a:r>
            <a:r>
              <a:rPr lang="bs-Latn-BA" dirty="0" smtClean="0">
                <a:latin typeface="Calibri" pitchFamily="34" charset="0"/>
                <a:cs typeface="Calibri" pitchFamily="34" charset="0"/>
              </a:rPr>
              <a:t>, </a:t>
            </a:r>
            <a:r>
              <a:rPr lang="bs-Latn-BA" dirty="0">
                <a:latin typeface="Calibri" pitchFamily="34" charset="0"/>
                <a:cs typeface="Calibri" pitchFamily="34" charset="0"/>
              </a:rPr>
              <a:t>o osveti</a:t>
            </a:r>
          </a:p>
          <a:p>
            <a:pPr marL="342900" indent="-342900">
              <a:buFont typeface="+mj-lt"/>
              <a:buAutoNum type="alphaLcParenR"/>
            </a:pPr>
            <a:endParaRPr lang="bs-Latn-BA" dirty="0">
              <a:latin typeface="Calibri" pitchFamily="34" charset="0"/>
              <a:cs typeface="Calibri" pitchFamily="34" charset="0"/>
            </a:endParaRPr>
          </a:p>
          <a:p>
            <a:pPr marL="342900" indent="-342900">
              <a:buFont typeface="+mj-lt"/>
              <a:buAutoNum type="alphaLcParenR"/>
            </a:pPr>
            <a:r>
              <a:rPr lang="bs-Latn-BA" dirty="0">
                <a:latin typeface="Calibri" pitchFamily="34" charset="0"/>
                <a:cs typeface="Calibri" pitchFamily="34" charset="0"/>
              </a:rPr>
              <a:t>ranije tjelesne/psihičke teškoće</a:t>
            </a:r>
          </a:p>
          <a:p>
            <a:pPr marL="342900" indent="-342900">
              <a:buFont typeface="+mj-lt"/>
              <a:buAutoNum type="alphaLcParenR"/>
            </a:pPr>
            <a:endParaRPr lang="bs-Latn-BA" dirty="0">
              <a:latin typeface="Calibri" pitchFamily="34" charset="0"/>
              <a:cs typeface="Calibri" pitchFamily="34" charset="0"/>
            </a:endParaRPr>
          </a:p>
          <a:p>
            <a:pPr marL="342900" indent="-342900">
              <a:buFont typeface="+mj-lt"/>
              <a:buAutoNum type="alphaLcParenR"/>
            </a:pPr>
            <a:r>
              <a:rPr lang="bs-Latn-BA" dirty="0">
                <a:latin typeface="Calibri" pitchFamily="34" charset="0"/>
                <a:cs typeface="Calibri" pitchFamily="34" charset="0"/>
              </a:rPr>
              <a:t>odnosi među članovima grupe/zajednice</a:t>
            </a:r>
          </a:p>
          <a:p>
            <a:pPr marL="342900" indent="-342900">
              <a:buFont typeface="+mj-lt"/>
              <a:buAutoNum type="alphaLcParenR"/>
            </a:pPr>
            <a:endParaRPr lang="bs-Latn-BA" dirty="0">
              <a:latin typeface="Calibri" pitchFamily="34" charset="0"/>
              <a:cs typeface="Calibri" pitchFamily="34" charset="0"/>
            </a:endParaRPr>
          </a:p>
          <a:p>
            <a:pPr marL="342900" indent="-342900">
              <a:buFont typeface="+mj-lt"/>
              <a:buAutoNum type="alphaLcParenR"/>
            </a:pPr>
            <a:r>
              <a:rPr lang="bs-Latn-BA" dirty="0">
                <a:latin typeface="Calibri" pitchFamily="34" charset="0"/>
                <a:cs typeface="Calibri" pitchFamily="34" charset="0"/>
              </a:rPr>
              <a:t>odnos preživjelih s unesrećenim/umrlim ili s osobom koja je uzrokovala krizni događaj</a:t>
            </a:r>
          </a:p>
          <a:p>
            <a:pPr marL="342900" indent="-342900">
              <a:buFont typeface="+mj-lt"/>
              <a:buAutoNum type="alphaLcParenR"/>
            </a:pPr>
            <a:endParaRPr lang="bs-Latn-BA"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46234" y="1324303"/>
            <a:ext cx="10710042" cy="4801314"/>
          </a:xfrm>
          <a:prstGeom prst="rect">
            <a:avLst/>
          </a:prstGeom>
        </p:spPr>
        <p:txBody>
          <a:bodyPr wrap="square">
            <a:spAutoFit/>
          </a:bodyPr>
          <a:lstStyle/>
          <a:p>
            <a:pPr marL="342900" indent="-342900" algn="just"/>
            <a:r>
              <a:rPr lang="en-GB" b="1" dirty="0" smtClean="0">
                <a:latin typeface="Calibri" pitchFamily="34" charset="0"/>
                <a:cs typeface="Calibri" pitchFamily="34" charset="0"/>
              </a:rPr>
              <a:t>5.  </a:t>
            </a:r>
            <a:r>
              <a:rPr lang="bs-Latn-BA" b="1" dirty="0" smtClean="0">
                <a:latin typeface="Calibri" pitchFamily="34" charset="0"/>
                <a:cs typeface="Calibri" pitchFamily="34" charset="0"/>
              </a:rPr>
              <a:t>KOLIKO TRAJU?</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Općenito je pravilo da krizna intervencija, tj. grupni i individualni razgovori s članovima neke zajednice koja je u </a:t>
            </a:r>
          </a:p>
          <a:p>
            <a:pPr marL="342900" indent="-342900" algn="just"/>
            <a:r>
              <a:rPr lang="bs-Latn-BA" dirty="0" smtClean="0">
                <a:latin typeface="Calibri" pitchFamily="34" charset="0"/>
                <a:cs typeface="Calibri" pitchFamily="34" charset="0"/>
              </a:rPr>
              <a:t>krizi, traje razmjerno kratko.</a:t>
            </a:r>
          </a:p>
          <a:p>
            <a:pPr marL="342900" indent="-342900" algn="just"/>
            <a:r>
              <a:rPr lang="bs-Latn-BA" dirty="0" smtClean="0">
                <a:latin typeface="Calibri" pitchFamily="34" charset="0"/>
                <a:cs typeface="Calibri" pitchFamily="34" charset="0"/>
              </a:rPr>
              <a:t>Raspon trajanja kriznih intervencija  kreće se od jednog do sedam dana, a najveći broj kriznih intervencija traje</a:t>
            </a:r>
          </a:p>
          <a:p>
            <a:pPr marL="342900" indent="-342900" algn="just"/>
            <a:r>
              <a:rPr lang="en-GB" dirty="0" smtClean="0">
                <a:latin typeface="Calibri" pitchFamily="34" charset="0"/>
                <a:cs typeface="Calibri" pitchFamily="34" charset="0"/>
              </a:rPr>
              <a:t>j</a:t>
            </a:r>
            <a:r>
              <a:rPr lang="bs-Latn-BA" dirty="0" smtClean="0">
                <a:latin typeface="Calibri" pitchFamily="34" charset="0"/>
                <a:cs typeface="Calibri" pitchFamily="34" charset="0"/>
              </a:rPr>
              <a:t>edan i /ili dva dana.</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Međutim, krizna intervencija ne počinje i ne završava dolaskom i odlaskom stručnjaka iz ustanove. Tome treba</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dodati 3-4 dana koliko traju pripremni i završni poslovi.</a:t>
            </a:r>
            <a:endParaRPr lang="en-GB" dirty="0" smtClean="0">
              <a:latin typeface="Calibri" pitchFamily="34" charset="0"/>
              <a:cs typeface="Calibri" pitchFamily="34" charset="0"/>
            </a:endParaRPr>
          </a:p>
          <a:p>
            <a:pPr marL="342900" indent="-342900" algn="just"/>
            <a:endParaRPr lang="bs-Latn-BA" dirty="0" smtClean="0">
              <a:latin typeface="Calibri" pitchFamily="34" charset="0"/>
              <a:cs typeface="Calibri" pitchFamily="34" charset="0"/>
            </a:endParaRPr>
          </a:p>
          <a:p>
            <a:pPr marL="342900" indent="-342900" algn="just"/>
            <a:endParaRPr lang="bs-Latn-BA" dirty="0" smtClean="0">
              <a:latin typeface="Calibri" pitchFamily="34" charset="0"/>
              <a:cs typeface="Calibri" pitchFamily="34" charset="0"/>
            </a:endParaRPr>
          </a:p>
          <a:p>
            <a:pPr marL="342900" indent="-342900" algn="just"/>
            <a:r>
              <a:rPr lang="en-GB" b="1" dirty="0" smtClean="0">
                <a:latin typeface="Calibri" pitchFamily="34" charset="0"/>
                <a:cs typeface="Calibri" pitchFamily="34" charset="0"/>
              </a:rPr>
              <a:t>6.  </a:t>
            </a:r>
            <a:r>
              <a:rPr lang="bs-Latn-BA" b="1" dirty="0" smtClean="0">
                <a:latin typeface="Calibri" pitchFamily="34" charset="0"/>
                <a:cs typeface="Calibri" pitchFamily="34" charset="0"/>
              </a:rPr>
              <a:t>JESU LI DJELOTVORNE?</a:t>
            </a:r>
          </a:p>
          <a:p>
            <a:pPr marL="342900" indent="-342900" algn="just"/>
            <a:endParaRPr lang="bs-Latn-BA"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Obavljanje bilo kojeg posla morala bi pratiti evaluacija, tj. procjena njegove djelotvornosti.</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Provjera djelotvornosti kriznih intervencija provodi se kroz provjeru postupaka koji se primjenjuju  u okviru krizne</a:t>
            </a:r>
            <a:endParaRPr lang="en-GB" dirty="0" smtClean="0">
              <a:latin typeface="Calibri" pitchFamily="34" charset="0"/>
              <a:cs typeface="Calibri" pitchFamily="34" charset="0"/>
            </a:endParaRPr>
          </a:p>
          <a:p>
            <a:pPr marL="342900" indent="-342900" algn="just"/>
            <a:r>
              <a:rPr lang="bs-Latn-BA" dirty="0" smtClean="0">
                <a:latin typeface="Calibri" pitchFamily="34" charset="0"/>
                <a:cs typeface="Calibri" pitchFamily="34" charset="0"/>
              </a:rPr>
              <a:t>intervencije, npr. Provjera djelotvornosti </a:t>
            </a:r>
            <a:r>
              <a:rPr lang="bs-Latn-BA" i="1" dirty="0" smtClean="0">
                <a:latin typeface="Calibri" pitchFamily="34" charset="0"/>
                <a:cs typeface="Calibri" pitchFamily="34" charset="0"/>
              </a:rPr>
              <a:t>Sažete psihološke integracije traume.    </a:t>
            </a: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smtClean="0">
                <a:solidFill>
                  <a:srgbClr val="0070C0"/>
                </a:solidFill>
              </a:rPr>
              <a:t>Stručno </a:t>
            </a:r>
            <a:r>
              <a:rPr lang="en-US" b="1" dirty="0" smtClean="0">
                <a:solidFill>
                  <a:srgbClr val="0070C0"/>
                </a:solidFill>
                <a:latin typeface="Cambria" panose="02040503050406030204" pitchFamily="18" charset="0"/>
                <a:ea typeface="Cambria" panose="02040503050406030204" pitchFamily="18" charset="0"/>
              </a:rPr>
              <a:t>usavršavanje</a:t>
            </a:r>
            <a:r>
              <a:rPr lang="en-US" b="1" dirty="0" smtClean="0">
                <a:solidFill>
                  <a:srgbClr val="0070C0"/>
                </a:solidFill>
              </a:rPr>
              <a:t>, februar 2024. godine</a:t>
            </a:r>
            <a:endParaRPr lang="en-US" b="1" dirty="0">
              <a:solidFill>
                <a:srgbClr val="0070C0"/>
              </a:solidFill>
            </a:endParaRPr>
          </a:p>
        </p:txBody>
      </p:sp>
      <p:sp>
        <p:nvSpPr>
          <p:cNvPr id="3" name="Rectangle 2"/>
          <p:cNvSpPr/>
          <p:nvPr/>
        </p:nvSpPr>
        <p:spPr>
          <a:xfrm>
            <a:off x="693682" y="1145627"/>
            <a:ext cx="11246069" cy="369332"/>
          </a:xfrm>
          <a:prstGeom prst="rect">
            <a:avLst/>
          </a:prstGeom>
        </p:spPr>
        <p:txBody>
          <a:bodyPr wrap="square">
            <a:spAutoFit/>
          </a:bodyPr>
          <a:lstStyle/>
          <a:p>
            <a:pPr marL="342900" indent="-342900" algn="just"/>
            <a:endParaRPr lang="bs-Latn-BA" dirty="0" smtClean="0">
              <a:latin typeface="Calibri" pitchFamily="34" charset="0"/>
              <a:cs typeface="Calibri" pitchFamily="34" charset="0"/>
            </a:endParaRPr>
          </a:p>
        </p:txBody>
      </p:sp>
      <p:sp>
        <p:nvSpPr>
          <p:cNvPr id="4" name="Rectangle 3"/>
          <p:cNvSpPr/>
          <p:nvPr/>
        </p:nvSpPr>
        <p:spPr>
          <a:xfrm>
            <a:off x="756745" y="1460938"/>
            <a:ext cx="10710041" cy="3139321"/>
          </a:xfrm>
          <a:prstGeom prst="rect">
            <a:avLst/>
          </a:prstGeom>
        </p:spPr>
        <p:txBody>
          <a:bodyPr wrap="square">
            <a:spAutoFit/>
          </a:bodyPr>
          <a:lstStyle/>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buFontTx/>
              <a:buChar char="-"/>
            </a:pPr>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en-GB" dirty="0" smtClean="0">
              <a:latin typeface="Calibri" pitchFamily="34" charset="0"/>
              <a:cs typeface="Calibri" pitchFamily="34" charset="0"/>
            </a:endParaRPr>
          </a:p>
          <a:p>
            <a:pPr marL="342900" indent="-342900" algn="just"/>
            <a:endParaRPr lang="bs-Latn-BA" dirty="0" smtClean="0">
              <a:latin typeface="Calibri" pitchFamily="34" charset="0"/>
              <a:cs typeface="Calibri" pitchFamily="34" charset="0"/>
            </a:endParaRPr>
          </a:p>
        </p:txBody>
      </p:sp>
      <p:sp>
        <p:nvSpPr>
          <p:cNvPr id="6" name="Rectangle 5"/>
          <p:cNvSpPr/>
          <p:nvPr/>
        </p:nvSpPr>
        <p:spPr>
          <a:xfrm>
            <a:off x="777766" y="1429406"/>
            <a:ext cx="10678510" cy="3970318"/>
          </a:xfrm>
          <a:prstGeom prst="rect">
            <a:avLst/>
          </a:prstGeom>
        </p:spPr>
        <p:txBody>
          <a:bodyPr wrap="square">
            <a:spAutoFit/>
          </a:bodyPr>
          <a:lstStyle/>
          <a:p>
            <a:pPr marL="342900" indent="-342900" algn="just"/>
            <a:r>
              <a:rPr lang="en-GB" dirty="0" smtClean="0">
                <a:latin typeface="Calibri" pitchFamily="34" charset="0"/>
                <a:cs typeface="Calibri" pitchFamily="34" charset="0"/>
              </a:rPr>
              <a:t>SAŽETA PSIHOLOŠKA INTEGRACIJA TRAUME – specifičan postupak u okviru psihološke krizne intervencije</a:t>
            </a:r>
          </a:p>
          <a:p>
            <a:pPr marL="342900" indent="-342900" algn="just"/>
            <a:endParaRPr lang="en-GB" dirty="0" smtClean="0">
              <a:latin typeface="Calibri" pitchFamily="34" charset="0"/>
              <a:cs typeface="Calibri" pitchFamily="34" charset="0"/>
            </a:endParaRPr>
          </a:p>
          <a:p>
            <a:pPr marL="342900" indent="-342900" algn="just"/>
            <a:r>
              <a:rPr lang="en-GB" dirty="0" smtClean="0">
                <a:latin typeface="Calibri" pitchFamily="34" charset="0"/>
                <a:cs typeface="Calibri" pitchFamily="34" charset="0"/>
              </a:rPr>
              <a:t>Sažeta psihološka integracija traume smatra se najsloženijim od svih postupaka u okviru psiholoških kriznih </a:t>
            </a:r>
          </a:p>
          <a:p>
            <a:pPr marL="342900" indent="-342900" algn="just"/>
            <a:r>
              <a:rPr lang="en-GB" dirty="0" smtClean="0">
                <a:latin typeface="Calibri" pitchFamily="34" charset="0"/>
                <a:cs typeface="Calibri" pitchFamily="34" charset="0"/>
              </a:rPr>
              <a:t>intervencija. Riječ je o sistemskom i detaljnom prorađivanju neke krizne situacije ili nesreće uz usmjeravanje na</a:t>
            </a:r>
          </a:p>
          <a:p>
            <a:pPr marL="342900" indent="-342900" algn="just"/>
            <a:r>
              <a:rPr lang="en-GB" dirty="0" smtClean="0">
                <a:latin typeface="Calibri" pitchFamily="34" charset="0"/>
                <a:cs typeface="Calibri" pitchFamily="34" charset="0"/>
              </a:rPr>
              <a:t>misli, osjetne doživljaje, emocionalne i ponašajne reakcije, te na informisanje odnosno poučavanje o nekim</a:t>
            </a:r>
          </a:p>
          <a:p>
            <a:pPr marL="342900" indent="-342900" algn="just"/>
            <a:r>
              <a:rPr lang="en-GB" dirty="0" smtClean="0">
                <a:latin typeface="Calibri" pitchFamily="34" charset="0"/>
                <a:cs typeface="Calibri" pitchFamily="34" charset="0"/>
              </a:rPr>
              <a:t>bitnim činjenicama iz područja stresa i traume. </a:t>
            </a:r>
          </a:p>
          <a:p>
            <a:pPr marL="342900" indent="-342900" algn="just"/>
            <a:r>
              <a:rPr lang="en-GB" dirty="0" smtClean="0">
                <a:latin typeface="Calibri" pitchFamily="34" charset="0"/>
                <a:cs typeface="Calibri" pitchFamily="34" charset="0"/>
              </a:rPr>
              <a:t>Na taj način želi se postići integracija traumatskog/kriznog događaja u životno iskustvo pojedinca pomoću </a:t>
            </a:r>
          </a:p>
          <a:p>
            <a:pPr marL="342900" indent="-342900" algn="just"/>
            <a:r>
              <a:rPr lang="en-GB" dirty="0" smtClean="0">
                <a:latin typeface="Calibri" pitchFamily="34" charset="0"/>
                <a:cs typeface="Calibri" pitchFamily="34" charset="0"/>
              </a:rPr>
              <a:t>odgovarajuće interpretacije onoga šta se desilo.</a:t>
            </a:r>
          </a:p>
          <a:p>
            <a:pPr marL="342900" indent="-342900" algn="just"/>
            <a:endParaRPr lang="en-GB" dirty="0" smtClean="0">
              <a:latin typeface="Calibri" pitchFamily="34" charset="0"/>
              <a:cs typeface="Calibri" pitchFamily="34" charset="0"/>
            </a:endParaRPr>
          </a:p>
          <a:p>
            <a:pPr marL="342900" indent="-342900" algn="just"/>
            <a:r>
              <a:rPr lang="en-GB" dirty="0" smtClean="0">
                <a:latin typeface="Calibri" pitchFamily="34" charset="0"/>
                <a:cs typeface="Calibri" pitchFamily="34" charset="0"/>
              </a:rPr>
              <a:t>Taj se postupak ne primjenjuje u situacijama koje nisu krizne.</a:t>
            </a:r>
          </a:p>
          <a:p>
            <a:pPr marL="342900" indent="-342900" algn="just"/>
            <a:r>
              <a:rPr lang="en-GB" dirty="0" smtClean="0">
                <a:latin typeface="Calibri" pitchFamily="34" charset="0"/>
                <a:cs typeface="Calibri" pitchFamily="34" charset="0"/>
              </a:rPr>
              <a:t>Sažeta integracija traume nije psihološko savjetovanje niti psihoterapija i ne može biti zamjena za njih. </a:t>
            </a:r>
          </a:p>
          <a:p>
            <a:pPr marL="342900" indent="-342900" algn="just"/>
            <a:endParaRPr lang="en-GB" dirty="0" smtClean="0">
              <a:latin typeface="Calibri" pitchFamily="34" charset="0"/>
              <a:cs typeface="Calibri" pitchFamily="34" charset="0"/>
            </a:endParaRPr>
          </a:p>
          <a:p>
            <a:pPr marL="342900" indent="-342900" algn="just"/>
            <a:r>
              <a:rPr lang="en-GB" dirty="0" smtClean="0">
                <a:latin typeface="Calibri" pitchFamily="34" charset="0"/>
                <a:cs typeface="Calibri" pitchFamily="34" charset="0"/>
              </a:rPr>
              <a:t>Postupak </a:t>
            </a:r>
            <a:r>
              <a:rPr lang="en-GB" dirty="0" err="1" smtClean="0">
                <a:latin typeface="Calibri" pitchFamily="34" charset="0"/>
                <a:cs typeface="Calibri" pitchFamily="34" charset="0"/>
              </a:rPr>
              <a:t>sažete</a:t>
            </a:r>
            <a:r>
              <a:rPr lang="en-GB" dirty="0" smtClean="0">
                <a:latin typeface="Calibri" pitchFamily="34" charset="0"/>
                <a:cs typeface="Calibri" pitchFamily="34" charset="0"/>
              </a:rPr>
              <a:t> </a:t>
            </a:r>
            <a:r>
              <a:rPr lang="bs-Latn-BA" dirty="0" smtClean="0">
                <a:latin typeface="Calibri" pitchFamily="34" charset="0"/>
                <a:cs typeface="Calibri" pitchFamily="34" charset="0"/>
              </a:rPr>
              <a:t>psihološke </a:t>
            </a:r>
            <a:r>
              <a:rPr lang="en-GB" dirty="0" err="1" smtClean="0">
                <a:latin typeface="Calibri" pitchFamily="34" charset="0"/>
                <a:cs typeface="Calibri" pitchFamily="34" charset="0"/>
              </a:rPr>
              <a:t>integracije</a:t>
            </a:r>
            <a:r>
              <a:rPr lang="en-GB" dirty="0" smtClean="0">
                <a:latin typeface="Calibri" pitchFamily="34" charset="0"/>
                <a:cs typeface="Calibri" pitchFamily="34" charset="0"/>
              </a:rPr>
              <a:t> </a:t>
            </a:r>
            <a:r>
              <a:rPr lang="en-GB" dirty="0" smtClean="0">
                <a:latin typeface="Calibri" pitchFamily="34" charset="0"/>
                <a:cs typeface="Calibri" pitchFamily="34" charset="0"/>
              </a:rPr>
              <a:t>traume ima sedam faza: </a:t>
            </a:r>
          </a:p>
          <a:p>
            <a:pPr marL="342900" indent="-342900" algn="just"/>
            <a:r>
              <a:rPr lang="en-GB" dirty="0" smtClean="0">
                <a:latin typeface="Calibri" pitchFamily="34" charset="0"/>
                <a:cs typeface="Calibri" pitchFamily="34" charset="0"/>
              </a:rPr>
              <a:t> - uvod, činjenice, misli, najteža pojedinost, znakovi stresa i traume, poučavanje, zaokruživanje i kraj.</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Rectangle 3"/>
          <p:cNvSpPr/>
          <p:nvPr/>
        </p:nvSpPr>
        <p:spPr>
          <a:xfrm>
            <a:off x="735724" y="1145628"/>
            <a:ext cx="10720552" cy="5632311"/>
          </a:xfrm>
          <a:prstGeom prst="rect">
            <a:avLst/>
          </a:prstGeom>
        </p:spPr>
        <p:txBody>
          <a:bodyPr wrap="square">
            <a:spAutoFit/>
          </a:bodyPr>
          <a:lstStyle/>
          <a:p>
            <a:pPr algn="just"/>
            <a:r>
              <a:rPr lang="en-GB" b="1" dirty="0" smtClean="0">
                <a:latin typeface="Calibri" pitchFamily="34" charset="0"/>
                <a:cs typeface="Calibri" pitchFamily="34" charset="0"/>
              </a:rPr>
              <a:t>PROCJENA O POTREBI KRIZNE INTERVENCIJE</a:t>
            </a:r>
          </a:p>
          <a:p>
            <a:pPr algn="just"/>
            <a:endParaRPr lang="en-GB" b="1" dirty="0" smtClean="0">
              <a:latin typeface="Calibri" pitchFamily="34" charset="0"/>
              <a:cs typeface="Calibri" pitchFamily="34" charset="0"/>
            </a:endParaRPr>
          </a:p>
          <a:p>
            <a:pPr algn="just"/>
            <a:r>
              <a:rPr lang="en-GB" dirty="0" smtClean="0">
                <a:latin typeface="Calibri" pitchFamily="34" charset="0"/>
                <a:cs typeface="Calibri" pitchFamily="34" charset="0"/>
              </a:rPr>
              <a:t>Ako zajednička odluka Tima glasi da krizna intervencija </a:t>
            </a:r>
            <a:r>
              <a:rPr lang="en-GB" b="1" dirty="0" smtClean="0">
                <a:latin typeface="Calibri" pitchFamily="34" charset="0"/>
                <a:cs typeface="Calibri" pitchFamily="34" charset="0"/>
              </a:rPr>
              <a:t>jeste potrebna </a:t>
            </a:r>
            <a:r>
              <a:rPr lang="en-GB" dirty="0" err="1" smtClean="0">
                <a:latin typeface="Calibri" pitchFamily="34" charset="0"/>
                <a:cs typeface="Calibri" pitchFamily="34" charset="0"/>
              </a:rPr>
              <a:t>tada</a:t>
            </a:r>
            <a:r>
              <a:rPr lang="en-GB" dirty="0" smtClean="0">
                <a:latin typeface="Calibri" pitchFamily="34" charset="0"/>
                <a:cs typeface="Calibri" pitchFamily="34" charset="0"/>
              </a:rPr>
              <a:t> </a:t>
            </a:r>
            <a:r>
              <a:rPr lang="bs-Latn-BA" dirty="0" smtClean="0">
                <a:latin typeface="Calibri" pitchFamily="34" charset="0"/>
                <a:cs typeface="Calibri" pitchFamily="34" charset="0"/>
              </a:rPr>
              <a:t>se </a:t>
            </a:r>
            <a:r>
              <a:rPr lang="en-GB" dirty="0" smtClean="0">
                <a:latin typeface="Calibri" pitchFamily="34" charset="0"/>
                <a:cs typeface="Calibri" pitchFamily="34" charset="0"/>
              </a:rPr>
              <a:t>u </a:t>
            </a:r>
            <a:r>
              <a:rPr lang="en-GB" dirty="0" smtClean="0">
                <a:latin typeface="Calibri" pitchFamily="34" charset="0"/>
                <a:cs typeface="Calibri" pitchFamily="34" charset="0"/>
              </a:rPr>
              <a:t>okviru </a:t>
            </a:r>
            <a:r>
              <a:rPr lang="en-GB" dirty="0" err="1" smtClean="0">
                <a:latin typeface="Calibri" pitchFamily="34" charset="0"/>
                <a:cs typeface="Calibri" pitchFamily="34" charset="0"/>
              </a:rPr>
              <a:t>nje</a:t>
            </a:r>
            <a:r>
              <a:rPr lang="en-GB" dirty="0" smtClean="0">
                <a:latin typeface="Calibri" pitchFamily="34" charset="0"/>
                <a:cs typeface="Calibri" pitchFamily="34" charset="0"/>
              </a:rPr>
              <a:t> </a:t>
            </a:r>
            <a:r>
              <a:rPr lang="en-GB" dirty="0" err="1" smtClean="0">
                <a:latin typeface="Calibri" pitchFamily="34" charset="0"/>
                <a:cs typeface="Calibri" pitchFamily="34" charset="0"/>
              </a:rPr>
              <a:t>pruža</a:t>
            </a:r>
            <a:r>
              <a:rPr lang="en-GB" dirty="0" smtClean="0">
                <a:latin typeface="Calibri" pitchFamily="34" charset="0"/>
                <a:cs typeface="Calibri" pitchFamily="34" charset="0"/>
              </a:rPr>
              <a:t> </a:t>
            </a:r>
            <a:r>
              <a:rPr lang="en-GB" dirty="0" err="1" smtClean="0">
                <a:latin typeface="Calibri" pitchFamily="34" charset="0"/>
                <a:cs typeface="Calibri" pitchFamily="34" charset="0"/>
              </a:rPr>
              <a:t>podršk</a:t>
            </a:r>
            <a:r>
              <a:rPr lang="bs-Latn-BA" dirty="0" smtClean="0">
                <a:latin typeface="Calibri" pitchFamily="34" charset="0"/>
                <a:cs typeface="Calibri" pitchFamily="34" charset="0"/>
              </a:rPr>
              <a:t>a</a:t>
            </a:r>
            <a:r>
              <a:rPr lang="en-GB" dirty="0" smtClean="0">
                <a:latin typeface="Calibri" pitchFamily="34" charset="0"/>
                <a:cs typeface="Calibri" pitchFamily="34" charset="0"/>
              </a:rPr>
              <a:t> </a:t>
            </a:r>
            <a:r>
              <a:rPr lang="en-GB" dirty="0" smtClean="0">
                <a:latin typeface="Calibri" pitchFamily="34" charset="0"/>
                <a:cs typeface="Calibri" pitchFamily="34" charset="0"/>
              </a:rPr>
              <a:t>na mnogo različitih načina:</a:t>
            </a:r>
          </a:p>
          <a:p>
            <a:pPr algn="just"/>
            <a:endParaRPr lang="en-GB" dirty="0" smtClean="0">
              <a:latin typeface="Calibri" pitchFamily="34" charset="0"/>
              <a:cs typeface="Calibri" pitchFamily="34" charset="0"/>
            </a:endParaRPr>
          </a:p>
          <a:p>
            <a:pPr algn="just">
              <a:buFont typeface="Arial" pitchFamily="34" charset="0"/>
              <a:buChar char="•"/>
            </a:pPr>
            <a:r>
              <a:rPr lang="en-GB" dirty="0" smtClean="0">
                <a:latin typeface="Calibri" pitchFamily="34" charset="0"/>
                <a:cs typeface="Calibri" pitchFamily="34" charset="0"/>
              </a:rPr>
              <a:t> podrška osobi koja zove u pomoć</a:t>
            </a:r>
          </a:p>
          <a:p>
            <a:pPr algn="just">
              <a:buFont typeface="Arial" pitchFamily="34" charset="0"/>
              <a:buChar char="•"/>
            </a:pPr>
            <a:r>
              <a:rPr lang="en-GB" dirty="0" smtClean="0">
                <a:latin typeface="Calibri" pitchFamily="34" charset="0"/>
                <a:cs typeface="Calibri" pitchFamily="34" charset="0"/>
              </a:rPr>
              <a:t> odgovaranja na pitanja</a:t>
            </a:r>
          </a:p>
          <a:p>
            <a:pPr algn="just">
              <a:buFont typeface="Arial" pitchFamily="34" charset="0"/>
              <a:buChar char="•"/>
            </a:pPr>
            <a:r>
              <a:rPr lang="en-GB" dirty="0" smtClean="0">
                <a:latin typeface="Calibri" pitchFamily="34" charset="0"/>
                <a:cs typeface="Calibri" pitchFamily="34" charset="0"/>
              </a:rPr>
              <a:t> praktični savjeti</a:t>
            </a:r>
          </a:p>
          <a:p>
            <a:pPr algn="just">
              <a:buFont typeface="Arial" pitchFamily="34" charset="0"/>
              <a:buChar char="•"/>
            </a:pPr>
            <a:r>
              <a:rPr lang="en-GB" dirty="0" smtClean="0">
                <a:latin typeface="Calibri" pitchFamily="34" charset="0"/>
                <a:cs typeface="Calibri" pitchFamily="34" charset="0"/>
              </a:rPr>
              <a:t> grupni razgovori</a:t>
            </a:r>
          </a:p>
          <a:p>
            <a:pPr algn="just">
              <a:buFont typeface="Arial" pitchFamily="34" charset="0"/>
              <a:buChar char="•"/>
            </a:pPr>
            <a:r>
              <a:rPr lang="en-GB" dirty="0" smtClean="0">
                <a:latin typeface="Calibri" pitchFamily="34" charset="0"/>
                <a:cs typeface="Calibri" pitchFamily="34" charset="0"/>
              </a:rPr>
              <a:t> kratki individualni razgovori</a:t>
            </a:r>
          </a:p>
          <a:p>
            <a:pPr algn="just">
              <a:buFont typeface="Arial" pitchFamily="34" charset="0"/>
              <a:buChar char="•"/>
            </a:pPr>
            <a:r>
              <a:rPr lang="en-GB" dirty="0" smtClean="0">
                <a:latin typeface="Calibri" pitchFamily="34" charset="0"/>
                <a:cs typeface="Calibri" pitchFamily="34" charset="0"/>
              </a:rPr>
              <a:t> kasniji individualni razgovori</a:t>
            </a:r>
          </a:p>
          <a:p>
            <a:pPr algn="just">
              <a:buFont typeface="Arial" pitchFamily="34" charset="0"/>
              <a:buChar char="•"/>
            </a:pPr>
            <a:r>
              <a:rPr lang="en-GB" dirty="0" smtClean="0">
                <a:latin typeface="Calibri" pitchFamily="34" charset="0"/>
                <a:cs typeface="Calibri" pitchFamily="34" charset="0"/>
              </a:rPr>
              <a:t> davanje letaka</a:t>
            </a:r>
          </a:p>
          <a:p>
            <a:pPr algn="just">
              <a:buFont typeface="Arial" pitchFamily="34" charset="0"/>
              <a:buChar char="•"/>
            </a:pPr>
            <a:r>
              <a:rPr lang="en-GB" dirty="0" smtClean="0">
                <a:latin typeface="Calibri" pitchFamily="34" charset="0"/>
                <a:cs typeface="Calibri" pitchFamily="34" charset="0"/>
              </a:rPr>
              <a:t> podrška u donošenju odluka</a:t>
            </a:r>
          </a:p>
          <a:p>
            <a:pPr algn="just">
              <a:buFont typeface="Arial" pitchFamily="34" charset="0"/>
              <a:buChar char="•"/>
            </a:pPr>
            <a:r>
              <a:rPr lang="en-GB" dirty="0" smtClean="0">
                <a:latin typeface="Calibri" pitchFamily="34" charset="0"/>
                <a:cs typeface="Calibri" pitchFamily="34" charset="0"/>
              </a:rPr>
              <a:t> praćenje stanja</a:t>
            </a:r>
          </a:p>
          <a:p>
            <a:pPr algn="just">
              <a:buFont typeface="Arial" pitchFamily="34" charset="0"/>
              <a:buChar char="•"/>
            </a:pPr>
            <a:r>
              <a:rPr lang="en-GB" dirty="0" smtClean="0">
                <a:latin typeface="Calibri" pitchFamily="34" charset="0"/>
                <a:cs typeface="Calibri" pitchFamily="34" charset="0"/>
              </a:rPr>
              <a:t> upozoravanje na rizične ili kritične pojedince/skupine</a:t>
            </a:r>
          </a:p>
          <a:p>
            <a:pPr algn="just">
              <a:buFont typeface="Arial" pitchFamily="34" charset="0"/>
              <a:buChar char="•"/>
            </a:pPr>
            <a:r>
              <a:rPr lang="en-GB" dirty="0" smtClean="0">
                <a:latin typeface="Calibri" pitchFamily="34" charset="0"/>
                <a:cs typeface="Calibri" pitchFamily="34" charset="0"/>
              </a:rPr>
              <a:t> upućivanje pojedinaca na druge stručnjake</a:t>
            </a:r>
          </a:p>
          <a:p>
            <a:pPr algn="just">
              <a:buFont typeface="Arial" pitchFamily="34" charset="0"/>
              <a:buChar char="•"/>
            </a:pPr>
            <a:r>
              <a:rPr lang="en-GB" dirty="0" smtClean="0">
                <a:latin typeface="Calibri" pitchFamily="34" charset="0"/>
                <a:cs typeface="Calibri" pitchFamily="34" charset="0"/>
              </a:rPr>
              <a:t> mogućnost kasnijih konsultacija</a:t>
            </a:r>
          </a:p>
          <a:p>
            <a:pPr algn="just">
              <a:buFont typeface="Arial" pitchFamily="34" charset="0"/>
              <a:buChar char="•"/>
            </a:pPr>
            <a:r>
              <a:rPr lang="en-GB" dirty="0" smtClean="0">
                <a:latin typeface="Calibri" pitchFamily="34" charset="0"/>
                <a:cs typeface="Calibri" pitchFamily="34" charset="0"/>
              </a:rPr>
              <a:t> pisanje izvještaja</a:t>
            </a:r>
          </a:p>
          <a:p>
            <a:pPr algn="just"/>
            <a:endParaRPr lang="en-GB" dirty="0" smtClean="0">
              <a:latin typeface="Calibri" pitchFamily="34" charset="0"/>
              <a:cs typeface="Calibri" pitchFamily="34" charset="0"/>
            </a:endParaRPr>
          </a:p>
          <a:p>
            <a:pPr algn="just"/>
            <a:endParaRPr lang="bs-Latn-BA" dirty="0" smtClean="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3" name="Rectangle 2"/>
          <p:cNvSpPr/>
          <p:nvPr/>
        </p:nvSpPr>
        <p:spPr>
          <a:xfrm>
            <a:off x="746234" y="1135117"/>
            <a:ext cx="10678511" cy="646331"/>
          </a:xfrm>
          <a:prstGeom prst="rect">
            <a:avLst/>
          </a:prstGeom>
        </p:spPr>
        <p:txBody>
          <a:bodyPr wrap="square">
            <a:spAutoFit/>
          </a:bodyPr>
          <a:lstStyle/>
          <a:p>
            <a:pPr algn="just"/>
            <a:endParaRPr lang="en-GB" dirty="0" smtClean="0">
              <a:latin typeface="Calibri" pitchFamily="34" charset="0"/>
              <a:cs typeface="Calibri" pitchFamily="34" charset="0"/>
            </a:endParaRPr>
          </a:p>
          <a:p>
            <a:pPr algn="just"/>
            <a:endParaRPr lang="bs-Latn-BA" dirty="0" smtClean="0">
              <a:latin typeface="Calibri" pitchFamily="34" charset="0"/>
              <a:cs typeface="Calibri" pitchFamily="34" charset="0"/>
            </a:endParaRPr>
          </a:p>
        </p:txBody>
      </p:sp>
      <p:sp>
        <p:nvSpPr>
          <p:cNvPr id="5" name="Rectangle 4"/>
          <p:cNvSpPr/>
          <p:nvPr/>
        </p:nvSpPr>
        <p:spPr>
          <a:xfrm>
            <a:off x="304800" y="1723697"/>
            <a:ext cx="11445766" cy="3139321"/>
          </a:xfrm>
          <a:prstGeom prst="rect">
            <a:avLst/>
          </a:prstGeom>
        </p:spPr>
        <p:txBody>
          <a:bodyPr wrap="square">
            <a:spAutoFit/>
          </a:bodyPr>
          <a:lstStyle/>
          <a:p>
            <a:pPr algn="just"/>
            <a:r>
              <a:rPr lang="en-GB" dirty="0" smtClean="0">
                <a:latin typeface="Calibri" pitchFamily="34" charset="0"/>
                <a:cs typeface="Calibri" pitchFamily="34" charset="0"/>
              </a:rPr>
              <a:t>Ako zajednička odluka Tima glasi da krizna intervencija </a:t>
            </a:r>
            <a:r>
              <a:rPr lang="en-GB" b="1" dirty="0" smtClean="0">
                <a:latin typeface="Calibri" pitchFamily="34" charset="0"/>
                <a:cs typeface="Calibri" pitchFamily="34" charset="0"/>
              </a:rPr>
              <a:t>nije potrebna</a:t>
            </a:r>
            <a:r>
              <a:rPr lang="en-GB" dirty="0" smtClean="0">
                <a:latin typeface="Calibri" pitchFamily="34" charset="0"/>
                <a:cs typeface="Calibri" pitchFamily="34" charset="0"/>
              </a:rPr>
              <a:t>,</a:t>
            </a:r>
            <a:r>
              <a:rPr lang="en-GB" b="1" dirty="0" smtClean="0">
                <a:latin typeface="Calibri" pitchFamily="34" charset="0"/>
                <a:cs typeface="Calibri" pitchFamily="34" charset="0"/>
              </a:rPr>
              <a:t>  </a:t>
            </a:r>
            <a:r>
              <a:rPr lang="en-GB" dirty="0" smtClean="0">
                <a:latin typeface="Calibri" pitchFamily="34" charset="0"/>
                <a:cs typeface="Calibri" pitchFamily="34" charset="0"/>
              </a:rPr>
              <a:t>da je pogođena zajednica u stanju samostalno prebroditi krizni događaj  i </a:t>
            </a:r>
            <a:r>
              <a:rPr lang="en-GB" dirty="0" err="1" smtClean="0">
                <a:latin typeface="Calibri" pitchFamily="34" charset="0"/>
                <a:cs typeface="Calibri" pitchFamily="34" charset="0"/>
              </a:rPr>
              <a:t>tada</a:t>
            </a:r>
            <a:r>
              <a:rPr lang="en-GB" dirty="0" smtClean="0">
                <a:latin typeface="Calibri" pitchFamily="34" charset="0"/>
                <a:cs typeface="Calibri" pitchFamily="34" charset="0"/>
              </a:rPr>
              <a:t> </a:t>
            </a:r>
            <a:r>
              <a:rPr lang="bs-Latn-BA" dirty="0" smtClean="0">
                <a:latin typeface="Calibri" pitchFamily="34" charset="0"/>
                <a:cs typeface="Calibri" pitchFamily="34" charset="0"/>
              </a:rPr>
              <a:t>se </a:t>
            </a:r>
            <a:r>
              <a:rPr lang="en-GB" dirty="0" err="1" smtClean="0">
                <a:latin typeface="Calibri" pitchFamily="34" charset="0"/>
                <a:cs typeface="Calibri" pitchFamily="34" charset="0"/>
              </a:rPr>
              <a:t>nud</a:t>
            </a:r>
            <a:r>
              <a:rPr lang="bs-Latn-BA" dirty="0" smtClean="0">
                <a:latin typeface="Calibri" pitchFamily="34" charset="0"/>
                <a:cs typeface="Calibri" pitchFamily="34" charset="0"/>
              </a:rPr>
              <a:t>e</a:t>
            </a:r>
            <a:r>
              <a:rPr lang="en-GB" dirty="0" smtClean="0">
                <a:latin typeface="Calibri" pitchFamily="34" charset="0"/>
                <a:cs typeface="Calibri" pitchFamily="34" charset="0"/>
              </a:rPr>
              <a:t> </a:t>
            </a:r>
            <a:r>
              <a:rPr lang="en-GB" dirty="0" smtClean="0">
                <a:latin typeface="Calibri" pitchFamily="34" charset="0"/>
                <a:cs typeface="Calibri" pitchFamily="34" charset="0"/>
              </a:rPr>
              <a:t>različite vrste podrške budući da je </a:t>
            </a:r>
            <a:r>
              <a:rPr lang="en-GB" dirty="0" err="1" smtClean="0">
                <a:latin typeface="Calibri" pitchFamily="34" charset="0"/>
                <a:cs typeface="Calibri" pitchFamily="34" charset="0"/>
              </a:rPr>
              <a:t>jasno</a:t>
            </a:r>
            <a:r>
              <a:rPr lang="en-GB" dirty="0" smtClean="0">
                <a:latin typeface="Calibri" pitchFamily="34" charset="0"/>
                <a:cs typeface="Calibri" pitchFamily="34" charset="0"/>
              </a:rPr>
              <a:t> </a:t>
            </a:r>
            <a:r>
              <a:rPr lang="en-GB" dirty="0" err="1" smtClean="0">
                <a:latin typeface="Calibri" pitchFamily="34" charset="0"/>
                <a:cs typeface="Calibri" pitchFamily="34" charset="0"/>
              </a:rPr>
              <a:t>da</a:t>
            </a:r>
            <a:r>
              <a:rPr lang="en-GB" dirty="0" smtClean="0">
                <a:latin typeface="Calibri" pitchFamily="34" charset="0"/>
                <a:cs typeface="Calibri" pitchFamily="34" charset="0"/>
              </a:rPr>
              <a:t> </a:t>
            </a:r>
            <a:r>
              <a:rPr lang="en-GB" dirty="0" smtClean="0">
                <a:latin typeface="Calibri" pitchFamily="34" charset="0"/>
                <a:cs typeface="Calibri" pitchFamily="34" charset="0"/>
              </a:rPr>
              <a:t>neko zove jer mu je teško i jer treba određeni </a:t>
            </a:r>
            <a:r>
              <a:rPr lang="en-GB" dirty="0" err="1" smtClean="0">
                <a:latin typeface="Calibri" pitchFamily="34" charset="0"/>
                <a:cs typeface="Calibri" pitchFamily="34" charset="0"/>
              </a:rPr>
              <a:t>oblik</a:t>
            </a:r>
            <a:r>
              <a:rPr lang="en-GB" dirty="0" smtClean="0">
                <a:latin typeface="Calibri" pitchFamily="34" charset="0"/>
                <a:cs typeface="Calibri" pitchFamily="34" charset="0"/>
              </a:rPr>
              <a:t> </a:t>
            </a:r>
            <a:r>
              <a:rPr lang="en-GB" dirty="0" err="1" smtClean="0">
                <a:latin typeface="Calibri" pitchFamily="34" charset="0"/>
                <a:cs typeface="Calibri" pitchFamily="34" charset="0"/>
              </a:rPr>
              <a:t>podrške</a:t>
            </a:r>
            <a:r>
              <a:rPr lang="en-GB" dirty="0" smtClean="0">
                <a:latin typeface="Calibri" pitchFamily="34" charset="0"/>
                <a:cs typeface="Calibri" pitchFamily="34" charset="0"/>
              </a:rPr>
              <a:t>:</a:t>
            </a:r>
          </a:p>
          <a:p>
            <a:pPr algn="just"/>
            <a:endParaRPr lang="en-GB" dirty="0" smtClean="0">
              <a:latin typeface="Calibri" pitchFamily="34" charset="0"/>
              <a:cs typeface="Calibri" pitchFamily="34" charset="0"/>
            </a:endParaRPr>
          </a:p>
          <a:p>
            <a:pPr algn="just">
              <a:buFont typeface="Arial" pitchFamily="34" charset="0"/>
              <a:buChar char="•"/>
            </a:pPr>
            <a:r>
              <a:rPr lang="en-GB" dirty="0" smtClean="0">
                <a:latin typeface="Calibri" pitchFamily="34" charset="0"/>
                <a:cs typeface="Calibri" pitchFamily="34" charset="0"/>
              </a:rPr>
              <a:t> podrška osobi koja zove</a:t>
            </a:r>
          </a:p>
          <a:p>
            <a:pPr algn="just">
              <a:buFont typeface="Arial" pitchFamily="34" charset="0"/>
              <a:buChar char="•"/>
            </a:pPr>
            <a:r>
              <a:rPr lang="en-GB" dirty="0" smtClean="0">
                <a:latin typeface="Calibri" pitchFamily="34" charset="0"/>
                <a:cs typeface="Calibri" pitchFamily="34" charset="0"/>
              </a:rPr>
              <a:t> odgovaranje na pitanja</a:t>
            </a:r>
          </a:p>
          <a:p>
            <a:pPr algn="just">
              <a:buFont typeface="Arial" pitchFamily="34" charset="0"/>
              <a:buChar char="•"/>
            </a:pPr>
            <a:r>
              <a:rPr lang="en-GB" dirty="0" smtClean="0">
                <a:latin typeface="Calibri" pitchFamily="34" charset="0"/>
                <a:cs typeface="Calibri" pitchFamily="34" charset="0"/>
              </a:rPr>
              <a:t> praktični savjeti</a:t>
            </a:r>
          </a:p>
          <a:p>
            <a:pPr algn="just">
              <a:buFont typeface="Arial" pitchFamily="34" charset="0"/>
              <a:buChar char="•"/>
            </a:pPr>
            <a:r>
              <a:rPr lang="en-GB" dirty="0" smtClean="0">
                <a:latin typeface="Calibri" pitchFamily="34" charset="0"/>
                <a:cs typeface="Calibri" pitchFamily="34" charset="0"/>
              </a:rPr>
              <a:t> nuđenje literature</a:t>
            </a:r>
          </a:p>
          <a:p>
            <a:pPr algn="just">
              <a:buFont typeface="Arial" pitchFamily="34" charset="0"/>
              <a:buChar char="•"/>
            </a:pPr>
            <a:r>
              <a:rPr lang="en-GB" dirty="0" smtClean="0">
                <a:latin typeface="Calibri" pitchFamily="34" charset="0"/>
                <a:cs typeface="Calibri" pitchFamily="34" charset="0"/>
              </a:rPr>
              <a:t> nuđenje telefonskih konsultacija</a:t>
            </a:r>
          </a:p>
          <a:p>
            <a:pPr algn="just">
              <a:buFont typeface="Arial" pitchFamily="34" charset="0"/>
              <a:buChar char="•"/>
            </a:pPr>
            <a:endParaRPr lang="en-GB" dirty="0" smtClean="0">
              <a:latin typeface="Calibri" pitchFamily="34" charset="0"/>
              <a:cs typeface="Calibri" pitchFamily="34" charset="0"/>
            </a:endParaRPr>
          </a:p>
          <a:p>
            <a:pPr algn="just"/>
            <a:endParaRPr lang="en-GB" dirty="0" smtClean="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69C0A81A-A3D0-4B5E-81E2-5A40A0AEA135}"/>
              </a:ext>
            </a:extLst>
          </p:cNvPr>
          <p:cNvSpPr txBox="1"/>
          <p:nvPr/>
        </p:nvSpPr>
        <p:spPr>
          <a:xfrm>
            <a:off x="725214" y="1417753"/>
            <a:ext cx="10710041" cy="3693319"/>
          </a:xfrm>
          <a:prstGeom prst="rect">
            <a:avLst/>
          </a:prstGeom>
          <a:noFill/>
        </p:spPr>
        <p:txBody>
          <a:bodyPr wrap="square">
            <a:spAutoFit/>
          </a:bodyPr>
          <a:lstStyle/>
          <a:p>
            <a:pPr algn="just"/>
            <a:r>
              <a:rPr lang="en-GB" b="1" u="sng" dirty="0" smtClean="0">
                <a:latin typeface="Calibri" pitchFamily="34" charset="0"/>
                <a:cs typeface="Calibri" pitchFamily="34" charset="0"/>
              </a:rPr>
              <a:t>PRIMJER</a:t>
            </a:r>
            <a:endParaRPr lang="bs-Latn-BA" b="1" u="sng" dirty="0">
              <a:latin typeface="Calibri" pitchFamily="34" charset="0"/>
              <a:cs typeface="Calibri" pitchFamily="34" charset="0"/>
            </a:endParaRPr>
          </a:p>
          <a:p>
            <a:pPr algn="just"/>
            <a:endParaRPr lang="bs-Latn-BA" b="1" dirty="0">
              <a:latin typeface="Calibri" pitchFamily="34" charset="0"/>
              <a:cs typeface="Calibri" pitchFamily="34" charset="0"/>
            </a:endParaRPr>
          </a:p>
          <a:p>
            <a:pPr algn="just"/>
            <a:r>
              <a:rPr lang="bs-Latn-BA" dirty="0">
                <a:latin typeface="Calibri" pitchFamily="34" charset="0"/>
                <a:cs typeface="Calibri" pitchFamily="34" charset="0"/>
              </a:rPr>
              <a:t>PSIHOSOCIJALNA PODRŠKA UČENICIMA I </a:t>
            </a:r>
            <a:r>
              <a:rPr lang="en-GB" dirty="0" smtClean="0">
                <a:latin typeface="Calibri" pitchFamily="34" charset="0"/>
                <a:cs typeface="Calibri" pitchFamily="34" charset="0"/>
              </a:rPr>
              <a:t>UPOSLENICIMA</a:t>
            </a:r>
            <a:r>
              <a:rPr lang="bs-Latn-BA" dirty="0" smtClean="0">
                <a:latin typeface="Calibri" pitchFamily="34" charset="0"/>
                <a:cs typeface="Calibri" pitchFamily="34" charset="0"/>
              </a:rPr>
              <a:t> </a:t>
            </a:r>
            <a:r>
              <a:rPr lang="bs-Latn-BA" dirty="0">
                <a:latin typeface="Calibri" pitchFamily="34" charset="0"/>
                <a:cs typeface="Calibri" pitchFamily="34" charset="0"/>
              </a:rPr>
              <a:t>povodom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a:t>
            </a:r>
            <a:r>
              <a:rPr lang="bs-Latn-BA" dirty="0" smtClean="0">
                <a:latin typeface="Calibri" pitchFamily="34" charset="0"/>
                <a:cs typeface="Calibri" pitchFamily="34" charset="0"/>
              </a:rPr>
              <a:t>a </a:t>
            </a:r>
            <a:r>
              <a:rPr lang="bs-Latn-BA" dirty="0">
                <a:latin typeface="Calibri" pitchFamily="34" charset="0"/>
                <a:cs typeface="Calibri" pitchFamily="34" charset="0"/>
              </a:rPr>
              <a:t>učenice N.N. u OŠ________________, grad_______________</a:t>
            </a:r>
          </a:p>
          <a:p>
            <a:pPr algn="just"/>
            <a:endParaRPr lang="bs-Latn-BA"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b="1" dirty="0">
                <a:latin typeface="Calibri" pitchFamily="34" charset="0"/>
                <a:cs typeface="Calibri" pitchFamily="34" charset="0"/>
              </a:rPr>
              <a:t>PRINCIPI </a:t>
            </a:r>
            <a:r>
              <a:rPr lang="bs-Latn-BA" dirty="0">
                <a:latin typeface="Calibri" pitchFamily="34" charset="0"/>
                <a:cs typeface="Calibri" pitchFamily="34" charset="0"/>
              </a:rPr>
              <a:t>koje treba slijediti:</a:t>
            </a:r>
          </a:p>
          <a:p>
            <a:pPr algn="just"/>
            <a:endParaRPr lang="bs-Latn-BA" dirty="0">
              <a:latin typeface="Calibri" pitchFamily="34" charset="0"/>
              <a:cs typeface="Calibri" pitchFamily="34" charset="0"/>
            </a:endParaRPr>
          </a:p>
          <a:p>
            <a:pPr marL="342900" indent="-342900" algn="just">
              <a:buFont typeface="+mj-lt"/>
              <a:buAutoNum type="arabicPeriod"/>
            </a:pPr>
            <a:r>
              <a:rPr lang="bs-Latn-BA" dirty="0">
                <a:latin typeface="Calibri" pitchFamily="34" charset="0"/>
                <a:cs typeface="Calibri" pitchFamily="34" charset="0"/>
              </a:rPr>
              <a:t>TAČNE I POTPUNE INFORMACIJE,</a:t>
            </a:r>
          </a:p>
          <a:p>
            <a:pPr marL="342900" indent="-342900" algn="just">
              <a:buFont typeface="+mj-lt"/>
              <a:buAutoNum type="arabicPeriod"/>
            </a:pPr>
            <a:endParaRPr lang="bs-Latn-BA" dirty="0">
              <a:latin typeface="Calibri" pitchFamily="34" charset="0"/>
              <a:cs typeface="Calibri" pitchFamily="34" charset="0"/>
            </a:endParaRPr>
          </a:p>
          <a:p>
            <a:pPr marL="342900" indent="-342900" algn="just">
              <a:buFont typeface="+mj-lt"/>
              <a:buAutoNum type="arabicPeriod"/>
            </a:pPr>
            <a:r>
              <a:rPr lang="bs-Latn-BA" dirty="0" smtClean="0">
                <a:latin typeface="Calibri" pitchFamily="34" charset="0"/>
                <a:cs typeface="Calibri" pitchFamily="34" charset="0"/>
              </a:rPr>
              <a:t>STR</a:t>
            </a:r>
            <a:r>
              <a:rPr lang="en-GB" dirty="0" smtClean="0">
                <a:latin typeface="Calibri" pitchFamily="34" charset="0"/>
                <a:cs typeface="Calibri" pitchFamily="34" charset="0"/>
              </a:rPr>
              <a:t>U</a:t>
            </a:r>
            <a:r>
              <a:rPr lang="bs-Latn-BA" dirty="0" smtClean="0">
                <a:latin typeface="Calibri" pitchFamily="34" charset="0"/>
                <a:cs typeface="Calibri" pitchFamily="34" charset="0"/>
              </a:rPr>
              <a:t>KTURA </a:t>
            </a:r>
            <a:r>
              <a:rPr lang="bs-Latn-BA" dirty="0">
                <a:latin typeface="Calibri" pitchFamily="34" charset="0"/>
                <a:cs typeface="Calibri" pitchFamily="34" charset="0"/>
              </a:rPr>
              <a:t>(organizacija nastave, koordiniranje da se zna ko šta radi),</a:t>
            </a:r>
          </a:p>
          <a:p>
            <a:pPr marL="342900" indent="-342900" algn="just">
              <a:buFont typeface="+mj-lt"/>
              <a:buAutoNum type="arabicPeriod"/>
            </a:pPr>
            <a:endParaRPr lang="bs-Latn-BA" dirty="0">
              <a:latin typeface="Calibri" pitchFamily="34" charset="0"/>
              <a:cs typeface="Calibri" pitchFamily="34" charset="0"/>
            </a:endParaRPr>
          </a:p>
          <a:p>
            <a:pPr marL="342900" indent="-342900" algn="just">
              <a:buFont typeface="+mj-lt"/>
              <a:buAutoNum type="arabicPeriod"/>
            </a:pPr>
            <a:r>
              <a:rPr lang="bs-Latn-BA" dirty="0">
                <a:latin typeface="Calibri" pitchFamily="34" charset="0"/>
                <a:cs typeface="Calibri" pitchFamily="34" charset="0"/>
              </a:rPr>
              <a:t>POKAZATI RAZUMIJEVANJE ZA RAZLIČITE REAKCIJE učenika, učitelja i roditelja.</a:t>
            </a:r>
            <a:endParaRPr lang="bs-Latn-BA"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EDB33BC4-26D3-4057-8F4A-48CDDAF096B8}"/>
              </a:ext>
            </a:extLst>
          </p:cNvPr>
          <p:cNvSpPr txBox="1"/>
          <p:nvPr/>
        </p:nvSpPr>
        <p:spPr>
          <a:xfrm>
            <a:off x="746234" y="1284588"/>
            <a:ext cx="10689021" cy="5078313"/>
          </a:xfrm>
          <a:prstGeom prst="rect">
            <a:avLst/>
          </a:prstGeom>
          <a:noFill/>
        </p:spPr>
        <p:txBody>
          <a:bodyPr wrap="square">
            <a:spAutoFit/>
          </a:bodyPr>
          <a:lstStyle/>
          <a:p>
            <a:pPr algn="just"/>
            <a:r>
              <a:rPr lang="bs-Latn-BA" b="1" dirty="0">
                <a:latin typeface="Calibri" pitchFamily="34" charset="0"/>
                <a:cs typeface="Calibri" pitchFamily="34" charset="0"/>
              </a:rPr>
              <a:t>KORACI:</a:t>
            </a:r>
          </a:p>
          <a:p>
            <a:pPr algn="just"/>
            <a:endParaRPr lang="bs-Latn-BA" dirty="0">
              <a:latin typeface="Calibri" pitchFamily="34" charset="0"/>
              <a:cs typeface="Calibri" pitchFamily="34" charset="0"/>
            </a:endParaRPr>
          </a:p>
          <a:p>
            <a:pPr marL="342900" indent="-342900" algn="just">
              <a:buFont typeface="+mj-lt"/>
              <a:buAutoNum type="arabicPeriod"/>
            </a:pPr>
            <a:r>
              <a:rPr lang="bs-Latn-BA" dirty="0">
                <a:latin typeface="Calibri" pitchFamily="34" charset="0"/>
                <a:cs typeface="Calibri" pitchFamily="34" charset="0"/>
              </a:rPr>
              <a:t>OBAVIJESTITI:</a:t>
            </a:r>
          </a:p>
          <a:p>
            <a:pPr marL="342900" indent="-342900" algn="just">
              <a:buFont typeface="Arial" panose="020B0604020202020204" pitchFamily="34" charset="0"/>
              <a:buChar char="•"/>
            </a:pPr>
            <a:endParaRPr lang="bs-Latn-BA" dirty="0">
              <a:latin typeface="Calibri" pitchFamily="34" charset="0"/>
              <a:cs typeface="Calibri" pitchFamily="34" charset="0"/>
            </a:endParaRPr>
          </a:p>
          <a:p>
            <a:pPr marL="342900" indent="-342900" algn="just">
              <a:buFont typeface="Arial" panose="020B0604020202020204" pitchFamily="34" charset="0"/>
              <a:buChar char="•"/>
            </a:pPr>
            <a:r>
              <a:rPr lang="bs-Latn-BA" dirty="0">
                <a:latin typeface="Calibri" pitchFamily="34" charset="0"/>
                <a:cs typeface="Calibri" pitchFamily="34" charset="0"/>
              </a:rPr>
              <a:t>sve </a:t>
            </a:r>
            <a:r>
              <a:rPr lang="en-GB" dirty="0" smtClean="0">
                <a:latin typeface="Calibri" pitchFamily="34" charset="0"/>
                <a:cs typeface="Calibri" pitchFamily="34" charset="0"/>
              </a:rPr>
              <a:t>uposlenike</a:t>
            </a:r>
            <a:r>
              <a:rPr lang="bs-Latn-BA" dirty="0" smtClean="0">
                <a:latin typeface="Calibri" pitchFamily="34" charset="0"/>
                <a:cs typeface="Calibri" pitchFamily="34" charset="0"/>
              </a:rPr>
              <a:t> </a:t>
            </a:r>
            <a:r>
              <a:rPr lang="bs-Latn-BA" dirty="0">
                <a:latin typeface="Calibri" pitchFamily="34" charset="0"/>
                <a:cs typeface="Calibri" pitchFamily="34" charset="0"/>
              </a:rPr>
              <a:t>škole (na početku svake </a:t>
            </a:r>
            <a:r>
              <a:rPr lang="bs-Latn-BA" dirty="0" smtClean="0">
                <a:latin typeface="Calibri" pitchFamily="34" charset="0"/>
                <a:cs typeface="Calibri" pitchFamily="34" charset="0"/>
              </a:rPr>
              <a:t>smjene</a:t>
            </a:r>
            <a:r>
              <a:rPr lang="en-GB" dirty="0" smtClean="0">
                <a:latin typeface="Calibri" pitchFamily="34" charset="0"/>
                <a:cs typeface="Calibri" pitchFamily="34" charset="0"/>
              </a:rPr>
              <a:t>,</a:t>
            </a:r>
            <a:r>
              <a:rPr lang="bs-Latn-BA" dirty="0" smtClean="0">
                <a:latin typeface="Calibri" pitchFamily="34" charset="0"/>
                <a:cs typeface="Calibri" pitchFamily="34" charset="0"/>
              </a:rPr>
              <a:t> </a:t>
            </a:r>
            <a:r>
              <a:rPr lang="bs-Latn-BA" dirty="0">
                <a:latin typeface="Calibri" pitchFamily="34" charset="0"/>
                <a:cs typeface="Calibri" pitchFamily="34" charset="0"/>
              </a:rPr>
              <a:t>šta se i kada dogodilo, da će u školu doći Tim za psihološke krizne intervencije i da će tada biti moguće dobiti podršku i/ili informacije o tome kako postupati s učenicima, kako organizirati nastavu)</a:t>
            </a:r>
          </a:p>
          <a:p>
            <a:pPr marL="342900" indent="-342900" algn="just">
              <a:buFont typeface="Arial" panose="020B0604020202020204" pitchFamily="34" charset="0"/>
              <a:buChar char="•"/>
            </a:pPr>
            <a:endParaRPr lang="bs-Latn-BA" dirty="0">
              <a:latin typeface="Calibri" pitchFamily="34" charset="0"/>
              <a:cs typeface="Calibri" pitchFamily="34" charset="0"/>
            </a:endParaRPr>
          </a:p>
          <a:p>
            <a:pPr marL="342900" indent="-342900" algn="just">
              <a:buFont typeface="Arial" panose="020B0604020202020204" pitchFamily="34" charset="0"/>
              <a:buChar char="•"/>
            </a:pPr>
            <a:r>
              <a:rPr lang="bs-Latn-BA" dirty="0">
                <a:latin typeface="Calibri" pitchFamily="34" charset="0"/>
                <a:cs typeface="Calibri" pitchFamily="34" charset="0"/>
              </a:rPr>
              <a:t>učitelji će reći učenicima u razrednim odjeljenjima gdje imaju nastavu šta se dogodilo i to kratko i jasno: “Nažalost, moram vas obavijestiti o jednom teškom događaju: jučer, u popodnevnim satima, učenica 8</a:t>
            </a:r>
            <a:r>
              <a:rPr lang="bs-Latn-BA" dirty="0" smtClean="0">
                <a:latin typeface="Calibri" pitchFamily="34" charset="0"/>
                <a:cs typeface="Calibri" pitchFamily="34" charset="0"/>
              </a:rPr>
              <a:t>. </a:t>
            </a:r>
            <a:r>
              <a:rPr lang="bs-Latn-BA" dirty="0">
                <a:latin typeface="Calibri" pitchFamily="34" charset="0"/>
                <a:cs typeface="Calibri" pitchFamily="34" charset="0"/>
              </a:rPr>
              <a:t>razreda naše škole, N.N., počinila je </a:t>
            </a:r>
            <a:r>
              <a:rPr lang="bs-Latn-BA" dirty="0" smtClean="0">
                <a:latin typeface="Calibri" pitchFamily="34" charset="0"/>
                <a:cs typeface="Calibri" pitchFamily="34" charset="0"/>
              </a:rPr>
              <a:t>samoub</a:t>
            </a:r>
            <a:r>
              <a:rPr lang="en-GB" dirty="0" err="1" smtClean="0">
                <a:latin typeface="Calibri" pitchFamily="34" charset="0"/>
                <a:cs typeface="Calibri" pitchFamily="34" charset="0"/>
              </a:rPr>
              <a:t>istvo</a:t>
            </a:r>
            <a:r>
              <a:rPr lang="bs-Latn-BA" dirty="0" smtClean="0">
                <a:latin typeface="Calibri" pitchFamily="34" charset="0"/>
                <a:cs typeface="Calibri" pitchFamily="34" charset="0"/>
              </a:rPr>
              <a:t>“. </a:t>
            </a:r>
            <a:r>
              <a:rPr lang="bs-Latn-BA" dirty="0">
                <a:latin typeface="Calibri" pitchFamily="34" charset="0"/>
                <a:cs typeface="Calibri" pitchFamily="34" charset="0"/>
              </a:rPr>
              <a:t>Sljedećih dana u školu će doći stručnjaci iz tima za psihološke krizne intervencije s kojima će moći razgovarati svi koji za to imaju potrebu. „Ako učenici postavljaju pitanja o događaju, budite iskreni, ali nemojte pretjerivati s pojedinostima (npr. detaljno opisivati način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istva</a:t>
            </a:r>
            <a:r>
              <a:rPr lang="bs-Latn-BA" dirty="0" smtClean="0">
                <a:latin typeface="Calibri" pitchFamily="34" charset="0"/>
                <a:cs typeface="Calibri" pitchFamily="34" charset="0"/>
              </a:rPr>
              <a:t>, </a:t>
            </a:r>
            <a:r>
              <a:rPr lang="bs-Latn-BA" dirty="0">
                <a:latin typeface="Calibri" pitchFamily="34" charset="0"/>
                <a:cs typeface="Calibri" pitchFamily="34" charset="0"/>
              </a:rPr>
              <a:t>a ako ne znate odgovor, jednostavno kažite: „Volio/la bih da ti mogu odgovoriti na to pitanje, ali nažalost, ni ja ne znam odgovor...“</a:t>
            </a:r>
          </a:p>
          <a:p>
            <a:pPr marL="342900" indent="-342900" algn="just">
              <a:buFont typeface="Arial" panose="020B0604020202020204" pitchFamily="34" charset="0"/>
              <a:buChar char="•"/>
            </a:pPr>
            <a:endParaRPr lang="bs-Latn-BA" dirty="0">
              <a:latin typeface="Calibri" pitchFamily="34" charset="0"/>
              <a:cs typeface="Calibri" pitchFamily="34" charset="0"/>
            </a:endParaRPr>
          </a:p>
          <a:p>
            <a:pPr marL="342900" indent="-342900" algn="just">
              <a:buFont typeface="Arial" panose="020B0604020202020204" pitchFamily="34" charset="0"/>
              <a:buChar char="•"/>
            </a:pPr>
            <a:endParaRPr lang="bs-Latn-BA" dirty="0">
              <a:latin typeface="Calibri" pitchFamily="34" charset="0"/>
              <a:cs typeface="Calibri" pitchFamily="34" charset="0"/>
            </a:endParaRPr>
          </a:p>
          <a:p>
            <a:endParaRPr lang="bs-Latn-BA"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D22D14C4-D952-4A06-B7AE-2F7C253C0FC9}"/>
              </a:ext>
            </a:extLst>
          </p:cNvPr>
          <p:cNvSpPr txBox="1"/>
          <p:nvPr/>
        </p:nvSpPr>
        <p:spPr>
          <a:xfrm>
            <a:off x="774550" y="1608083"/>
            <a:ext cx="10639314" cy="3693319"/>
          </a:xfrm>
          <a:prstGeom prst="rect">
            <a:avLst/>
          </a:prstGeom>
          <a:noFill/>
        </p:spPr>
        <p:txBody>
          <a:bodyPr wrap="square">
            <a:spAutoFit/>
          </a:bodyPr>
          <a:lstStyle/>
          <a:p>
            <a:pPr algn="just"/>
            <a:r>
              <a:rPr lang="bs-Latn-BA" dirty="0">
                <a:latin typeface="Calibri" pitchFamily="34" charset="0"/>
                <a:cs typeface="Calibri" pitchFamily="34" charset="0"/>
              </a:rPr>
              <a:t>2. ORGANIZIRATI KOMEMORACIJU – komemoraciju je dobro organizirati za cijelu smjenu (ili za cijelu </a:t>
            </a:r>
            <a:r>
              <a:rPr lang="bs-Latn-BA" dirty="0" smtClean="0">
                <a:latin typeface="Calibri" pitchFamily="34" charset="0"/>
                <a:cs typeface="Calibri" pitchFamily="34" charset="0"/>
              </a:rPr>
              <a:t>školu), </a:t>
            </a:r>
            <a:r>
              <a:rPr lang="bs-Latn-BA" dirty="0">
                <a:latin typeface="Calibri" pitchFamily="34" charset="0"/>
                <a:cs typeface="Calibri" pitchFamily="34" charset="0"/>
              </a:rPr>
              <a:t>a učenici pogođenog razreda, ako to žele, mogu pripremiti nešto u znak sjećanja na </a:t>
            </a:r>
            <a:r>
              <a:rPr lang="bs-Latn-BA" dirty="0" smtClean="0">
                <a:latin typeface="Calibri" pitchFamily="34" charset="0"/>
                <a:cs typeface="Calibri" pitchFamily="34" charset="0"/>
              </a:rPr>
              <a:t>preminulu</a:t>
            </a:r>
            <a:r>
              <a:rPr lang="en-GB" dirty="0" smtClean="0">
                <a:latin typeface="Calibri" pitchFamily="34" charset="0"/>
                <a:cs typeface="Calibri" pitchFamily="34" charset="0"/>
              </a:rPr>
              <a:t>                                    </a:t>
            </a:r>
            <a:r>
              <a:rPr lang="bs-Latn-BA" dirty="0" smtClean="0">
                <a:latin typeface="Calibri" pitchFamily="34" charset="0"/>
                <a:cs typeface="Calibri" pitchFamily="34" charset="0"/>
              </a:rPr>
              <a:t>(npr</a:t>
            </a:r>
            <a:r>
              <a:rPr lang="bs-Latn-BA" dirty="0">
                <a:latin typeface="Calibri" pitchFamily="34" charset="0"/>
                <a:cs typeface="Calibri" pitchFamily="34" charset="0"/>
              </a:rPr>
              <a:t>. ppt –prezentaciju, pjesme, govor i sl.), direktor će se na komemoraciji kratkim govorom obratiti svim </a:t>
            </a:r>
            <a:r>
              <a:rPr lang="en-GB" dirty="0" smtClean="0">
                <a:latin typeface="Calibri" pitchFamily="34" charset="0"/>
                <a:cs typeface="Calibri" pitchFamily="34" charset="0"/>
              </a:rPr>
              <a:t>učesnicima</a:t>
            </a:r>
            <a:r>
              <a:rPr lang="bs-Latn-BA" dirty="0" smtClean="0">
                <a:latin typeface="Calibri" pitchFamily="34" charset="0"/>
                <a:cs typeface="Calibri" pitchFamily="34" charset="0"/>
              </a:rPr>
              <a:t>.</a:t>
            </a:r>
            <a:endParaRPr lang="bs-Latn-BA"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3. MJESTO SJEĆANJA – dobro je odrediti u školi mjesto (stolić, klupu) na kojem će biti postavljena fotografija preminule djevojke, cvijeće, </a:t>
            </a:r>
            <a:r>
              <a:rPr lang="bs-Latn-BA" dirty="0" smtClean="0">
                <a:latin typeface="Calibri" pitchFamily="34" charset="0"/>
                <a:cs typeface="Calibri" pitchFamily="34" charset="0"/>
              </a:rPr>
              <a:t>te </a:t>
            </a:r>
            <a:r>
              <a:rPr lang="bs-Latn-BA" dirty="0">
                <a:latin typeface="Calibri" pitchFamily="34" charset="0"/>
                <a:cs typeface="Calibri" pitchFamily="34" charset="0"/>
              </a:rPr>
              <a:t>knjiga sjećanja u koju svi učenici mogu zapisati svoja razmišljanja i poruke, učenici izravno pogođenog razreda katkada imaju potrebu obilježiti mjesto na kojemu je djevojka </a:t>
            </a:r>
            <a:r>
              <a:rPr lang="bs-Latn-BA" dirty="0" smtClean="0">
                <a:latin typeface="Calibri" pitchFamily="34" charset="0"/>
                <a:cs typeface="Calibri" pitchFamily="34" charset="0"/>
              </a:rPr>
              <a:t>sjedila </a:t>
            </a:r>
            <a:r>
              <a:rPr lang="bs-Latn-BA" dirty="0">
                <a:latin typeface="Calibri" pitchFamily="34" charset="0"/>
                <a:cs typeface="Calibri" pitchFamily="34" charset="0"/>
              </a:rPr>
              <a:t>i savjetujemo vam da im to dopustite (kad </a:t>
            </a:r>
            <a:r>
              <a:rPr lang="bs-Latn-BA" dirty="0" smtClean="0">
                <a:latin typeface="Calibri" pitchFamily="34" charset="0"/>
                <a:cs typeface="Calibri" pitchFamily="34" charset="0"/>
              </a:rPr>
              <a:t>dođemo </a:t>
            </a:r>
            <a:r>
              <a:rPr lang="bs-Latn-BA" dirty="0">
                <a:latin typeface="Calibri" pitchFamily="34" charset="0"/>
                <a:cs typeface="Calibri" pitchFamily="34" charset="0"/>
              </a:rPr>
              <a:t>u školu, dogovorit ćemo se o trenutku i načinu uklanjanja tih obilježja).</a:t>
            </a: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4. </a:t>
            </a:r>
            <a:r>
              <a:rPr lang="en-GB" dirty="0" smtClean="0">
                <a:latin typeface="Calibri" pitchFamily="34" charset="0"/>
                <a:cs typeface="Calibri" pitchFamily="34" charset="0"/>
              </a:rPr>
              <a:t>SAHRANA</a:t>
            </a:r>
            <a:r>
              <a:rPr lang="bs-Latn-BA" dirty="0" smtClean="0">
                <a:latin typeface="Calibri" pitchFamily="34" charset="0"/>
                <a:cs typeface="Calibri" pitchFamily="34" charset="0"/>
              </a:rPr>
              <a:t> </a:t>
            </a:r>
            <a:r>
              <a:rPr lang="bs-Latn-BA" dirty="0">
                <a:latin typeface="Calibri" pitchFamily="34" charset="0"/>
                <a:cs typeface="Calibri" pitchFamily="34" charset="0"/>
              </a:rPr>
              <a:t>– </a:t>
            </a:r>
            <a:r>
              <a:rPr lang="bs-Latn-BA" dirty="0" smtClean="0">
                <a:latin typeface="Calibri" pitchFamily="34" charset="0"/>
                <a:cs typeface="Calibri" pitchFamily="34" charset="0"/>
              </a:rPr>
              <a:t>dobro </a:t>
            </a:r>
            <a:r>
              <a:rPr lang="bs-Latn-BA" dirty="0">
                <a:latin typeface="Calibri" pitchFamily="34" charset="0"/>
                <a:cs typeface="Calibri" pitchFamily="34" charset="0"/>
              </a:rPr>
              <a:t>je organizirati zajednički dolazak učenika na groblje te im pomoći da osmisle neki ritual, neki način na koji će se oprostiti od svoje kolegice (pjesma, sastav koji će neko pročitati, cvijeće itd). Ako učenici to ne žele, nemojte ih siliti na to. Dobro je da toga dana učenici </a:t>
            </a:r>
            <a:r>
              <a:rPr lang="en-GB" dirty="0" smtClean="0">
                <a:latin typeface="Calibri" pitchFamily="34" charset="0"/>
                <a:cs typeface="Calibri" pitchFamily="34" charset="0"/>
              </a:rPr>
              <a:t>8.</a:t>
            </a:r>
            <a:r>
              <a:rPr lang="bs-Latn-BA" dirty="0" smtClean="0">
                <a:latin typeface="Calibri" pitchFamily="34" charset="0"/>
                <a:cs typeface="Calibri" pitchFamily="34" charset="0"/>
              </a:rPr>
              <a:t>razreda </a:t>
            </a:r>
            <a:r>
              <a:rPr lang="bs-Latn-BA" dirty="0">
                <a:latin typeface="Calibri" pitchFamily="34" charset="0"/>
                <a:cs typeface="Calibri" pitchFamily="34" charset="0"/>
              </a:rPr>
              <a:t>nemaju nastavu.</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99F83EA5-9968-42E3-A985-B55D98BB7DF6}"/>
              </a:ext>
            </a:extLst>
          </p:cNvPr>
          <p:cNvSpPr txBox="1"/>
          <p:nvPr/>
        </p:nvSpPr>
        <p:spPr>
          <a:xfrm>
            <a:off x="765698" y="956115"/>
            <a:ext cx="10659047" cy="5078313"/>
          </a:xfrm>
          <a:prstGeom prst="rect">
            <a:avLst/>
          </a:prstGeom>
          <a:noFill/>
        </p:spPr>
        <p:txBody>
          <a:bodyPr wrap="square">
            <a:spAutoFit/>
          </a:bodyPr>
          <a:lstStyle/>
          <a:p>
            <a:r>
              <a:rPr lang="bs-Latn-BA" b="1" dirty="0">
                <a:latin typeface="Calibri" pitchFamily="34" charset="0"/>
                <a:cs typeface="Calibri" pitchFamily="34" charset="0"/>
              </a:rPr>
              <a:t>JOŠ NEKE PREPORUKE:</a:t>
            </a:r>
          </a:p>
          <a:p>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bilo bi dobro da učitelji budu spremni kratko razgovarati o događaju s učenicima svih razrednih odjeljenja (ako oni o tome žele razgovarati) i da pritom budu iskreni, kažu koliko znaju i da priznaju ako nemaju odgovore na neka pitanja;</a:t>
            </a:r>
          </a:p>
          <a:p>
            <a:pPr marL="285750" indent="-285750">
              <a:buFont typeface="Arial" panose="020B0604020202020204" pitchFamily="34" charset="0"/>
              <a:buChar char="•"/>
            </a:pPr>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za </a:t>
            </a:r>
            <a:r>
              <a:rPr lang="bs-Latn-BA" dirty="0" smtClean="0">
                <a:latin typeface="Calibri" pitchFamily="34" charset="0"/>
                <a:cs typeface="Calibri" pitchFamily="34" charset="0"/>
              </a:rPr>
              <a:t>8.razred </a:t>
            </a:r>
            <a:r>
              <a:rPr lang="bs-Latn-BA" dirty="0">
                <a:latin typeface="Calibri" pitchFamily="34" charset="0"/>
                <a:cs typeface="Calibri" pitchFamily="34" charset="0"/>
              </a:rPr>
              <a:t>treba organizirati boravak u školi prema rasporedu, </a:t>
            </a:r>
            <a:r>
              <a:rPr lang="en-GB" dirty="0" err="1" smtClean="0">
                <a:latin typeface="Calibri" pitchFamily="34" charset="0"/>
                <a:cs typeface="Calibri" pitchFamily="34" charset="0"/>
              </a:rPr>
              <a:t>ali</a:t>
            </a:r>
            <a:r>
              <a:rPr lang="bs-Latn-BA" dirty="0" smtClean="0">
                <a:latin typeface="Calibri" pitchFamily="34" charset="0"/>
                <a:cs typeface="Calibri" pitchFamily="34" charset="0"/>
              </a:rPr>
              <a:t> </a:t>
            </a:r>
            <a:r>
              <a:rPr lang="bs-Latn-BA" dirty="0">
                <a:latin typeface="Calibri" pitchFamily="34" charset="0"/>
                <a:cs typeface="Calibri" pitchFamily="34" charset="0"/>
              </a:rPr>
              <a:t>važno je rasteretiti nastavu – raditi nešto lagano, dati da se izraze (napišu, nacrtaju i sl.);</a:t>
            </a:r>
          </a:p>
          <a:p>
            <a:pPr marL="285750" indent="-285750">
              <a:buFont typeface="Arial" panose="020B0604020202020204" pitchFamily="34" charset="0"/>
              <a:buChar char="•"/>
            </a:pPr>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pratiti/uočiti učenike rizične za </a:t>
            </a:r>
            <a:r>
              <a:rPr lang="bs-Latn-BA" dirty="0" smtClean="0">
                <a:latin typeface="Calibri" pitchFamily="34" charset="0"/>
                <a:cs typeface="Calibri" pitchFamily="34" charset="0"/>
              </a:rPr>
              <a:t>samo</a:t>
            </a:r>
            <a:r>
              <a:rPr lang="en-GB" dirty="0" smtClean="0">
                <a:latin typeface="Calibri" pitchFamily="34" charset="0"/>
                <a:cs typeface="Calibri" pitchFamily="34" charset="0"/>
              </a:rPr>
              <a:t>ubistvo</a:t>
            </a:r>
            <a:r>
              <a:rPr lang="bs-Latn-BA" dirty="0" smtClean="0">
                <a:latin typeface="Calibri" pitchFamily="34" charset="0"/>
                <a:cs typeface="Calibri" pitchFamily="34" charset="0"/>
              </a:rPr>
              <a:t>.</a:t>
            </a:r>
            <a:endParaRPr lang="bs-Latn-BA" dirty="0">
              <a:latin typeface="Calibri" pitchFamily="34" charset="0"/>
              <a:cs typeface="Calibri" pitchFamily="34" charset="0"/>
            </a:endParaRPr>
          </a:p>
          <a:p>
            <a:pPr marL="285750" indent="-285750">
              <a:buFont typeface="Arial" panose="020B0604020202020204" pitchFamily="34" charset="0"/>
              <a:buChar char="•"/>
            </a:pPr>
            <a:endParaRPr lang="bs-Latn-BA" dirty="0">
              <a:latin typeface="Calibri" pitchFamily="34" charset="0"/>
              <a:cs typeface="Calibri" pitchFamily="34" charset="0"/>
            </a:endParaRPr>
          </a:p>
          <a:p>
            <a:r>
              <a:rPr lang="bs-Latn-BA" b="1" dirty="0">
                <a:latin typeface="Calibri" pitchFamily="34" charset="0"/>
                <a:cs typeface="Calibri" pitchFamily="34" charset="0"/>
              </a:rPr>
              <a:t>Obilježja KRIZNOG DOGAĐAJA</a:t>
            </a:r>
          </a:p>
          <a:p>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iznenadan i uznemirujući za većinu ljudi</a:t>
            </a:r>
          </a:p>
          <a:p>
            <a:pPr marL="285750" indent="-285750">
              <a:buFont typeface="Arial" panose="020B0604020202020204" pitchFamily="34" charset="0"/>
              <a:buChar char="•"/>
            </a:pPr>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uključuje gubitak osobe koja je važna za skupinu</a:t>
            </a:r>
          </a:p>
          <a:p>
            <a:pPr marL="285750" indent="-285750">
              <a:buFont typeface="Arial" panose="020B0604020202020204" pitchFamily="34" charset="0"/>
              <a:buChar char="•"/>
            </a:pPr>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ljudi imaju </a:t>
            </a:r>
            <a:r>
              <a:rPr lang="bs-Latn-BA" dirty="0" smtClean="0">
                <a:latin typeface="Calibri" pitchFamily="34" charset="0"/>
                <a:cs typeface="Calibri" pitchFamily="34" charset="0"/>
              </a:rPr>
              <a:t>osjećaj </a:t>
            </a:r>
            <a:r>
              <a:rPr lang="bs-Latn-BA" dirty="0">
                <a:latin typeface="Calibri" pitchFamily="34" charset="0"/>
                <a:cs typeface="Calibri" pitchFamily="34" charset="0"/>
              </a:rPr>
              <a:t>da im se pojavljuju neke reakcije (postupci) koje ne mogu </a:t>
            </a:r>
            <a:r>
              <a:rPr lang="bs-Latn-BA" dirty="0" smtClean="0">
                <a:latin typeface="Calibri" pitchFamily="34" charset="0"/>
                <a:cs typeface="Calibri" pitchFamily="34" charset="0"/>
              </a:rPr>
              <a:t>kontrolisati</a:t>
            </a:r>
            <a:endParaRPr lang="bs-Latn-BA" dirty="0">
              <a:latin typeface="Calibri" pitchFamily="34" charset="0"/>
              <a:cs typeface="Calibri"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A9A84C5C-4ED9-4955-B51E-71F2FCA4B868}"/>
              </a:ext>
            </a:extLst>
          </p:cNvPr>
          <p:cNvSpPr txBox="1"/>
          <p:nvPr/>
        </p:nvSpPr>
        <p:spPr>
          <a:xfrm>
            <a:off x="756744" y="1275710"/>
            <a:ext cx="10689022" cy="4247317"/>
          </a:xfrm>
          <a:prstGeom prst="rect">
            <a:avLst/>
          </a:prstGeom>
          <a:noFill/>
        </p:spPr>
        <p:txBody>
          <a:bodyPr wrap="square">
            <a:spAutoFit/>
          </a:bodyPr>
          <a:lstStyle/>
          <a:p>
            <a:endParaRPr lang="bs-Latn-BA" dirty="0">
              <a:latin typeface="Calibri" pitchFamily="34" charset="0"/>
              <a:cs typeface="Calibri" pitchFamily="34" charset="0"/>
            </a:endParaRPr>
          </a:p>
          <a:p>
            <a:endParaRPr lang="bs-Latn-BA" b="1" dirty="0">
              <a:latin typeface="Calibri" pitchFamily="34" charset="0"/>
              <a:cs typeface="Calibri" pitchFamily="34" charset="0"/>
            </a:endParaRPr>
          </a:p>
          <a:p>
            <a:r>
              <a:rPr lang="bs-Latn-BA" b="1" dirty="0">
                <a:latin typeface="Calibri" pitchFamily="34" charset="0"/>
                <a:cs typeface="Calibri" pitchFamily="34" charset="0"/>
              </a:rPr>
              <a:t>UOBIČAJENE REAKCIJE NA KRIZNI DOGAĐAJ:</a:t>
            </a:r>
          </a:p>
          <a:p>
            <a:endParaRPr lang="bs-Latn-BA" dirty="0">
              <a:latin typeface="Calibri" pitchFamily="34" charset="0"/>
              <a:cs typeface="Calibri" pitchFamily="34" charset="0"/>
            </a:endParaRPr>
          </a:p>
          <a:p>
            <a:r>
              <a:rPr lang="bs-Latn-BA" dirty="0">
                <a:latin typeface="Calibri" pitchFamily="34" charset="0"/>
                <a:cs typeface="Calibri" pitchFamily="34" charset="0"/>
              </a:rPr>
              <a:t>Emocionalne reakcije</a:t>
            </a:r>
          </a:p>
          <a:p>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osjećaj krivnje</a:t>
            </a:r>
          </a:p>
          <a:p>
            <a:pPr marL="285750" indent="-285750">
              <a:buFont typeface="Arial" panose="020B0604020202020204" pitchFamily="34" charset="0"/>
              <a:buChar char="•"/>
            </a:pPr>
            <a:r>
              <a:rPr lang="bs-Latn-BA" dirty="0">
                <a:latin typeface="Calibri" pitchFamily="34" charset="0"/>
                <a:cs typeface="Calibri" pitchFamily="34" charset="0"/>
              </a:rPr>
              <a:t>strah</a:t>
            </a:r>
          </a:p>
          <a:p>
            <a:pPr marL="285750" indent="-285750">
              <a:buFont typeface="Arial" panose="020B0604020202020204" pitchFamily="34" charset="0"/>
              <a:buChar char="•"/>
            </a:pPr>
            <a:r>
              <a:rPr lang="bs-Latn-BA" dirty="0">
                <a:latin typeface="Calibri" pitchFamily="34" charset="0"/>
                <a:cs typeface="Calibri" pitchFamily="34" charset="0"/>
              </a:rPr>
              <a:t>briga za vlastitu sigurnost ili sigurnost najbližih</a:t>
            </a:r>
          </a:p>
          <a:p>
            <a:pPr marL="285750" indent="-285750">
              <a:buFont typeface="Arial" panose="020B0604020202020204" pitchFamily="34" charset="0"/>
              <a:buChar char="•"/>
            </a:pPr>
            <a:r>
              <a:rPr lang="bs-Latn-BA" dirty="0">
                <a:latin typeface="Calibri" pitchFamily="34" charset="0"/>
                <a:cs typeface="Calibri" pitchFamily="34" charset="0"/>
              </a:rPr>
              <a:t>tuga</a:t>
            </a:r>
          </a:p>
          <a:p>
            <a:pPr marL="285750" indent="-285750">
              <a:buFont typeface="Arial" panose="020B0604020202020204" pitchFamily="34" charset="0"/>
              <a:buChar char="•"/>
            </a:pPr>
            <a:r>
              <a:rPr lang="bs-Latn-BA" dirty="0">
                <a:latin typeface="Calibri" pitchFamily="34" charset="0"/>
                <a:cs typeface="Calibri" pitchFamily="34" charset="0"/>
              </a:rPr>
              <a:t>promjena raspoloženja</a:t>
            </a:r>
          </a:p>
          <a:p>
            <a:pPr marL="285750" indent="-285750">
              <a:buFont typeface="Arial" panose="020B0604020202020204" pitchFamily="34" charset="0"/>
              <a:buChar char="•"/>
            </a:pPr>
            <a:r>
              <a:rPr lang="bs-Latn-BA" dirty="0">
                <a:latin typeface="Calibri" pitchFamily="34" charset="0"/>
                <a:cs typeface="Calibri" pitchFamily="34" charset="0"/>
              </a:rPr>
              <a:t>razdražljivost</a:t>
            </a:r>
          </a:p>
          <a:p>
            <a:pPr marL="285750" indent="-285750">
              <a:buFont typeface="Arial" panose="020B0604020202020204" pitchFamily="34" charset="0"/>
              <a:buChar char="•"/>
            </a:pPr>
            <a:r>
              <a:rPr lang="bs-Latn-BA" dirty="0">
                <a:latin typeface="Calibri" pitchFamily="34" charset="0"/>
                <a:cs typeface="Calibri" pitchFamily="34" charset="0"/>
              </a:rPr>
              <a:t>zaleđenost</a:t>
            </a:r>
          </a:p>
          <a:p>
            <a:pPr marL="285750" indent="-285750">
              <a:buFont typeface="Arial" panose="020B0604020202020204" pitchFamily="34" charset="0"/>
              <a:buChar char="•"/>
            </a:pPr>
            <a:r>
              <a:rPr lang="bs-Latn-BA" dirty="0">
                <a:latin typeface="Calibri" pitchFamily="34" charset="0"/>
                <a:cs typeface="Calibri" pitchFamily="34" charset="0"/>
              </a:rPr>
              <a:t>stid (npr. zbog pokazivanja osjećaja, zbog nečeg što jest ili nije učinjeno itd.)</a:t>
            </a:r>
          </a:p>
          <a:p>
            <a:pPr marL="285750" indent="-285750">
              <a:buFont typeface="Arial" panose="020B0604020202020204" pitchFamily="34" charset="0"/>
              <a:buChar char="•"/>
            </a:pPr>
            <a:r>
              <a:rPr lang="bs-Latn-BA" dirty="0">
                <a:latin typeface="Calibri" pitchFamily="34" charset="0"/>
                <a:cs typeface="Calibri" pitchFamily="34" charset="0"/>
              </a:rPr>
              <a:t>tjeskoba</a:t>
            </a:r>
            <a:endParaRPr lang="bs-Latn-BA"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februar 2024. godine</a:t>
            </a:r>
          </a:p>
        </p:txBody>
      </p:sp>
      <p:sp>
        <p:nvSpPr>
          <p:cNvPr id="4" name="TextBox 3">
            <a:extLst>
              <a:ext uri="{FF2B5EF4-FFF2-40B4-BE49-F238E27FC236}">
                <a16:creationId xmlns:a16="http://schemas.microsoft.com/office/drawing/2014/main" xmlns="" id="{19232985-9993-4756-8066-B5FDE648FBCC}"/>
              </a:ext>
            </a:extLst>
          </p:cNvPr>
          <p:cNvSpPr txBox="1"/>
          <p:nvPr/>
        </p:nvSpPr>
        <p:spPr>
          <a:xfrm>
            <a:off x="746235" y="1275710"/>
            <a:ext cx="10731062" cy="5078313"/>
          </a:xfrm>
          <a:prstGeom prst="rect">
            <a:avLst/>
          </a:prstGeom>
          <a:noFill/>
        </p:spPr>
        <p:txBody>
          <a:bodyPr wrap="square">
            <a:spAutoFit/>
          </a:bodyPr>
          <a:lstStyle/>
          <a:p>
            <a:pPr algn="just"/>
            <a:r>
              <a:rPr lang="bs-Latn-BA" dirty="0">
                <a:latin typeface="Calibri" pitchFamily="34" charset="0"/>
                <a:cs typeface="Calibri" pitchFamily="34" charset="0"/>
              </a:rPr>
              <a:t>Ponašanje</a:t>
            </a:r>
          </a:p>
          <a:p>
            <a:pPr algn="just"/>
            <a:endParaRPr lang="bs-Latn-BA" dirty="0">
              <a:latin typeface="Calibri" pitchFamily="34" charset="0"/>
              <a:cs typeface="Calibri" pitchFamily="34" charset="0"/>
            </a:endParaRPr>
          </a:p>
          <a:p>
            <a:pPr marL="285750" indent="-285750" algn="just">
              <a:buFont typeface="Arial" panose="020B0604020202020204" pitchFamily="34" charset="0"/>
              <a:buChar char="•"/>
            </a:pPr>
            <a:r>
              <a:rPr lang="bs-Latn-BA" dirty="0">
                <a:latin typeface="Calibri" pitchFamily="34" charset="0"/>
                <a:cs typeface="Calibri" pitchFamily="34" charset="0"/>
              </a:rPr>
              <a:t>povlačenje u sebe – pretjerana aktivnost</a:t>
            </a:r>
          </a:p>
          <a:p>
            <a:pPr marL="285750" indent="-285750" algn="just">
              <a:buFont typeface="Arial" panose="020B0604020202020204" pitchFamily="34" charset="0"/>
              <a:buChar char="•"/>
            </a:pPr>
            <a:r>
              <a:rPr lang="bs-Latn-BA" dirty="0">
                <a:latin typeface="Calibri" pitchFamily="34" charset="0"/>
                <a:cs typeface="Calibri" pitchFamily="34" charset="0"/>
              </a:rPr>
              <a:t>agresivnost – razdražljivost</a:t>
            </a:r>
          </a:p>
          <a:p>
            <a:pPr marL="285750" indent="-285750" algn="just">
              <a:buFont typeface="Arial" panose="020B0604020202020204" pitchFamily="34" charset="0"/>
              <a:buChar char="•"/>
            </a:pPr>
            <a:r>
              <a:rPr lang="bs-Latn-BA" dirty="0">
                <a:latin typeface="Calibri" pitchFamily="34" charset="0"/>
                <a:cs typeface="Calibri" pitchFamily="34" charset="0"/>
              </a:rPr>
              <a:t>plačljivost</a:t>
            </a:r>
          </a:p>
          <a:p>
            <a:pPr marL="285750" indent="-285750" algn="just">
              <a:buFont typeface="Arial" panose="020B0604020202020204" pitchFamily="34" charset="0"/>
              <a:buChar char="•"/>
            </a:pPr>
            <a:r>
              <a:rPr lang="bs-Latn-BA" dirty="0">
                <a:latin typeface="Calibri" pitchFamily="34" charset="0"/>
                <a:cs typeface="Calibri" pitchFamily="34" charset="0"/>
              </a:rPr>
              <a:t>potreba za razgovorom</a:t>
            </a:r>
          </a:p>
          <a:p>
            <a:pPr marL="285750" indent="-285750" algn="just">
              <a:buFont typeface="Arial" panose="020B0604020202020204" pitchFamily="34" charset="0"/>
              <a:buChar char="•"/>
            </a:pPr>
            <a:r>
              <a:rPr lang="bs-Latn-BA" dirty="0">
                <a:latin typeface="Calibri" pitchFamily="34" charset="0"/>
                <a:cs typeface="Calibri" pitchFamily="34" charset="0"/>
              </a:rPr>
              <a:t>psihomotorna nespretnost</a:t>
            </a:r>
          </a:p>
          <a:p>
            <a:pPr marL="285750" indent="-285750" algn="just">
              <a:buFont typeface="Arial" panose="020B0604020202020204" pitchFamily="34" charset="0"/>
              <a:buChar char="•"/>
            </a:pPr>
            <a:r>
              <a:rPr lang="bs-Latn-BA" dirty="0">
                <a:latin typeface="Calibri" pitchFamily="34" charset="0"/>
                <a:cs typeface="Calibri" pitchFamily="34" charset="0"/>
              </a:rPr>
              <a:t>regresivno ponašanje (ponašanje svojstveno mlađoj djeci)</a:t>
            </a:r>
          </a:p>
          <a:p>
            <a:pPr marL="285750" indent="-285750" algn="just">
              <a:buFont typeface="Arial" panose="020B0604020202020204" pitchFamily="34" charset="0"/>
              <a:buChar char="•"/>
            </a:pPr>
            <a:endParaRPr lang="bs-Latn-BA" dirty="0">
              <a:latin typeface="Calibri" pitchFamily="34" charset="0"/>
              <a:cs typeface="Calibri" pitchFamily="34" charset="0"/>
            </a:endParaRPr>
          </a:p>
          <a:p>
            <a:pPr algn="just"/>
            <a:r>
              <a:rPr lang="bs-Latn-BA" dirty="0">
                <a:latin typeface="Calibri" pitchFamily="34" charset="0"/>
                <a:cs typeface="Calibri" pitchFamily="34" charset="0"/>
              </a:rPr>
              <a:t>Tjelesne reakcije</a:t>
            </a:r>
          </a:p>
          <a:p>
            <a:pPr algn="just"/>
            <a:endParaRPr lang="bs-Latn-BA" dirty="0">
              <a:latin typeface="Calibri" pitchFamily="34" charset="0"/>
              <a:cs typeface="Calibri" pitchFamily="34" charset="0"/>
            </a:endParaRPr>
          </a:p>
          <a:p>
            <a:pPr marL="285750" indent="-285750" algn="just">
              <a:buFont typeface="Arial" panose="020B0604020202020204" pitchFamily="34" charset="0"/>
              <a:buChar char="•"/>
            </a:pPr>
            <a:r>
              <a:rPr lang="bs-Latn-BA" dirty="0">
                <a:latin typeface="Calibri" pitchFamily="34" charset="0"/>
                <a:cs typeface="Calibri" pitchFamily="34" charset="0"/>
              </a:rPr>
              <a:t>drhtanje, znojenje, ubrzano disanje, lupanje srca</a:t>
            </a:r>
          </a:p>
          <a:p>
            <a:pPr marL="285750" indent="-285750" algn="just">
              <a:buFont typeface="Arial" panose="020B0604020202020204" pitchFamily="34" charset="0"/>
              <a:buChar char="•"/>
            </a:pPr>
            <a:r>
              <a:rPr lang="bs-Latn-BA" dirty="0">
                <a:latin typeface="Calibri" pitchFamily="34" charset="0"/>
                <a:cs typeface="Calibri" pitchFamily="34" charset="0"/>
              </a:rPr>
              <a:t>probavne smetnje</a:t>
            </a:r>
          </a:p>
          <a:p>
            <a:pPr marL="285750" indent="-285750" algn="just">
              <a:buFont typeface="Arial" panose="020B0604020202020204" pitchFamily="34" charset="0"/>
              <a:buChar char="•"/>
            </a:pPr>
            <a:r>
              <a:rPr lang="bs-Latn-BA" dirty="0">
                <a:latin typeface="Calibri" pitchFamily="34" charset="0"/>
                <a:cs typeface="Calibri" pitchFamily="34" charset="0"/>
              </a:rPr>
              <a:t>mučnina</a:t>
            </a:r>
          </a:p>
          <a:p>
            <a:pPr marL="285750" indent="-285750" algn="just">
              <a:buFont typeface="Arial" panose="020B0604020202020204" pitchFamily="34" charset="0"/>
              <a:buChar char="•"/>
            </a:pPr>
            <a:r>
              <a:rPr lang="bs-Latn-BA" dirty="0">
                <a:latin typeface="Calibri" pitchFamily="34" charset="0"/>
                <a:cs typeface="Calibri" pitchFamily="34" charset="0"/>
              </a:rPr>
              <a:t>bolovi (glavobolje, bolovi u prsnom košu, </a:t>
            </a:r>
            <a:r>
              <a:rPr lang="en-GB" dirty="0" smtClean="0">
                <a:latin typeface="Calibri" pitchFamily="34" charset="0"/>
                <a:cs typeface="Calibri" pitchFamily="34" charset="0"/>
              </a:rPr>
              <a:t>stomačne tegobe</a:t>
            </a:r>
            <a:r>
              <a:rPr lang="bs-Latn-BA" dirty="0" smtClean="0">
                <a:latin typeface="Calibri" pitchFamily="34" charset="0"/>
                <a:cs typeface="Calibri" pitchFamily="34" charset="0"/>
              </a:rPr>
              <a:t>)</a:t>
            </a:r>
            <a:endParaRPr lang="bs-Latn-BA" dirty="0">
              <a:latin typeface="Calibri" pitchFamily="34" charset="0"/>
              <a:cs typeface="Calibri" pitchFamily="34" charset="0"/>
            </a:endParaRPr>
          </a:p>
          <a:p>
            <a:pPr marL="285750" indent="-285750" algn="just">
              <a:buFont typeface="Arial" panose="020B0604020202020204" pitchFamily="34" charset="0"/>
              <a:buChar char="•"/>
            </a:pPr>
            <a:r>
              <a:rPr lang="bs-Latn-BA" dirty="0">
                <a:latin typeface="Calibri" pitchFamily="34" charset="0"/>
                <a:cs typeface="Calibri" pitchFamily="34" charset="0"/>
              </a:rPr>
              <a:t>problemi pri uspavljivanju</a:t>
            </a:r>
          </a:p>
          <a:p>
            <a:pPr marL="285750" indent="-285750" algn="just">
              <a:buFont typeface="Arial" panose="020B0604020202020204" pitchFamily="34" charset="0"/>
              <a:buChar char="•"/>
            </a:pPr>
            <a:r>
              <a:rPr lang="bs-Latn-BA" dirty="0">
                <a:latin typeface="Calibri" pitchFamily="34" charset="0"/>
                <a:cs typeface="Calibri" pitchFamily="34" charset="0"/>
              </a:rPr>
              <a:t>problemi sa spavanjem (noćne more, ružni snovi)</a:t>
            </a:r>
          </a:p>
          <a:p>
            <a:pPr marL="285750" indent="-285750" algn="just">
              <a:buFont typeface="Arial" panose="020B0604020202020204" pitchFamily="34" charset="0"/>
              <a:buChar char="•"/>
            </a:pPr>
            <a:r>
              <a:rPr lang="bs-Latn-BA" dirty="0">
                <a:latin typeface="Calibri" pitchFamily="34" charset="0"/>
                <a:cs typeface="Calibri" pitchFamily="34" charset="0"/>
              </a:rPr>
              <a:t>promjene u apetitu</a:t>
            </a:r>
            <a:endParaRPr lang="bs-Latn-BA"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E2FDDC6-6361-48F6-BBCF-E237CE2A3FAC}"/>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 </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4" name="TextBox 3">
            <a:extLst>
              <a:ext uri="{FF2B5EF4-FFF2-40B4-BE49-F238E27FC236}">
                <a16:creationId xmlns:a16="http://schemas.microsoft.com/office/drawing/2014/main" xmlns="" id="{654427C0-8E7A-4068-9F3C-F14765151456}"/>
              </a:ext>
            </a:extLst>
          </p:cNvPr>
          <p:cNvSpPr txBox="1"/>
          <p:nvPr/>
        </p:nvSpPr>
        <p:spPr>
          <a:xfrm>
            <a:off x="746234" y="1187669"/>
            <a:ext cx="10625959" cy="3970318"/>
          </a:xfrm>
          <a:prstGeom prst="rect">
            <a:avLst/>
          </a:prstGeom>
          <a:noFill/>
        </p:spPr>
        <p:txBody>
          <a:bodyPr wrap="square">
            <a:spAutoFit/>
          </a:bodyPr>
          <a:lstStyle/>
          <a:p>
            <a:pPr algn="just"/>
            <a:endParaRPr lang="bs-Latn-BA" dirty="0">
              <a:latin typeface="Calibri" pitchFamily="34" charset="0"/>
              <a:cs typeface="Calibri" pitchFamily="34" charset="0"/>
            </a:endParaRPr>
          </a:p>
          <a:p>
            <a:pPr algn="just"/>
            <a:endParaRPr lang="bs-Latn-BA" dirty="0">
              <a:latin typeface="Calibri" pitchFamily="34" charset="0"/>
              <a:cs typeface="Calibri" pitchFamily="34" charset="0"/>
            </a:endParaRPr>
          </a:p>
          <a:p>
            <a:pPr algn="just"/>
            <a:r>
              <a:rPr lang="bs-Latn-BA" dirty="0">
                <a:latin typeface="Calibri" pitchFamily="34" charset="0"/>
                <a:cs typeface="Calibri" pitchFamily="34" charset="0"/>
              </a:rPr>
              <a:t>Misaone reakcije</a:t>
            </a:r>
          </a:p>
          <a:p>
            <a:pPr algn="just"/>
            <a:endParaRPr lang="bs-Latn-BA" dirty="0">
              <a:latin typeface="Calibri" pitchFamily="34" charset="0"/>
              <a:cs typeface="Calibri" pitchFamily="34" charset="0"/>
            </a:endParaRPr>
          </a:p>
          <a:p>
            <a:pPr marL="285750" indent="-285750" algn="just">
              <a:buFont typeface="Arial" panose="020B0604020202020204" pitchFamily="34" charset="0"/>
              <a:buChar char="•"/>
            </a:pPr>
            <a:r>
              <a:rPr lang="bs-Latn-BA" dirty="0">
                <a:latin typeface="Calibri" pitchFamily="34" charset="0"/>
                <a:cs typeface="Calibri" pitchFamily="34" charset="0"/>
              </a:rPr>
              <a:t>nevjerica</a:t>
            </a:r>
          </a:p>
          <a:p>
            <a:pPr marL="285750" indent="-285750" algn="just">
              <a:buFont typeface="Arial" panose="020B0604020202020204" pitchFamily="34" charset="0"/>
              <a:buChar char="•"/>
            </a:pPr>
            <a:r>
              <a:rPr lang="bs-Latn-BA" dirty="0">
                <a:latin typeface="Calibri" pitchFamily="34" charset="0"/>
                <a:cs typeface="Calibri" pitchFamily="34" charset="0"/>
              </a:rPr>
              <a:t>pitanja na koja ne postoje odgovori („Zašto ona?“, „Zašto baš sada?“)</a:t>
            </a:r>
          </a:p>
          <a:p>
            <a:pPr marL="285750" indent="-285750" algn="just">
              <a:buFont typeface="Arial" panose="020B0604020202020204" pitchFamily="34" charset="0"/>
              <a:buChar char="•"/>
            </a:pPr>
            <a:r>
              <a:rPr lang="bs-Latn-BA" dirty="0">
                <a:latin typeface="Calibri" pitchFamily="34" charset="0"/>
                <a:cs typeface="Calibri" pitchFamily="34" charset="0"/>
              </a:rPr>
              <a:t>optuživanje (samooptuživanje)</a:t>
            </a:r>
          </a:p>
          <a:p>
            <a:pPr marL="285750" indent="-285750" algn="just">
              <a:buFont typeface="Arial" panose="020B0604020202020204" pitchFamily="34" charset="0"/>
              <a:buChar char="•"/>
            </a:pPr>
            <a:r>
              <a:rPr lang="bs-Latn-BA" dirty="0">
                <a:latin typeface="Calibri" pitchFamily="34" charset="0"/>
                <a:cs typeface="Calibri" pitchFamily="34" charset="0"/>
              </a:rPr>
              <a:t>često prisjećanje na događaj i potreba da se o tome govori (vraćanje slika i zvukova vezanih za događaj bez mogućnosti kontrole)</a:t>
            </a:r>
          </a:p>
          <a:p>
            <a:pPr marL="285750" indent="-285750" algn="just">
              <a:buFont typeface="Arial" panose="020B0604020202020204" pitchFamily="34" charset="0"/>
              <a:buChar char="•"/>
            </a:pPr>
            <a:r>
              <a:rPr lang="bs-Latn-BA" dirty="0">
                <a:latin typeface="Calibri" pitchFamily="34" charset="0"/>
                <a:cs typeface="Calibri" pitchFamily="34" charset="0"/>
              </a:rPr>
              <a:t>praznovjerje</a:t>
            </a:r>
          </a:p>
          <a:p>
            <a:pPr marL="285750" indent="-285750" algn="just">
              <a:buFont typeface="Arial" panose="020B0604020202020204" pitchFamily="34" charset="0"/>
              <a:buChar char="•"/>
            </a:pPr>
            <a:r>
              <a:rPr lang="bs-Latn-BA" dirty="0">
                <a:latin typeface="Calibri" pitchFamily="34" charset="0"/>
                <a:cs typeface="Calibri" pitchFamily="34" charset="0"/>
              </a:rPr>
              <a:t>postavljanje pitanja o smislu života</a:t>
            </a:r>
          </a:p>
          <a:p>
            <a:pPr marL="285750" indent="-285750" algn="just">
              <a:buFont typeface="Arial" panose="020B0604020202020204" pitchFamily="34" charset="0"/>
              <a:buChar char="•"/>
            </a:pPr>
            <a:r>
              <a:rPr lang="bs-Latn-BA" dirty="0">
                <a:latin typeface="Calibri" pitchFamily="34" charset="0"/>
                <a:cs typeface="Calibri" pitchFamily="34" charset="0"/>
              </a:rPr>
              <a:t>„zbrka“ u glavi (teškoće pažnje, koncentracije, pamćenja, dosjećanja zapamćenog, logičkog zaključivanja,</a:t>
            </a:r>
          </a:p>
          <a:p>
            <a:pPr algn="just"/>
            <a:r>
              <a:rPr lang="bs-Latn-BA" dirty="0">
                <a:latin typeface="Calibri" pitchFamily="34" charset="0"/>
                <a:cs typeface="Calibri" pitchFamily="34" charset="0"/>
              </a:rPr>
              <a:t>     „bijeg misli“, teškoće u </a:t>
            </a:r>
            <a:r>
              <a:rPr lang="bs-Latn-BA" dirty="0" smtClean="0">
                <a:latin typeface="Calibri" pitchFamily="34" charset="0"/>
                <a:cs typeface="Calibri" pitchFamily="34" charset="0"/>
              </a:rPr>
              <a:t>odlučivanju)</a:t>
            </a:r>
            <a:endParaRPr lang="bs-Latn-BA" dirty="0">
              <a:latin typeface="Calibri" pitchFamily="34" charset="0"/>
              <a:cs typeface="Calibri" pitchFamily="34" charset="0"/>
            </a:endParaRPr>
          </a:p>
          <a:p>
            <a:pPr marL="285750" indent="-285750" algn="just">
              <a:buFont typeface="Arial" panose="020B0604020202020204" pitchFamily="34" charset="0"/>
              <a:buChar char="•"/>
            </a:pPr>
            <a:r>
              <a:rPr lang="bs-Latn-BA" dirty="0">
                <a:latin typeface="Calibri" pitchFamily="34" charset="0"/>
                <a:cs typeface="Calibri" pitchFamily="34" charset="0"/>
              </a:rPr>
              <a:t>gubitak interesa za uobičajene aktivnosti</a:t>
            </a:r>
          </a:p>
        </p:txBody>
      </p:sp>
    </p:spTree>
    <p:extLst>
      <p:ext uri="{BB962C8B-B14F-4D97-AF65-F5344CB8AC3E}">
        <p14:creationId xmlns:p14="http://schemas.microsoft.com/office/powerpoint/2010/main" xmlns="" val="3802788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6578D141-1A34-452D-8ACA-CB23382506C6}"/>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 </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4" name="TextBox 3">
            <a:extLst>
              <a:ext uri="{FF2B5EF4-FFF2-40B4-BE49-F238E27FC236}">
                <a16:creationId xmlns:a16="http://schemas.microsoft.com/office/drawing/2014/main" xmlns="" id="{F58AEE9A-3FE3-4CCF-BC18-7109B69F59C3}"/>
              </a:ext>
            </a:extLst>
          </p:cNvPr>
          <p:cNvSpPr txBox="1"/>
          <p:nvPr/>
        </p:nvSpPr>
        <p:spPr>
          <a:xfrm>
            <a:off x="746234" y="1151423"/>
            <a:ext cx="10699532" cy="4247317"/>
          </a:xfrm>
          <a:prstGeom prst="rect">
            <a:avLst/>
          </a:prstGeom>
          <a:noFill/>
        </p:spPr>
        <p:txBody>
          <a:bodyPr wrap="square">
            <a:spAutoFit/>
          </a:bodyPr>
          <a:lstStyle/>
          <a:p>
            <a:pPr algn="just"/>
            <a:endParaRPr lang="bs-Latn-BA" b="1" dirty="0"/>
          </a:p>
          <a:p>
            <a:pPr algn="just"/>
            <a:endParaRPr lang="bs-Latn-BA" b="1" dirty="0"/>
          </a:p>
          <a:p>
            <a:pPr algn="just"/>
            <a:r>
              <a:rPr lang="bs-Latn-BA" b="1" dirty="0"/>
              <a:t>KAKO UČITELJI MOGU POMOĆI DJECI?</a:t>
            </a:r>
          </a:p>
          <a:p>
            <a:pPr algn="just"/>
            <a:endParaRPr lang="bs-Latn-BA" b="1" dirty="0"/>
          </a:p>
          <a:p>
            <a:pPr marL="285750" indent="-285750" algn="just">
              <a:buFont typeface="Arial" panose="020B0604020202020204" pitchFamily="34" charset="0"/>
              <a:buChar char="•"/>
            </a:pPr>
            <a:r>
              <a:rPr lang="bs-Latn-BA" dirty="0"/>
              <a:t>budite strpljivi</a:t>
            </a:r>
          </a:p>
          <a:p>
            <a:pPr marL="285750" indent="-285750" algn="just">
              <a:buFont typeface="Arial" panose="020B0604020202020204" pitchFamily="34" charset="0"/>
              <a:buChar char="•"/>
            </a:pPr>
            <a:r>
              <a:rPr lang="bs-Latn-BA" dirty="0"/>
              <a:t>nemojte ih poticati da ne misle na događaj i da ga zaborave – to nije moguće</a:t>
            </a:r>
          </a:p>
          <a:p>
            <a:pPr marL="285750" indent="-285750" algn="just">
              <a:buFont typeface="Arial" panose="020B0604020202020204" pitchFamily="34" charset="0"/>
              <a:buChar char="•"/>
            </a:pPr>
            <a:r>
              <a:rPr lang="bs-Latn-BA" dirty="0"/>
              <a:t>na neka pitanja nećete imati odgovor (npr. „Zašto se to baš njemu (nama) dogodilo?), </a:t>
            </a:r>
            <a:r>
              <a:rPr lang="en-GB" dirty="0" smtClean="0"/>
              <a:t>pa</a:t>
            </a:r>
            <a:r>
              <a:rPr lang="bs-Latn-BA" dirty="0" smtClean="0"/>
              <a:t> </a:t>
            </a:r>
            <a:r>
              <a:rPr lang="bs-Latn-BA" dirty="0"/>
              <a:t>odgovorite: „Nažalost, na to pitanje nemamo odgovor“)</a:t>
            </a:r>
          </a:p>
          <a:p>
            <a:pPr marL="285750" indent="-285750" algn="just">
              <a:buFont typeface="Arial" panose="020B0604020202020204" pitchFamily="34" charset="0"/>
              <a:buChar char="•"/>
            </a:pPr>
            <a:r>
              <a:rPr lang="bs-Latn-BA" dirty="0"/>
              <a:t>dobro je da život teče koliko god je to moguće uobičajeno, ali uvažite im eventualnu neučinkovitost</a:t>
            </a:r>
          </a:p>
          <a:p>
            <a:pPr marL="285750" indent="-285750" algn="just">
              <a:buFont typeface="Arial" panose="020B0604020202020204" pitchFamily="34" charset="0"/>
              <a:buChar char="•"/>
            </a:pPr>
            <a:r>
              <a:rPr lang="bs-Latn-BA" dirty="0"/>
              <a:t>nemojte ih ispitivati ili ocjenjivati (osim ako to izričito ne žele) bar u prvoj sedmici nakon događaja</a:t>
            </a:r>
          </a:p>
          <a:p>
            <a:pPr marL="285750" indent="-285750" algn="just">
              <a:buFont typeface="Arial" panose="020B0604020202020204" pitchFamily="34" charset="0"/>
              <a:buChar char="•"/>
            </a:pPr>
            <a:r>
              <a:rPr lang="bs-Latn-BA" dirty="0"/>
              <a:t>nemojte ih razmiještati (protiv njihove volje)</a:t>
            </a:r>
          </a:p>
          <a:p>
            <a:pPr marL="285750" indent="-285750" algn="just">
              <a:buFont typeface="Arial" panose="020B0604020202020204" pitchFamily="34" charset="0"/>
              <a:buChar char="•"/>
            </a:pPr>
            <a:r>
              <a:rPr lang="bs-Latn-BA" dirty="0"/>
              <a:t>nemojte tražiti da donose neke veće odluke, npr. gdje i kad će ići na izlet i sl.</a:t>
            </a:r>
          </a:p>
          <a:p>
            <a:pPr marL="285750" indent="-285750" algn="just">
              <a:buFont typeface="Arial" panose="020B0604020202020204" pitchFamily="34" charset="0"/>
              <a:buChar char="•"/>
            </a:pPr>
            <a:r>
              <a:rPr lang="bs-Latn-BA" dirty="0"/>
              <a:t>dopustite im rituale</a:t>
            </a:r>
          </a:p>
          <a:p>
            <a:pPr marL="285750" indent="-285750" algn="just">
              <a:buFont typeface="Arial" panose="020B0604020202020204" pitchFamily="34" charset="0"/>
              <a:buChar char="•"/>
            </a:pPr>
            <a:r>
              <a:rPr lang="bs-Latn-BA" dirty="0"/>
              <a:t>budite im pri ruci, slušajte ih i pomozite im da se osjećaju prihvaćeni, poštovani i sigurni</a:t>
            </a:r>
          </a:p>
          <a:p>
            <a:pPr marL="285750" indent="-285750" algn="just">
              <a:buFont typeface="Arial" panose="020B0604020202020204" pitchFamily="34" charset="0"/>
              <a:buChar char="•"/>
            </a:pPr>
            <a:r>
              <a:rPr lang="bs-Latn-BA" dirty="0"/>
              <a:t>postepeno uvodite ponavljanje i provjeravanje znanja</a:t>
            </a:r>
          </a:p>
        </p:txBody>
      </p:sp>
    </p:spTree>
    <p:extLst>
      <p:ext uri="{BB962C8B-B14F-4D97-AF65-F5344CB8AC3E}">
        <p14:creationId xmlns:p14="http://schemas.microsoft.com/office/powerpoint/2010/main" xmlns="" val="955427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F24F8421-282E-431A-A8EC-BFD02D9E6C11}"/>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4" name="TextBox 3">
            <a:extLst>
              <a:ext uri="{FF2B5EF4-FFF2-40B4-BE49-F238E27FC236}">
                <a16:creationId xmlns:a16="http://schemas.microsoft.com/office/drawing/2014/main" xmlns="" id="{0725A3F6-36BE-4205-83DD-50607358DF05}"/>
              </a:ext>
            </a:extLst>
          </p:cNvPr>
          <p:cNvSpPr txBox="1"/>
          <p:nvPr/>
        </p:nvSpPr>
        <p:spPr>
          <a:xfrm>
            <a:off x="767254" y="1222444"/>
            <a:ext cx="10689021" cy="3416320"/>
          </a:xfrm>
          <a:prstGeom prst="rect">
            <a:avLst/>
          </a:prstGeom>
          <a:noFill/>
        </p:spPr>
        <p:txBody>
          <a:bodyPr wrap="square">
            <a:spAutoFit/>
          </a:bodyPr>
          <a:lstStyle/>
          <a:p>
            <a:endParaRPr lang="bs-Latn-BA" b="1" dirty="0">
              <a:latin typeface="Calibri" pitchFamily="34" charset="0"/>
              <a:cs typeface="Calibri" pitchFamily="34" charset="0"/>
            </a:endParaRPr>
          </a:p>
          <a:p>
            <a:endParaRPr lang="bs-Latn-BA" b="1" dirty="0">
              <a:latin typeface="Calibri" pitchFamily="34" charset="0"/>
              <a:cs typeface="Calibri" pitchFamily="34" charset="0"/>
            </a:endParaRPr>
          </a:p>
          <a:p>
            <a:r>
              <a:rPr lang="bs-Latn-BA" b="1" dirty="0" smtClean="0">
                <a:latin typeface="Calibri" pitchFamily="34" charset="0"/>
                <a:cs typeface="Calibri" pitchFamily="34" charset="0"/>
              </a:rPr>
              <a:t>SAMOUB</a:t>
            </a:r>
            <a:r>
              <a:rPr lang="en-GB" b="1" dirty="0" smtClean="0">
                <a:latin typeface="Calibri" pitchFamily="34" charset="0"/>
                <a:cs typeface="Calibri" pitchFamily="34" charset="0"/>
              </a:rPr>
              <a:t>ISTVO</a:t>
            </a:r>
            <a:r>
              <a:rPr lang="bs-Latn-BA" b="1" dirty="0" smtClean="0">
                <a:latin typeface="Calibri" pitchFamily="34" charset="0"/>
                <a:cs typeface="Calibri" pitchFamily="34" charset="0"/>
              </a:rPr>
              <a:t> </a:t>
            </a:r>
            <a:r>
              <a:rPr lang="bs-Latn-BA" b="1" dirty="0">
                <a:latin typeface="Calibri" pitchFamily="34" charset="0"/>
                <a:cs typeface="Calibri" pitchFamily="34" charset="0"/>
              </a:rPr>
              <a:t>– VAŽNO</a:t>
            </a:r>
            <a:r>
              <a:rPr lang="bs-Latn-BA" dirty="0">
                <a:latin typeface="Calibri" pitchFamily="34" charset="0"/>
                <a:cs typeface="Calibri" pitchFamily="34" charset="0"/>
              </a:rPr>
              <a:t> je obratiti pažnju na učenike koji su rizični za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istvo</a:t>
            </a:r>
            <a:r>
              <a:rPr lang="bs-Latn-BA" dirty="0" smtClean="0">
                <a:latin typeface="Calibri" pitchFamily="34" charset="0"/>
                <a:cs typeface="Calibri" pitchFamily="34" charset="0"/>
              </a:rPr>
              <a:t>. </a:t>
            </a:r>
            <a:r>
              <a:rPr lang="bs-Latn-BA" dirty="0">
                <a:latin typeface="Calibri" pitchFamily="34" charset="0"/>
                <a:cs typeface="Calibri" pitchFamily="34" charset="0"/>
              </a:rPr>
              <a:t>Ponekad se pojavljuje lančana reakcija na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istvo</a:t>
            </a:r>
            <a:r>
              <a:rPr lang="bs-Latn-BA" dirty="0" smtClean="0">
                <a:latin typeface="Calibri" pitchFamily="34" charset="0"/>
                <a:cs typeface="Calibri" pitchFamily="34" charset="0"/>
              </a:rPr>
              <a:t>. </a:t>
            </a:r>
            <a:r>
              <a:rPr lang="bs-Latn-BA" dirty="0">
                <a:latin typeface="Calibri" pitchFamily="34" charset="0"/>
                <a:cs typeface="Calibri" pitchFamily="34" charset="0"/>
              </a:rPr>
              <a:t>Za rizične učenike ili za one koji su već u prošlosti pokušali </a:t>
            </a:r>
            <a:r>
              <a:rPr lang="bs-Latn-BA" dirty="0" smtClean="0">
                <a:latin typeface="Calibri" pitchFamily="34" charset="0"/>
                <a:cs typeface="Calibri" pitchFamily="34" charset="0"/>
              </a:rPr>
              <a:t>samoubistvo </a:t>
            </a:r>
            <a:r>
              <a:rPr lang="bs-Latn-BA" dirty="0">
                <a:latin typeface="Calibri" pitchFamily="34" charset="0"/>
                <a:cs typeface="Calibri" pitchFamily="34" charset="0"/>
              </a:rPr>
              <a:t>ili pokazali naznake za to, važno je </a:t>
            </a:r>
            <a:r>
              <a:rPr lang="bs-Latn-BA" u="sng" dirty="0">
                <a:latin typeface="Calibri" pitchFamily="34" charset="0"/>
                <a:cs typeface="Calibri" pitchFamily="34" charset="0"/>
              </a:rPr>
              <a:t>odmah</a:t>
            </a:r>
            <a:r>
              <a:rPr lang="bs-Latn-BA" dirty="0">
                <a:latin typeface="Calibri" pitchFamily="34" charset="0"/>
                <a:cs typeface="Calibri" pitchFamily="34" charset="0"/>
              </a:rPr>
              <a:t> osigurati stručnu pomoć njima i </a:t>
            </a:r>
            <a:r>
              <a:rPr lang="bs-Latn-BA" dirty="0" smtClean="0">
                <a:latin typeface="Calibri" pitchFamily="34" charset="0"/>
                <a:cs typeface="Calibri" pitchFamily="34" charset="0"/>
              </a:rPr>
              <a:t>roditeljima, </a:t>
            </a:r>
            <a:r>
              <a:rPr lang="bs-Latn-BA" dirty="0">
                <a:latin typeface="Calibri" pitchFamily="34" charset="0"/>
                <a:cs typeface="Calibri" pitchFamily="34" charset="0"/>
              </a:rPr>
              <a:t>te ih imati 24 sata pod nadzorom.</a:t>
            </a:r>
          </a:p>
          <a:p>
            <a:endParaRPr lang="bs-Latn-BA" dirty="0">
              <a:latin typeface="Calibri" pitchFamily="34" charset="0"/>
              <a:cs typeface="Calibri" pitchFamily="34" charset="0"/>
            </a:endParaRPr>
          </a:p>
          <a:p>
            <a:endParaRPr lang="bs-Latn-BA" b="1" u="sng" dirty="0">
              <a:latin typeface="Calibri" pitchFamily="34" charset="0"/>
              <a:cs typeface="Calibri" pitchFamily="34" charset="0"/>
            </a:endParaRPr>
          </a:p>
          <a:p>
            <a:r>
              <a:rPr lang="en-GB" dirty="0" smtClean="0">
                <a:latin typeface="Calibri" pitchFamily="34" charset="0"/>
                <a:cs typeface="Calibri" pitchFamily="34" charset="0"/>
              </a:rPr>
              <a:t>FAKTORI </a:t>
            </a:r>
            <a:r>
              <a:rPr lang="bs-Latn-BA" dirty="0" smtClean="0">
                <a:latin typeface="Calibri" pitchFamily="34" charset="0"/>
                <a:cs typeface="Calibri" pitchFamily="34" charset="0"/>
              </a:rPr>
              <a:t>RIZIKA </a:t>
            </a:r>
            <a:r>
              <a:rPr lang="bs-Latn-BA" dirty="0">
                <a:latin typeface="Calibri" pitchFamily="34" charset="0"/>
                <a:cs typeface="Calibri" pitchFamily="34" charset="0"/>
              </a:rPr>
              <a:t>kod adolescenata:</a:t>
            </a:r>
          </a:p>
          <a:p>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Depresivne osobe (najčešće djevojke)</a:t>
            </a:r>
          </a:p>
          <a:p>
            <a:pPr marL="285750" indent="-285750">
              <a:buFont typeface="Arial" panose="020B0604020202020204" pitchFamily="34" charset="0"/>
              <a:buChar char="•"/>
            </a:pPr>
            <a:r>
              <a:rPr lang="bs-Latn-BA" dirty="0" smtClean="0">
                <a:latin typeface="Calibri" pitchFamily="34" charset="0"/>
                <a:cs typeface="Calibri" pitchFamily="34" charset="0"/>
              </a:rPr>
              <a:t>Impul</a:t>
            </a:r>
            <a:r>
              <a:rPr lang="en-GB" dirty="0" smtClean="0">
                <a:latin typeface="Calibri" pitchFamily="34" charset="0"/>
                <a:cs typeface="Calibri" pitchFamily="34" charset="0"/>
              </a:rPr>
              <a:t>s</a:t>
            </a:r>
            <a:r>
              <a:rPr lang="bs-Latn-BA" dirty="0" smtClean="0">
                <a:latin typeface="Calibri" pitchFamily="34" charset="0"/>
                <a:cs typeface="Calibri" pitchFamily="34" charset="0"/>
              </a:rPr>
              <a:t>ivne </a:t>
            </a:r>
            <a:r>
              <a:rPr lang="bs-Latn-BA" dirty="0">
                <a:latin typeface="Calibri" pitchFamily="34" charset="0"/>
                <a:cs typeface="Calibri" pitchFamily="34" charset="0"/>
              </a:rPr>
              <a:t>osobe (najčešće mladići)</a:t>
            </a:r>
            <a:endParaRPr lang="bs-Latn-BA" dirty="0"/>
          </a:p>
        </p:txBody>
      </p:sp>
    </p:spTree>
    <p:extLst>
      <p:ext uri="{BB962C8B-B14F-4D97-AF65-F5344CB8AC3E}">
        <p14:creationId xmlns:p14="http://schemas.microsoft.com/office/powerpoint/2010/main" xmlns="" val="1335120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F7BC99D3-AD0F-4AEC-BAA1-3EDD4CD63E4A}"/>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 </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4" name="TextBox 3">
            <a:extLst>
              <a:ext uri="{FF2B5EF4-FFF2-40B4-BE49-F238E27FC236}">
                <a16:creationId xmlns:a16="http://schemas.microsoft.com/office/drawing/2014/main" xmlns="" id="{4FAED7CE-6D25-49E8-B280-5AA58120AEF8}"/>
              </a:ext>
            </a:extLst>
          </p:cNvPr>
          <p:cNvSpPr txBox="1"/>
          <p:nvPr/>
        </p:nvSpPr>
        <p:spPr>
          <a:xfrm>
            <a:off x="756744" y="1249077"/>
            <a:ext cx="10689021" cy="5355312"/>
          </a:xfrm>
          <a:prstGeom prst="rect">
            <a:avLst/>
          </a:prstGeom>
          <a:noFill/>
        </p:spPr>
        <p:txBody>
          <a:bodyPr wrap="square">
            <a:spAutoFit/>
          </a:bodyPr>
          <a:lstStyle/>
          <a:p>
            <a:r>
              <a:rPr lang="bs-Latn-BA" b="1" dirty="0">
                <a:latin typeface="Calibri" pitchFamily="34" charset="0"/>
                <a:cs typeface="Calibri" pitchFamily="34" charset="0"/>
              </a:rPr>
              <a:t>ZNAKOVI KOJI POKAZUJU DA POSTOJI RIZIK ZA </a:t>
            </a:r>
            <a:r>
              <a:rPr lang="bs-Latn-BA" b="1" dirty="0" smtClean="0">
                <a:latin typeface="Calibri" pitchFamily="34" charset="0"/>
                <a:cs typeface="Calibri" pitchFamily="34" charset="0"/>
              </a:rPr>
              <a:t>SAMOUB</a:t>
            </a:r>
            <a:r>
              <a:rPr lang="en-GB" b="1" dirty="0" smtClean="0">
                <a:latin typeface="Calibri" pitchFamily="34" charset="0"/>
                <a:cs typeface="Calibri" pitchFamily="34" charset="0"/>
              </a:rPr>
              <a:t>ISTVO</a:t>
            </a:r>
            <a:endParaRPr lang="bs-Latn-BA" b="1" dirty="0">
              <a:latin typeface="Calibri" pitchFamily="34" charset="0"/>
              <a:cs typeface="Calibri" pitchFamily="34" charset="0"/>
            </a:endParaRPr>
          </a:p>
          <a:p>
            <a:endParaRPr lang="bs-Latn-BA" dirty="0">
              <a:latin typeface="Calibri" pitchFamily="34" charset="0"/>
              <a:cs typeface="Calibri" pitchFamily="34" charset="0"/>
            </a:endParaRPr>
          </a:p>
          <a:p>
            <a:r>
              <a:rPr lang="bs-Latn-BA" u="sng" dirty="0">
                <a:latin typeface="Calibri" pitchFamily="34" charset="0"/>
                <a:cs typeface="Calibri" pitchFamily="34" charset="0"/>
              </a:rPr>
              <a:t>Privatni život:</a:t>
            </a:r>
          </a:p>
          <a:p>
            <a:endParaRPr lang="bs-Latn-BA" dirty="0">
              <a:latin typeface="Calibri" pitchFamily="34" charset="0"/>
              <a:cs typeface="Calibri" pitchFamily="34" charset="0"/>
            </a:endParaRPr>
          </a:p>
          <a:p>
            <a:pPr marL="285750" indent="-285750">
              <a:buFont typeface="Arial" panose="020B0604020202020204" pitchFamily="34" charset="0"/>
              <a:buChar char="•"/>
            </a:pPr>
            <a:r>
              <a:rPr lang="bs-Latn-BA" dirty="0">
                <a:latin typeface="Calibri" pitchFamily="34" charset="0"/>
                <a:cs typeface="Calibri" pitchFamily="34" charset="0"/>
              </a:rPr>
              <a:t>problemi sa spavanjem i hranjenjem</a:t>
            </a:r>
          </a:p>
          <a:p>
            <a:pPr marL="285750" indent="-285750">
              <a:buFont typeface="Arial" panose="020B0604020202020204" pitchFamily="34" charset="0"/>
              <a:buChar char="•"/>
            </a:pPr>
            <a:r>
              <a:rPr lang="bs-Latn-BA" dirty="0">
                <a:latin typeface="Calibri" pitchFamily="34" charset="0"/>
                <a:cs typeface="Calibri" pitchFamily="34" charset="0"/>
              </a:rPr>
              <a:t>drastične promjene u ponašanju</a:t>
            </a:r>
          </a:p>
          <a:p>
            <a:pPr marL="285750" indent="-285750">
              <a:buFont typeface="Arial" panose="020B0604020202020204" pitchFamily="34" charset="0"/>
              <a:buChar char="•"/>
            </a:pPr>
            <a:r>
              <a:rPr lang="bs-Latn-BA" dirty="0">
                <a:latin typeface="Calibri" pitchFamily="34" charset="0"/>
                <a:cs typeface="Calibri" pitchFamily="34" charset="0"/>
              </a:rPr>
              <a:t>povlačenje od prijatelja i socijalnih aktivnosti</a:t>
            </a:r>
          </a:p>
          <a:p>
            <a:pPr marL="285750" indent="-285750">
              <a:buFont typeface="Arial" panose="020B0604020202020204" pitchFamily="34" charset="0"/>
              <a:buChar char="•"/>
            </a:pPr>
            <a:r>
              <a:rPr lang="bs-Latn-BA" dirty="0">
                <a:latin typeface="Calibri" pitchFamily="34" charset="0"/>
                <a:cs typeface="Calibri" pitchFamily="34" charset="0"/>
              </a:rPr>
              <a:t>gubitak interesa za hobije, školu</a:t>
            </a:r>
          </a:p>
          <a:p>
            <a:pPr marL="285750" indent="-285750">
              <a:buFont typeface="Arial" panose="020B0604020202020204" pitchFamily="34" charset="0"/>
              <a:buChar char="•"/>
            </a:pPr>
            <a:r>
              <a:rPr lang="bs-Latn-BA" dirty="0">
                <a:latin typeface="Calibri" pitchFamily="34" charset="0"/>
                <a:cs typeface="Calibri" pitchFamily="34" charset="0"/>
              </a:rPr>
              <a:t>poklanjanje svojih omiljenih stvari</a:t>
            </a:r>
          </a:p>
          <a:p>
            <a:pPr marL="285750" indent="-285750">
              <a:buFont typeface="Arial" panose="020B0604020202020204" pitchFamily="34" charset="0"/>
              <a:buChar char="•"/>
            </a:pPr>
            <a:r>
              <a:rPr lang="bs-Latn-BA" dirty="0">
                <a:latin typeface="Calibri" pitchFamily="34" charset="0"/>
                <a:cs typeface="Calibri" pitchFamily="34" charset="0"/>
              </a:rPr>
              <a:t>prethodni pokušaji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istva </a:t>
            </a:r>
            <a:r>
              <a:rPr lang="bs-Latn-BA" dirty="0" smtClean="0">
                <a:latin typeface="Calibri" pitchFamily="34" charset="0"/>
                <a:cs typeface="Calibri" pitchFamily="34" charset="0"/>
              </a:rPr>
              <a:t>(ovo </a:t>
            </a:r>
            <a:r>
              <a:rPr lang="bs-Latn-BA" dirty="0">
                <a:latin typeface="Calibri" pitchFamily="34" charset="0"/>
                <a:cs typeface="Calibri" pitchFamily="34" charset="0"/>
              </a:rPr>
              <a:t>kao znak treba shvatiti jako ozbiljno!)</a:t>
            </a:r>
          </a:p>
          <a:p>
            <a:pPr marL="285750" indent="-285750">
              <a:buFont typeface="Arial" panose="020B0604020202020204" pitchFamily="34" charset="0"/>
              <a:buChar char="•"/>
            </a:pPr>
            <a:r>
              <a:rPr lang="bs-Latn-BA" dirty="0">
                <a:latin typeface="Calibri" pitchFamily="34" charset="0"/>
                <a:cs typeface="Calibri" pitchFamily="34" charset="0"/>
              </a:rPr>
              <a:t>izlaganje sebe nepotrebnim rizicima</a:t>
            </a:r>
          </a:p>
          <a:p>
            <a:pPr marL="285750" indent="-285750">
              <a:buFont typeface="Arial" panose="020B0604020202020204" pitchFamily="34" charset="0"/>
              <a:buChar char="•"/>
            </a:pPr>
            <a:r>
              <a:rPr lang="bs-Latn-BA" dirty="0">
                <a:latin typeface="Calibri" pitchFamily="34" charset="0"/>
                <a:cs typeface="Calibri" pitchFamily="34" charset="0"/>
              </a:rPr>
              <a:t>gubitak interesa za vlastiti izgled </a:t>
            </a:r>
          </a:p>
          <a:p>
            <a:pPr marL="285750" indent="-285750">
              <a:buFont typeface="Arial" panose="020B0604020202020204" pitchFamily="34" charset="0"/>
              <a:buChar char="•"/>
            </a:pPr>
            <a:r>
              <a:rPr lang="bs-Latn-BA" dirty="0">
                <a:latin typeface="Calibri" pitchFamily="34" charset="0"/>
                <a:cs typeface="Calibri" pitchFamily="34" charset="0"/>
              </a:rPr>
              <a:t>češće nego inače posjećivanje dragih osoba (ili nazivanje telefonom)</a:t>
            </a:r>
          </a:p>
          <a:p>
            <a:pPr marL="285750" indent="-285750">
              <a:buFont typeface="Arial" panose="020B0604020202020204" pitchFamily="34" charset="0"/>
              <a:buChar char="•"/>
            </a:pPr>
            <a:r>
              <a:rPr lang="bs-Latn-BA" dirty="0">
                <a:latin typeface="Calibri" pitchFamily="34" charset="0"/>
                <a:cs typeface="Calibri" pitchFamily="34" charset="0"/>
              </a:rPr>
              <a:t>žali se na to da je loša osoba</a:t>
            </a:r>
          </a:p>
          <a:p>
            <a:pPr marL="285750" indent="-285750">
              <a:buFont typeface="Arial" panose="020B0604020202020204" pitchFamily="34" charset="0"/>
              <a:buChar char="•"/>
            </a:pPr>
            <a:r>
              <a:rPr lang="bs-Latn-BA" dirty="0">
                <a:latin typeface="Calibri" pitchFamily="34" charset="0"/>
                <a:cs typeface="Calibri" pitchFamily="34" charset="0"/>
              </a:rPr>
              <a:t>izjave poput: „Neću vam još dugo biti problem“, „Život/ništa nema smisla“ itd.</a:t>
            </a:r>
          </a:p>
          <a:p>
            <a:pPr marL="285750" indent="-285750">
              <a:buFont typeface="Arial" panose="020B0604020202020204" pitchFamily="34" charset="0"/>
              <a:buChar char="•"/>
            </a:pPr>
            <a:r>
              <a:rPr lang="bs-Latn-BA" dirty="0">
                <a:latin typeface="Calibri" pitchFamily="34" charset="0"/>
                <a:cs typeface="Calibri" pitchFamily="34" charset="0"/>
              </a:rPr>
              <a:t>dovođenje svojih stvari u red, spremanje sobe, bježanje od kuće</a:t>
            </a:r>
          </a:p>
          <a:p>
            <a:pPr marL="285750" indent="-285750">
              <a:buFont typeface="Arial" panose="020B0604020202020204" pitchFamily="34" charset="0"/>
              <a:buChar char="•"/>
            </a:pPr>
            <a:r>
              <a:rPr lang="bs-Latn-BA" dirty="0">
                <a:latin typeface="Calibri" pitchFamily="34" charset="0"/>
                <a:cs typeface="Calibri" pitchFamily="34" charset="0"/>
              </a:rPr>
              <a:t>gubitak smisla za humor ili stalna potreba za humorom, cinizmom</a:t>
            </a:r>
          </a:p>
          <a:p>
            <a:endParaRPr lang="bs-Latn-BA" dirty="0">
              <a:latin typeface="Calibri" pitchFamily="34" charset="0"/>
              <a:cs typeface="Calibri" pitchFamily="34" charset="0"/>
            </a:endParaRPr>
          </a:p>
          <a:p>
            <a:endParaRPr lang="bs-Latn-BA" dirty="0"/>
          </a:p>
        </p:txBody>
      </p:sp>
    </p:spTree>
    <p:extLst>
      <p:ext uri="{BB962C8B-B14F-4D97-AF65-F5344CB8AC3E}">
        <p14:creationId xmlns:p14="http://schemas.microsoft.com/office/powerpoint/2010/main" xmlns="" val="1441622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CB14F81-436A-41ED-92E1-1FAB2853ED62}"/>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 </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4" name="TextBox 3">
            <a:extLst>
              <a:ext uri="{FF2B5EF4-FFF2-40B4-BE49-F238E27FC236}">
                <a16:creationId xmlns:a16="http://schemas.microsoft.com/office/drawing/2014/main" xmlns="" id="{12382C3F-4B19-4EEB-B279-29C49DB37F56}"/>
              </a:ext>
            </a:extLst>
          </p:cNvPr>
          <p:cNvSpPr txBox="1"/>
          <p:nvPr/>
        </p:nvSpPr>
        <p:spPr>
          <a:xfrm>
            <a:off x="756821" y="1382244"/>
            <a:ext cx="10678434" cy="4247317"/>
          </a:xfrm>
          <a:prstGeom prst="rect">
            <a:avLst/>
          </a:prstGeom>
          <a:noFill/>
        </p:spPr>
        <p:txBody>
          <a:bodyPr wrap="square">
            <a:spAutoFit/>
          </a:bodyPr>
          <a:lstStyle/>
          <a:p>
            <a:pPr algn="just"/>
            <a:r>
              <a:rPr lang="bs-Latn-BA" u="sng" dirty="0">
                <a:latin typeface="Calibri" pitchFamily="34" charset="0"/>
                <a:cs typeface="Calibri" pitchFamily="34" charset="0"/>
              </a:rPr>
              <a:t>Vezano za školu:</a:t>
            </a:r>
          </a:p>
          <a:p>
            <a:pPr algn="just"/>
            <a:endParaRPr lang="bs-Latn-BA" u="sng" dirty="0">
              <a:latin typeface="Calibri" pitchFamily="34" charset="0"/>
              <a:cs typeface="Calibri" pitchFamily="34" charset="0"/>
            </a:endParaRPr>
          </a:p>
          <a:p>
            <a:pPr marL="285750" indent="-285750" algn="just">
              <a:buFont typeface="Arial" panose="020B0604020202020204" pitchFamily="34" charset="0"/>
              <a:buChar char="•"/>
            </a:pPr>
            <a:r>
              <a:rPr lang="bs-Latn-BA" dirty="0" smtClean="0">
                <a:latin typeface="Calibri" pitchFamily="34" charset="0"/>
                <a:cs typeface="Calibri" pitchFamily="34" charset="0"/>
              </a:rPr>
              <a:t>slabi </a:t>
            </a:r>
            <a:r>
              <a:rPr lang="bs-Latn-BA" dirty="0">
                <a:latin typeface="Calibri" pitchFamily="34" charset="0"/>
                <a:cs typeface="Calibri" pitchFamily="34" charset="0"/>
              </a:rPr>
              <a:t>školski rad, neuspijeh u školi</a:t>
            </a:r>
          </a:p>
          <a:p>
            <a:pPr marL="285750" indent="-285750" algn="just">
              <a:buFont typeface="Arial" panose="020B0604020202020204" pitchFamily="34" charset="0"/>
              <a:buChar char="•"/>
            </a:pPr>
            <a:r>
              <a:rPr lang="bs-Latn-BA" dirty="0">
                <a:latin typeface="Calibri" pitchFamily="34" charset="0"/>
                <a:cs typeface="Calibri" pitchFamily="34" charset="0"/>
              </a:rPr>
              <a:t>bježanje s nastave</a:t>
            </a:r>
          </a:p>
          <a:p>
            <a:pPr marL="285750" indent="-285750" algn="just">
              <a:buFont typeface="Arial" panose="020B0604020202020204" pitchFamily="34" charset="0"/>
              <a:buChar char="•"/>
            </a:pPr>
            <a:r>
              <a:rPr lang="bs-Latn-BA" dirty="0">
                <a:latin typeface="Calibri" pitchFamily="34" charset="0"/>
                <a:cs typeface="Calibri" pitchFamily="34" charset="0"/>
              </a:rPr>
              <a:t>slaba koncentracija, pažnja, pospanost</a:t>
            </a:r>
          </a:p>
          <a:p>
            <a:pPr marL="285750" indent="-285750" algn="just">
              <a:buFont typeface="Arial" panose="020B0604020202020204" pitchFamily="34" charset="0"/>
              <a:buChar char="•"/>
            </a:pPr>
            <a:r>
              <a:rPr lang="bs-Latn-BA" dirty="0">
                <a:latin typeface="Calibri" pitchFamily="34" charset="0"/>
                <a:cs typeface="Calibri" pitchFamily="34" charset="0"/>
              </a:rPr>
              <a:t>tema smrti ili umiranja </a:t>
            </a:r>
            <a:r>
              <a:rPr lang="bs-Latn-BA" dirty="0" smtClean="0">
                <a:latin typeface="Calibri" pitchFamily="34" charset="0"/>
                <a:cs typeface="Calibri" pitchFamily="34" charset="0"/>
              </a:rPr>
              <a:t>provlači </a:t>
            </a:r>
            <a:r>
              <a:rPr lang="bs-Latn-BA" dirty="0">
                <a:latin typeface="Calibri" pitchFamily="34" charset="0"/>
                <a:cs typeface="Calibri" pitchFamily="34" charset="0"/>
              </a:rPr>
              <a:t>se kroz pismene radove</a:t>
            </a:r>
          </a:p>
          <a:p>
            <a:pPr marL="285750" indent="-285750" algn="just">
              <a:buFont typeface="Arial" panose="020B0604020202020204" pitchFamily="34" charset="0"/>
              <a:buChar char="•"/>
            </a:pPr>
            <a:r>
              <a:rPr lang="bs-Latn-BA" dirty="0">
                <a:latin typeface="Calibri" pitchFamily="34" charset="0"/>
                <a:cs typeface="Calibri" pitchFamily="34" charset="0"/>
              </a:rPr>
              <a:t>gubitak interesa za prethodno drage predmete</a:t>
            </a:r>
          </a:p>
          <a:p>
            <a:pPr marL="285750" indent="-285750" algn="just">
              <a:buFont typeface="Arial" panose="020B0604020202020204" pitchFamily="34" charset="0"/>
              <a:buChar char="•"/>
            </a:pPr>
            <a:r>
              <a:rPr lang="bs-Latn-BA" dirty="0">
                <a:latin typeface="Calibri" pitchFamily="34" charset="0"/>
                <a:cs typeface="Calibri" pitchFamily="34" charset="0"/>
              </a:rPr>
              <a:t>nemogućnost podnošenja i primanja pohvala</a:t>
            </a:r>
          </a:p>
          <a:p>
            <a:pPr marL="285750" indent="-285750" algn="just">
              <a:buFont typeface="Arial" panose="020B0604020202020204" pitchFamily="34" charset="0"/>
              <a:buChar char="•"/>
            </a:pPr>
            <a:r>
              <a:rPr lang="bs-Latn-BA" dirty="0">
                <a:latin typeface="Calibri" pitchFamily="34" charset="0"/>
                <a:cs typeface="Calibri" pitchFamily="34" charset="0"/>
              </a:rPr>
              <a:t>sukobi sa školskim autoritetima ili policijom</a:t>
            </a:r>
          </a:p>
          <a:p>
            <a:pPr marL="285750" indent="-285750" algn="just">
              <a:buFont typeface="Arial" panose="020B0604020202020204" pitchFamily="34" charset="0"/>
              <a:buChar char="•"/>
            </a:pPr>
            <a:r>
              <a:rPr lang="bs-Latn-BA" dirty="0">
                <a:latin typeface="Calibri" pitchFamily="34" charset="0"/>
                <a:cs typeface="Calibri" pitchFamily="34" charset="0"/>
              </a:rPr>
              <a:t>promjena škole ili adrese</a:t>
            </a:r>
          </a:p>
          <a:p>
            <a:pPr marL="285750" indent="-285750" algn="just">
              <a:buFont typeface="Arial" panose="020B0604020202020204" pitchFamily="34" charset="0"/>
              <a:buChar char="•"/>
            </a:pPr>
            <a:r>
              <a:rPr lang="bs-Latn-BA" dirty="0">
                <a:latin typeface="Calibri" pitchFamily="34" charset="0"/>
                <a:cs typeface="Calibri" pitchFamily="34" charset="0"/>
              </a:rPr>
              <a:t>pritisak odraslih da učenik bude odličan/sposoban/uspješan</a:t>
            </a:r>
          </a:p>
          <a:p>
            <a:pPr marL="285750" indent="-285750" algn="just">
              <a:buFont typeface="Arial" panose="020B0604020202020204" pitchFamily="34" charset="0"/>
              <a:buChar char="•"/>
            </a:pPr>
            <a:endParaRPr lang="bs-Latn-BA" dirty="0">
              <a:latin typeface="Calibri" pitchFamily="34" charset="0"/>
              <a:cs typeface="Calibri" pitchFamily="34" charset="0"/>
            </a:endParaRPr>
          </a:p>
          <a:p>
            <a:pPr marL="285750" indent="-285750" algn="just">
              <a:buFont typeface="Arial" panose="020B0604020202020204" pitchFamily="34" charset="0"/>
              <a:buChar char="•"/>
            </a:pPr>
            <a:endParaRPr lang="bs-Latn-BA" dirty="0">
              <a:latin typeface="Calibri" pitchFamily="34" charset="0"/>
              <a:cs typeface="Calibri" pitchFamily="34" charset="0"/>
            </a:endParaRPr>
          </a:p>
          <a:p>
            <a:pPr algn="just"/>
            <a:r>
              <a:rPr lang="bs-Latn-BA" dirty="0">
                <a:latin typeface="Calibri" pitchFamily="34" charset="0"/>
                <a:cs typeface="Calibri" pitchFamily="34" charset="0"/>
              </a:rPr>
              <a:t>Prisutnost jednog ili dva takva znaka ne omogućuje nam da budemo sigurni da je učenik sklon </a:t>
            </a:r>
            <a:r>
              <a:rPr lang="bs-Latn-BA" dirty="0" smtClean="0">
                <a:latin typeface="Calibri" pitchFamily="34" charset="0"/>
                <a:cs typeface="Calibri" pitchFamily="34" charset="0"/>
              </a:rPr>
              <a:t>samoub</a:t>
            </a:r>
            <a:r>
              <a:rPr lang="en-GB" dirty="0" smtClean="0">
                <a:latin typeface="Calibri" pitchFamily="34" charset="0"/>
                <a:cs typeface="Calibri" pitchFamily="34" charset="0"/>
              </a:rPr>
              <a:t>istvu</a:t>
            </a:r>
            <a:r>
              <a:rPr lang="bs-Latn-BA" dirty="0" smtClean="0">
                <a:latin typeface="Calibri" pitchFamily="34" charset="0"/>
                <a:cs typeface="Calibri" pitchFamily="34" charset="0"/>
              </a:rPr>
              <a:t>, </a:t>
            </a:r>
            <a:r>
              <a:rPr lang="bs-Latn-BA" dirty="0">
                <a:latin typeface="Calibri" pitchFamily="34" charset="0"/>
                <a:cs typeface="Calibri" pitchFamily="34" charset="0"/>
              </a:rPr>
              <a:t>ali svakako </a:t>
            </a:r>
            <a:r>
              <a:rPr lang="bs-Latn-BA" dirty="0" smtClean="0">
                <a:latin typeface="Calibri" pitchFamily="34" charset="0"/>
                <a:cs typeface="Calibri" pitchFamily="34" charset="0"/>
              </a:rPr>
              <a:t>jeste </a:t>
            </a:r>
            <a:r>
              <a:rPr lang="bs-Latn-BA" dirty="0">
                <a:latin typeface="Calibri" pitchFamily="34" charset="0"/>
                <a:cs typeface="Calibri" pitchFamily="34" charset="0"/>
              </a:rPr>
              <a:t>pokazatelj potrebe da ga neko vrijeme nakon tragičnog događaja pomno motrimo.</a:t>
            </a:r>
            <a:endParaRPr lang="bs-Latn-BA" dirty="0"/>
          </a:p>
        </p:txBody>
      </p:sp>
    </p:spTree>
    <p:extLst>
      <p:ext uri="{BB962C8B-B14F-4D97-AF65-F5344CB8AC3E}">
        <p14:creationId xmlns:p14="http://schemas.microsoft.com/office/powerpoint/2010/main" xmlns="" val="1736131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745BEA6F-5060-4018-8F4C-63CCC416C07F}"/>
              </a:ext>
            </a:extLst>
          </p:cNvPr>
          <p:cNvSpPr>
            <a:spLocks noGrp="1"/>
          </p:cNvSpPr>
          <p:nvPr>
            <p:ph type="ftr" sz="quarter" idx="11"/>
          </p:nvPr>
        </p:nvSpPr>
        <p:spPr/>
        <p:txBody>
          <a:bodyPr/>
          <a:lstStyle/>
          <a:p>
            <a:r>
              <a:rPr lang="en-US" b="1" dirty="0">
                <a:solidFill>
                  <a:srgbClr val="0070C0"/>
                </a:solidFill>
              </a:rPr>
              <a:t>Stručno </a:t>
            </a:r>
            <a:r>
              <a:rPr lang="en-US" b="1" dirty="0">
                <a:solidFill>
                  <a:srgbClr val="0070C0"/>
                </a:solidFill>
                <a:latin typeface="Cambria" panose="02040503050406030204" pitchFamily="18" charset="0"/>
                <a:ea typeface="Cambria" panose="02040503050406030204" pitchFamily="18" charset="0"/>
              </a:rPr>
              <a:t>usavršavanje</a:t>
            </a:r>
            <a:r>
              <a:rPr lang="en-US" b="1" dirty="0">
                <a:solidFill>
                  <a:srgbClr val="0070C0"/>
                </a:solidFill>
              </a:rPr>
              <a:t>, </a:t>
            </a:r>
            <a:r>
              <a:rPr lang="bs-Latn-BA" b="1" dirty="0">
                <a:solidFill>
                  <a:srgbClr val="0070C0"/>
                </a:solidFill>
              </a:rPr>
              <a:t>februar </a:t>
            </a:r>
            <a:r>
              <a:rPr lang="en-US" b="1" dirty="0">
                <a:solidFill>
                  <a:srgbClr val="0070C0"/>
                </a:solidFill>
              </a:rPr>
              <a:t>202</a:t>
            </a:r>
            <a:r>
              <a:rPr lang="bs-Latn-BA" b="1" dirty="0">
                <a:solidFill>
                  <a:srgbClr val="0070C0"/>
                </a:solidFill>
              </a:rPr>
              <a:t>4</a:t>
            </a:r>
            <a:r>
              <a:rPr lang="en-US" b="1" dirty="0">
                <a:solidFill>
                  <a:srgbClr val="0070C0"/>
                </a:solidFill>
              </a:rPr>
              <a:t>. godine</a:t>
            </a:r>
          </a:p>
        </p:txBody>
      </p:sp>
      <p:sp>
        <p:nvSpPr>
          <p:cNvPr id="3" name="Rectangle 2"/>
          <p:cNvSpPr/>
          <p:nvPr/>
        </p:nvSpPr>
        <p:spPr>
          <a:xfrm>
            <a:off x="746234" y="1240220"/>
            <a:ext cx="10678511" cy="2185214"/>
          </a:xfrm>
          <a:prstGeom prst="rect">
            <a:avLst/>
          </a:prstGeom>
        </p:spPr>
        <p:txBody>
          <a:bodyPr wrap="square">
            <a:spAutoFit/>
          </a:bodyPr>
          <a:lstStyle/>
          <a:p>
            <a:pPr algn="ctr">
              <a:buNone/>
            </a:pPr>
            <a:endParaRPr lang="en-GB" sz="4400" dirty="0" smtClean="0"/>
          </a:p>
          <a:p>
            <a:pPr algn="ctr">
              <a:buNone/>
            </a:pPr>
            <a:endParaRPr lang="en-GB" sz="4400" dirty="0" smtClean="0"/>
          </a:p>
          <a:p>
            <a:pPr algn="ctr">
              <a:buNone/>
            </a:pPr>
            <a:r>
              <a:rPr lang="hr-BA" sz="4800" dirty="0" smtClean="0">
                <a:solidFill>
                  <a:schemeClr val="accent1">
                    <a:lumMod val="75000"/>
                  </a:schemeClr>
                </a:solidFill>
              </a:rPr>
              <a:t>Hvala na pažnji!</a:t>
            </a:r>
            <a:endParaRPr lang="hr-BA" sz="4800" dirty="0">
              <a:solidFill>
                <a:schemeClr val="accent1">
                  <a:lumMod val="75000"/>
                </a:schemeClr>
              </a:solidFill>
            </a:endParaRPr>
          </a:p>
        </p:txBody>
      </p:sp>
    </p:spTree>
    <p:extLst>
      <p:ext uri="{BB962C8B-B14F-4D97-AF65-F5344CB8AC3E}">
        <p14:creationId xmlns:p14="http://schemas.microsoft.com/office/powerpoint/2010/main" xmlns="" val="12045009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b="1" dirty="0" smtClean="0">
                <a:solidFill>
                  <a:srgbClr val="0070C0"/>
                </a:solidFill>
              </a:rPr>
              <a:t>Stručno </a:t>
            </a:r>
            <a:r>
              <a:rPr lang="en-US" b="1" dirty="0" smtClean="0">
                <a:solidFill>
                  <a:srgbClr val="0070C0"/>
                </a:solidFill>
                <a:latin typeface="Cambria" panose="02040503050406030204" pitchFamily="18" charset="0"/>
                <a:ea typeface="Cambria" panose="02040503050406030204" pitchFamily="18" charset="0"/>
              </a:rPr>
              <a:t>usavršavanje</a:t>
            </a:r>
            <a:r>
              <a:rPr lang="en-US" b="1" dirty="0" smtClean="0">
                <a:solidFill>
                  <a:srgbClr val="0070C0"/>
                </a:solidFill>
              </a:rPr>
              <a:t>, februar 2024. godine</a:t>
            </a:r>
            <a:endParaRPr lang="en-US" b="1" dirty="0">
              <a:solidFill>
                <a:srgbClr val="0070C0"/>
              </a:solidFill>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69" y="2585545"/>
            <a:ext cx="9858703" cy="340025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Rectangle 3"/>
          <p:cNvSpPr/>
          <p:nvPr/>
        </p:nvSpPr>
        <p:spPr>
          <a:xfrm>
            <a:off x="746234" y="1476731"/>
            <a:ext cx="10720552" cy="1077218"/>
          </a:xfrm>
          <a:prstGeom prst="rect">
            <a:avLst/>
          </a:prstGeom>
        </p:spPr>
        <p:txBody>
          <a:bodyPr wrap="square">
            <a:spAutoFit/>
          </a:bodyPr>
          <a:lstStyle/>
          <a:p>
            <a:pPr algn="ctr"/>
            <a:r>
              <a:rPr lang="en-GB" sz="3200" b="1" dirty="0" smtClean="0">
                <a:latin typeface="Calibri" pitchFamily="34" charset="0"/>
                <a:cs typeface="Calibri" pitchFamily="34" charset="0"/>
              </a:rPr>
              <a:t>O</a:t>
            </a:r>
            <a:r>
              <a:rPr lang="bs-Latn-BA" sz="3200" b="1" dirty="0" smtClean="0">
                <a:latin typeface="Calibri" pitchFamily="34" charset="0"/>
                <a:cs typeface="Calibri" pitchFamily="34" charset="0"/>
              </a:rPr>
              <a:t>dgojno-obrazovne ustanove u kriznim situacijama: sigurno, poticajno i lječidbeno mjesto za svako dijete</a:t>
            </a:r>
            <a:endParaRPr lang="en-US" sz="3200" dirty="0">
              <a:latin typeface="Calibri" pitchFamily="34" charset="0"/>
              <a:cs typeface="Calibri"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marL="342900" indent="-342900" algn="just">
          <a:defRPr dirty="0" smtClean="0">
            <a:latin typeface="Calibri" pitchFamily="34" charset="0"/>
            <a:cs typeface="Calibri" pitchFamily="34" charset="0"/>
          </a:defRPr>
        </a:defPPr>
      </a:lst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1696</TotalTime>
  <Words>5087</Words>
  <Application>Microsoft Office PowerPoint</Application>
  <PresentationFormat>Custom</PresentationFormat>
  <Paragraphs>564</Paragraphs>
  <Slides>44</Slides>
  <Notes>4</Notes>
  <HiddenSlides>0</HiddenSlides>
  <MMClips>0</MMClips>
  <ScaleCrop>false</ScaleCrop>
  <HeadingPairs>
    <vt:vector size="4" baseType="variant">
      <vt:variant>
        <vt:lpstr>Theme</vt:lpstr>
      </vt:variant>
      <vt:variant>
        <vt:i4>2</vt:i4>
      </vt:variant>
      <vt:variant>
        <vt:lpstr>Slide Titles</vt:lpstr>
      </vt:variant>
      <vt:variant>
        <vt:i4>44</vt:i4>
      </vt:variant>
    </vt:vector>
  </HeadingPairs>
  <TitlesOfParts>
    <vt:vector size="46" baseType="lpstr">
      <vt:lpstr>Office Theme</vt:lpstr>
      <vt:lpstr>Custom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USER</cp:lastModifiedBy>
  <cp:revision>205</cp:revision>
  <dcterms:created xsi:type="dcterms:W3CDTF">2022-08-09T12:58:26Z</dcterms:created>
  <dcterms:modified xsi:type="dcterms:W3CDTF">2024-02-25T14:01:57Z</dcterms:modified>
</cp:coreProperties>
</file>