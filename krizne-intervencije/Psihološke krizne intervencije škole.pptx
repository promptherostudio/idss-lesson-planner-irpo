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2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63" r:id="rId25"/>
  </p:sldIdLst>
  <p:sldSz cx="9144000" cy="5143500" type="screen16x9"/>
  <p:notesSz cx="6858000" cy="9144000"/>
  <p:embeddedFontLst>
    <p:embeddedFont>
      <p:font typeface="Open Sans" panose="020B0604020202020204" charset="0"/>
      <p:regular r:id="rId27"/>
      <p:bold r:id="rId28"/>
      <p:italic r:id="rId29"/>
      <p:boldItalic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PT Sans Narrow" panose="020B0604020202020204" charset="-18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866087e3ba_0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866087e3ba_0_3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866087e3ba_0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866087e3ba_0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866087e3ba_0_3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866087e3ba_0_3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86acf438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86acf438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86acf438c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86acf438c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86acf438c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86acf438c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86f205ad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86f205ad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 dirty="0"/>
              <a:t>Psihološke krizne intervencije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 dirty="0"/>
              <a:t>Lejla Gabela, </a:t>
            </a:r>
            <a:r>
              <a:rPr lang="hr" dirty="0" smtClean="0"/>
              <a:t>psiholog</a:t>
            </a:r>
            <a:endParaRPr lang="en-US"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Hajrija</a:t>
            </a:r>
            <a:r>
              <a:rPr lang="en-US" dirty="0" smtClean="0"/>
              <a:t> </a:t>
            </a:r>
            <a:r>
              <a:rPr lang="en-US" dirty="0" err="1" smtClean="0"/>
              <a:t>Ibrišagić</a:t>
            </a:r>
            <a:r>
              <a:rPr lang="en-US" dirty="0" smtClean="0"/>
              <a:t>, </a:t>
            </a:r>
            <a:r>
              <a:rPr lang="en-US" dirty="0" err="1" smtClean="0"/>
              <a:t>psiholog</a:t>
            </a:r>
            <a:endParaRPr lang="en-US"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 smtClean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April 2023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/>
              <a:t>Krizni događaji i kriza 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/>
              <a:t>Pružanje podrške ljudima u krizi temelji se na obilježjima kriznih događaja i krize kao psihičkog stanja. </a:t>
            </a:r>
            <a:endParaRPr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r"/>
              <a:t>-</a:t>
            </a:r>
            <a:r>
              <a:rPr lang="hr" b="1" i="1"/>
              <a:t>krizni događaj</a:t>
            </a:r>
            <a:r>
              <a:rPr lang="hr"/>
              <a:t> ima sl.obilježja: iznenadan događaj koji je izrazito uznemirujući i stresan većini ljudi i obično uključuje prijetnju ili doživljaj gubitka ili stvarni gubitak; ljudi imaju osjećaj da ga ne mogu sami savladati; može imati učinak na pojedinca ali i na cijelu zajednicu.</a:t>
            </a:r>
            <a:endParaRPr/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r"/>
              <a:t>-</a:t>
            </a:r>
            <a:r>
              <a:rPr lang="hr" b="1" i="1"/>
              <a:t>kriza </a:t>
            </a:r>
            <a:r>
              <a:rPr lang="hr"/>
              <a:t>“akutna emocionalna uznemirenost koja proizlazi iz situacijskih, razvojnih ili sociokulturnih izvora, a dovodi do privremene nemogućnosti ublažavanja tog stanja pomoću uobičajenih načina rješavanja problema (Hoff, Hallisey i Hoff (2009)).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/>
              <a:t>Obilježja psihičke krize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/>
              <a:t>Kriza ne počiva na dihotomiji normalno-patološko. To znači da:</a:t>
            </a:r>
            <a:endParaRPr/>
          </a:p>
          <a:p>
            <a:pPr marL="457200" lvl="0" indent="-342900" algn="just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kriza, sama po sebi, nije povezana sa psihopatologijom;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kriza se događa i “jakim ljudima”. Niko nije imun na psihičko stanje krize.;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kriza je sastavni dio razvoja pojedinca.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/>
              <a:t>Psihološke krizne intervencije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/>
              <a:t>Psihološke krizne intervencije su kratkotrajan proces pružanja podrške ljudima u krizi. </a:t>
            </a:r>
            <a:endParaRPr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r"/>
              <a:t>Kriza se pojavljuje kad tumačenje određenog događaja, sposobnosti suočavanja s njim i ograničenja socijalnih mogućnosti dovedu do stresa koji je toliko jak da nadvladava vlastite kapacitete i nismo ga u stanju ublažiti.</a:t>
            </a:r>
            <a:endParaRPr/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r"/>
              <a:t>Psihološke krizne intervencije su:</a:t>
            </a:r>
            <a:endParaRPr/>
          </a:p>
          <a:p>
            <a:pPr marL="457200" lvl="0" indent="-342900" algn="just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kratke i vremenski ograničene;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usmjerene na krizni događaj i njegove posljedice;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trebaju se provesti što prije nakon događaja;</a:t>
            </a:r>
            <a:endParaRPr/>
          </a:p>
          <a:p>
            <a:pPr marL="457200" lvl="0" indent="-342900" algn="just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direktivniji pristup u pružanju podrške.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/>
              <a:t>Ciljevi psiholoških kriznih intervencija</a:t>
            </a:r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/>
              <a:t>Psihološke krizne intervencije - Psihološka prva pomoć ima: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hr" b="1"/>
              <a:t>Glavni ciljevi: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stabilizacija stanja;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normalizacija reakcija na krizni događaj;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ponovna uspostava prilagođenog samostalnog funkcionisanja;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trijaža.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 dirty="0"/>
              <a:t>Ciljevi psiholoških kriznih intervencija</a:t>
            </a:r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 b="1"/>
              <a:t>Dodatni ciljevi: </a:t>
            </a:r>
            <a:endParaRPr b="1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Podrška u pokušaju razumijevanja toga šta se desilo;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Podrška u praktičnim stvarima;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Psihoedukacija o traumatskim događajima, strategijama samopomoći isl.;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Jačanje povezanosti sa zajednicom (porodicom, soc.sredinom);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/>
              <a:t>Pokušaj sprječavanja dugotrajnih teškoća u funkcionisanju.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 dirty="0"/>
              <a:t>Psihološka krizna intervencija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" dirty="0"/>
              <a:t>Psihološka krizna intervencija namijenjena je: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hr" dirty="0"/>
              <a:t>žrtvama (direktnim učesnicima);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 dirty="0"/>
              <a:t>svjedocima nekog kriznog događaja;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 dirty="0"/>
              <a:t>profesionalnim pomagačima;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hr" dirty="0"/>
              <a:t>svima koji osjećaju da je događaj utjecao na njihovo psihičko i tjelesno stanje.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hr" dirty="0"/>
              <a:t>Psihološka krizna intervencija </a:t>
            </a:r>
            <a:r>
              <a:rPr lang="hr" b="1" dirty="0"/>
              <a:t>nije </a:t>
            </a:r>
            <a:r>
              <a:rPr lang="hr" dirty="0"/>
              <a:t>psihoterapijski postupak.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4695" y="509666"/>
            <a:ext cx="8274571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Font typeface="Arial" charset="0"/>
              <a:buNone/>
            </a:pPr>
            <a:r>
              <a:rPr lang="en-US" sz="2800" b="1" dirty="0" err="1" smtClean="0">
                <a:solidFill>
                  <a:srgbClr val="0D0D0D"/>
                </a:solidFill>
                <a:latin typeface="PT Sans Narrow" charset="0"/>
              </a:rPr>
              <a:t>Prva</a:t>
            </a:r>
            <a:r>
              <a:rPr lang="en-US" sz="2800" b="1" dirty="0" smtClean="0">
                <a:solidFill>
                  <a:srgbClr val="0D0D0D"/>
                </a:solidFill>
                <a:latin typeface="PT Sans Narrow" charset="0"/>
              </a:rPr>
              <a:t> p</a:t>
            </a:r>
            <a:r>
              <a:rPr lang="pl-PL" sz="2800" b="1" dirty="0" smtClean="0">
                <a:solidFill>
                  <a:srgbClr val="0D0D0D"/>
                </a:solidFill>
                <a:latin typeface="PT Sans Narrow" charset="0"/>
              </a:rPr>
              <a:t>sihološka pomoć se može organizovati na tri nivoa:</a:t>
            </a:r>
          </a:p>
          <a:p>
            <a:pPr marL="0" indent="0" eaLnBrk="1" hangingPunct="1">
              <a:buFont typeface="Arial" charset="0"/>
              <a:buNone/>
            </a:pPr>
            <a:endParaRPr lang="bs-Latn-BA" sz="2400" b="1" i="1" dirty="0" smtClean="0">
              <a:solidFill>
                <a:srgbClr val="0D0D0D"/>
              </a:solidFill>
              <a:latin typeface="PT Sans Narrow" charset="0"/>
            </a:endParaRPr>
          </a:p>
          <a:p>
            <a:pPr marL="0" indent="0" eaLnBrk="1" hangingPunct="1"/>
            <a:r>
              <a:rPr lang="pl-PL" sz="2400" b="1" dirty="0" smtClean="0">
                <a:latin typeface="PT Sans Narrow" charset="0"/>
              </a:rPr>
              <a:t>Prvi nivo </a:t>
            </a:r>
            <a:r>
              <a:rPr lang="pl-PL" sz="2400" dirty="0" smtClean="0">
                <a:latin typeface="PT Sans Narrow" charset="0"/>
              </a:rPr>
              <a:t>je praktičan i odnosi se na prve sate i dane nakon izbijanja traumatičnog događaja.</a:t>
            </a:r>
            <a:endParaRPr lang="en-US" sz="2400" dirty="0" smtClean="0">
              <a:latin typeface="PT Sans Narrow" charset="0"/>
            </a:endParaRPr>
          </a:p>
          <a:p>
            <a:pPr marL="0" indent="0" eaLnBrk="1" hangingPunct="1"/>
            <a:r>
              <a:rPr lang="pl-PL" sz="2400" dirty="0" smtClean="0">
                <a:latin typeface="PT Sans Narrow" charset="0"/>
              </a:rPr>
              <a:t> </a:t>
            </a:r>
          </a:p>
          <a:p>
            <a:pPr marL="0" indent="0" eaLnBrk="1" hangingPunct="1"/>
            <a:r>
              <a:rPr lang="pl-PL" sz="2400" b="1" dirty="0" smtClean="0">
                <a:latin typeface="PT Sans Narrow" charset="0"/>
              </a:rPr>
              <a:t>Drugi nivo-</a:t>
            </a:r>
            <a:r>
              <a:rPr lang="pl-PL" sz="2400" dirty="0" smtClean="0">
                <a:latin typeface="PT Sans Narrow" charset="0"/>
              </a:rPr>
              <a:t> psihološka pomoć nekoliko nedjelja ili mjeseci nakon katastrofe. Onima koji ne počinju da osjećaju olakšanje i dalje osjećaju jak stres.</a:t>
            </a:r>
            <a:endParaRPr lang="en-US" sz="2400" dirty="0" smtClean="0">
              <a:latin typeface="PT Sans Narrow" charset="0"/>
            </a:endParaRPr>
          </a:p>
          <a:p>
            <a:pPr marL="0" indent="0" eaLnBrk="1" hangingPunct="1"/>
            <a:endParaRPr lang="pl-PL" sz="2400" dirty="0" smtClean="0">
              <a:latin typeface="PT Sans Narrow" charset="0"/>
            </a:endParaRPr>
          </a:p>
          <a:p>
            <a:pPr marL="0" indent="0" eaLnBrk="1" hangingPunct="1"/>
            <a:r>
              <a:rPr lang="pl-PL" sz="2400" b="1" dirty="0" smtClean="0">
                <a:latin typeface="PT Sans Narrow" charset="0"/>
              </a:rPr>
              <a:t>Treći nivo-</a:t>
            </a:r>
            <a:r>
              <a:rPr lang="pl-PL" sz="2400" dirty="0" smtClean="0">
                <a:latin typeface="PT Sans Narrow" charset="0"/>
              </a:rPr>
              <a:t> psihološka pomoć ljudima kada/ako se ispostavi da je pojedincima potreban intenzivniji tretman.</a:t>
            </a:r>
            <a:endParaRPr lang="bs-Latn-BA" sz="2400" dirty="0" smtClean="0">
              <a:latin typeface="PT Sans Narro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793" y="464695"/>
            <a:ext cx="8454453" cy="4468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dirty="0" err="1" smtClean="0">
                <a:latin typeface="PT Sans Narrow" charset="0"/>
              </a:rPr>
              <a:t>Reakcije</a:t>
            </a:r>
            <a:r>
              <a:rPr lang="en-US" sz="2800" b="1" dirty="0" smtClean="0">
                <a:latin typeface="PT Sans Narrow" charset="0"/>
              </a:rPr>
              <a:t> </a:t>
            </a:r>
            <a:r>
              <a:rPr lang="en-US" sz="2800" b="1" dirty="0" err="1" smtClean="0">
                <a:latin typeface="PT Sans Narrow" charset="0"/>
              </a:rPr>
              <a:t>na</a:t>
            </a:r>
            <a:r>
              <a:rPr lang="en-US" sz="2800" b="1" dirty="0" smtClean="0">
                <a:latin typeface="PT Sans Narrow" charset="0"/>
              </a:rPr>
              <a:t> </a:t>
            </a:r>
            <a:r>
              <a:rPr lang="en-US" sz="2800" b="1" dirty="0" err="1" smtClean="0">
                <a:latin typeface="PT Sans Narrow" charset="0"/>
              </a:rPr>
              <a:t>katastrofu</a:t>
            </a:r>
            <a:endParaRPr lang="en-US" sz="2800" b="1" dirty="0" smtClean="0">
              <a:latin typeface="PT Sans Narrow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000" dirty="0" smtClean="0"/>
          </a:p>
          <a:p>
            <a:pPr eaLnBrk="1" hangingPunct="1">
              <a:lnSpc>
                <a:spcPct val="90000"/>
              </a:lnSpc>
            </a:pPr>
            <a:r>
              <a:rPr lang="pl-PL" sz="2400" dirty="0" smtClean="0">
                <a:latin typeface="PT Sans Narrow" charset="0"/>
              </a:rPr>
              <a:t>Strah, tugu, žaljenje, anksioznost, paniku, ljutnju bijes, depresivnost... </a:t>
            </a:r>
          </a:p>
          <a:p>
            <a:pPr eaLnBrk="1" hangingPunct="1">
              <a:lnSpc>
                <a:spcPct val="90000"/>
              </a:lnSpc>
            </a:pPr>
            <a:r>
              <a:rPr lang="pl-PL" sz="2400" dirty="0" smtClean="0">
                <a:latin typeface="PT Sans Narrow" charset="0"/>
              </a:rPr>
              <a:t>Najčešće nisu sposobni za promišljanje i efikasno planiranje sopstvenog opstanka, što kasnije može dovesti do neopravdane krivice. </a:t>
            </a:r>
            <a:endParaRPr lang="en-US" sz="2400" dirty="0" smtClean="0">
              <a:latin typeface="PT Sans Narrow" charset="0"/>
            </a:endParaRPr>
          </a:p>
          <a:p>
            <a:pPr eaLnBrk="1" hangingPunct="1">
              <a:lnSpc>
                <a:spcPct val="90000"/>
              </a:lnSpc>
            </a:pPr>
            <a:endParaRPr lang="bs-Latn-BA" sz="2400" dirty="0" smtClean="0">
              <a:latin typeface="PT Sans Narrow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pl-PL" sz="2400" dirty="0" smtClean="0">
                <a:latin typeface="PT Sans Narrow" charset="0"/>
              </a:rPr>
              <a:t>Postavljanje pitanja: „Zašto”, „Koliko će ovo trajati”, „Hoće li ponovo”, „Koliko imam kontrolu nad situacijom”...</a:t>
            </a:r>
            <a:endParaRPr lang="en-US" sz="2400" dirty="0" smtClean="0">
              <a:latin typeface="PT Sans Narrow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 err="1" smtClean="0">
                <a:latin typeface="PT Sans Narrow" charset="0"/>
              </a:rPr>
              <a:t>Doživljaj</a:t>
            </a:r>
            <a:r>
              <a:rPr lang="en-US" sz="2400" dirty="0" smtClean="0">
                <a:latin typeface="PT Sans Narrow" charset="0"/>
              </a:rPr>
              <a:t> </a:t>
            </a:r>
            <a:r>
              <a:rPr lang="en-US" sz="2400" dirty="0" err="1" smtClean="0">
                <a:latin typeface="PT Sans Narrow" charset="0"/>
              </a:rPr>
              <a:t>jakog</a:t>
            </a:r>
            <a:r>
              <a:rPr lang="en-US" sz="2400" dirty="0" smtClean="0">
                <a:latin typeface="PT Sans Narrow" charset="0"/>
              </a:rPr>
              <a:t> </a:t>
            </a:r>
            <a:r>
              <a:rPr lang="en-US" sz="2400" dirty="0" err="1" smtClean="0">
                <a:latin typeface="PT Sans Narrow" charset="0"/>
              </a:rPr>
              <a:t>stresa</a:t>
            </a:r>
            <a:r>
              <a:rPr lang="en-US" sz="2400" dirty="0" smtClean="0">
                <a:latin typeface="PT Sans Narrow" charset="0"/>
              </a:rPr>
              <a:t>, </a:t>
            </a:r>
            <a:r>
              <a:rPr lang="en-US" sz="2400" dirty="0" err="1" smtClean="0">
                <a:latin typeface="PT Sans Narrow" charset="0"/>
              </a:rPr>
              <a:t>nesanica</a:t>
            </a:r>
            <a:r>
              <a:rPr lang="en-US" sz="2400" dirty="0" smtClean="0">
                <a:latin typeface="PT Sans Narrow" charset="0"/>
              </a:rPr>
              <a:t>, </a:t>
            </a:r>
            <a:r>
              <a:rPr lang="en-US" sz="2400" dirty="0" err="1" smtClean="0">
                <a:latin typeface="PT Sans Narrow" charset="0"/>
              </a:rPr>
              <a:t>gubitak</a:t>
            </a:r>
            <a:r>
              <a:rPr lang="en-US" sz="2400" dirty="0" smtClean="0">
                <a:latin typeface="PT Sans Narrow" charset="0"/>
              </a:rPr>
              <a:t> </a:t>
            </a:r>
            <a:r>
              <a:rPr lang="en-US" sz="2400" dirty="0" err="1" smtClean="0">
                <a:latin typeface="PT Sans Narrow" charset="0"/>
              </a:rPr>
              <a:t>apetita</a:t>
            </a:r>
            <a:r>
              <a:rPr lang="en-US" sz="2400" dirty="0" smtClean="0">
                <a:latin typeface="PT Sans Narrow" charset="0"/>
              </a:rPr>
              <a:t>, </a:t>
            </a:r>
            <a:r>
              <a:rPr lang="en-US" sz="2400" dirty="0" err="1" smtClean="0">
                <a:latin typeface="PT Sans Narrow" charset="0"/>
              </a:rPr>
              <a:t>somatizacija</a:t>
            </a:r>
            <a:r>
              <a:rPr lang="en-US" sz="2400" dirty="0" smtClean="0">
                <a:latin typeface="PT Sans Narrow" charset="0"/>
              </a:rPr>
              <a:t>, </a:t>
            </a:r>
            <a:r>
              <a:rPr lang="en-US" sz="2400" dirty="0" err="1" smtClean="0">
                <a:latin typeface="PT Sans Narrow" charset="0"/>
              </a:rPr>
              <a:t>prateće</a:t>
            </a:r>
            <a:r>
              <a:rPr lang="en-US" sz="2400" dirty="0" smtClean="0">
                <a:latin typeface="PT Sans Narrow" charset="0"/>
              </a:rPr>
              <a:t> </a:t>
            </a:r>
            <a:r>
              <a:rPr lang="en-US" sz="2400" dirty="0" err="1" smtClean="0">
                <a:latin typeface="PT Sans Narrow" charset="0"/>
              </a:rPr>
              <a:t>očekivane</a:t>
            </a:r>
            <a:r>
              <a:rPr lang="en-US" sz="2400" dirty="0" smtClean="0">
                <a:latin typeface="PT Sans Narrow" charset="0"/>
              </a:rPr>
              <a:t> </a:t>
            </a:r>
            <a:r>
              <a:rPr lang="en-US" sz="2400" dirty="0" err="1" smtClean="0">
                <a:latin typeface="PT Sans Narrow" charset="0"/>
              </a:rPr>
              <a:t>reakcije</a:t>
            </a:r>
            <a:r>
              <a:rPr lang="en-US" sz="2400" dirty="0" smtClean="0">
                <a:latin typeface="PT Sans Narrow" charset="0"/>
              </a:rPr>
              <a:t> </a:t>
            </a:r>
            <a:r>
              <a:rPr lang="en-US" sz="2400" dirty="0" err="1" smtClean="0">
                <a:latin typeface="PT Sans Narrow" charset="0"/>
              </a:rPr>
              <a:t>na</a:t>
            </a:r>
            <a:r>
              <a:rPr lang="en-US" sz="2400" dirty="0" smtClean="0">
                <a:latin typeface="PT Sans Narrow" charset="0"/>
              </a:rPr>
              <a:t> </a:t>
            </a:r>
            <a:r>
              <a:rPr lang="en-US" sz="2400" dirty="0" err="1" smtClean="0">
                <a:latin typeface="PT Sans Narrow" charset="0"/>
              </a:rPr>
              <a:t>katastrofu</a:t>
            </a:r>
            <a:r>
              <a:rPr lang="en-US" sz="2400" dirty="0" smtClean="0">
                <a:latin typeface="PT Sans Narrow" charset="0"/>
              </a:rPr>
              <a:t>.</a:t>
            </a:r>
            <a:endParaRPr lang="pl-PL" sz="2400" dirty="0" smtClean="0">
              <a:latin typeface="PT Sans Narrow" charset="0"/>
            </a:endParaRPr>
          </a:p>
          <a:p>
            <a:pPr eaLnBrk="1" hangingPunct="1">
              <a:lnSpc>
                <a:spcPct val="90000"/>
              </a:lnSpc>
            </a:pPr>
            <a:endParaRPr lang="bs-Latn-BA" sz="2400" dirty="0" smtClean="0">
              <a:latin typeface="PT Sans Narrow" charset="0"/>
            </a:endParaRPr>
          </a:p>
          <a:p>
            <a:pPr algn="ctr" eaLnBrk="1" hangingPunct="1">
              <a:lnSpc>
                <a:spcPct val="90000"/>
              </a:lnSpc>
              <a:buFont typeface="Arial" charset="0"/>
              <a:buNone/>
            </a:pPr>
            <a:r>
              <a:rPr lang="bs-Latn-BA" sz="2400" b="1" i="1" dirty="0" smtClean="0">
                <a:latin typeface="PT Sans Narrow" charset="0"/>
              </a:rPr>
              <a:t>Prejaka osećanja možemo vidjeti kao normalan odgovor na nenormalne uslove</a:t>
            </a:r>
            <a:r>
              <a:rPr lang="bs-Latn-BA" sz="2000" b="1" i="1" dirty="0" smtClean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9862" y="479685"/>
            <a:ext cx="8544394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2800" b="1" dirty="0" err="1" smtClean="0">
                <a:latin typeface="PT Sans Narrow" charset="0"/>
              </a:rPr>
              <a:t>Šta</a:t>
            </a:r>
            <a:r>
              <a:rPr lang="en-US" sz="2800" b="1" dirty="0" smtClean="0">
                <a:latin typeface="PT Sans Narrow" charset="0"/>
              </a:rPr>
              <a:t> se </a:t>
            </a:r>
            <a:r>
              <a:rPr lang="en-US" sz="2800" b="1" dirty="0" err="1" smtClean="0">
                <a:latin typeface="PT Sans Narrow" charset="0"/>
              </a:rPr>
              <a:t>dešava</a:t>
            </a:r>
            <a:r>
              <a:rPr lang="en-US" sz="2800" b="1" dirty="0" smtClean="0">
                <a:latin typeface="PT Sans Narrow" charset="0"/>
              </a:rPr>
              <a:t> </a:t>
            </a:r>
            <a:r>
              <a:rPr lang="en-US" sz="2800" b="1" dirty="0" err="1" smtClean="0">
                <a:latin typeface="PT Sans Narrow" charset="0"/>
              </a:rPr>
              <a:t>kod</a:t>
            </a:r>
            <a:r>
              <a:rPr lang="en-US" sz="2800" b="1" dirty="0" smtClean="0">
                <a:latin typeface="PT Sans Narrow" charset="0"/>
              </a:rPr>
              <a:t> </a:t>
            </a:r>
            <a:r>
              <a:rPr lang="en-US" sz="2800" b="1" dirty="0" err="1" smtClean="0">
                <a:latin typeface="PT Sans Narrow" charset="0"/>
              </a:rPr>
              <a:t>djece</a:t>
            </a:r>
            <a:r>
              <a:rPr lang="en-US" sz="2800" b="1" dirty="0" smtClean="0">
                <a:latin typeface="PT Sans Narrow" charset="0"/>
              </a:rPr>
              <a:t>?</a:t>
            </a:r>
          </a:p>
          <a:p>
            <a:pPr eaLnBrk="1" hangingPunct="1"/>
            <a:endParaRPr lang="en-US" sz="2400" b="1" dirty="0" smtClean="0">
              <a:latin typeface="PT Sans Narrow" charset="0"/>
            </a:endParaRPr>
          </a:p>
          <a:p>
            <a:pPr eaLnBrk="1" hangingPunct="1"/>
            <a:r>
              <a:rPr lang="bs-Latn-BA" sz="2400" b="1" dirty="0" smtClean="0">
                <a:latin typeface="PT Sans Narrow" charset="0"/>
              </a:rPr>
              <a:t>Osnovnoškolski uzrast</a:t>
            </a:r>
            <a:r>
              <a:rPr lang="bs-Latn-BA" sz="2400" dirty="0" smtClean="0">
                <a:latin typeface="PT Sans Narrow" charset="0"/>
              </a:rPr>
              <a:t> – razdražljivost, agresivnost, teškoće u odvajanju, noćne more, izbegavanje školskih obaveza, slaba koncentracija, povlačenje i gubitak interesovanja za vršnjake i uobičajene aktivnosti, ponavaljanja igra koja podseća na traumu, regresija, razdražljivost... </a:t>
            </a:r>
            <a:endParaRPr lang="en-US" sz="2400" dirty="0" smtClean="0">
              <a:latin typeface="PT Sans Narrow" charset="0"/>
            </a:endParaRPr>
          </a:p>
          <a:p>
            <a:pPr eaLnBrk="1" hangingPunct="1"/>
            <a:endParaRPr lang="bs-Latn-BA" sz="2400" dirty="0" smtClean="0">
              <a:latin typeface="PT Sans Narrow" charset="0"/>
            </a:endParaRPr>
          </a:p>
          <a:p>
            <a:pPr eaLnBrk="1" hangingPunct="1"/>
            <a:r>
              <a:rPr lang="bs-Latn-BA" sz="2400" dirty="0" smtClean="0">
                <a:latin typeface="PT Sans Narrow" charset="0"/>
              </a:rPr>
              <a:t> </a:t>
            </a:r>
            <a:r>
              <a:rPr lang="bs-Latn-BA" sz="2400" b="1" dirty="0" smtClean="0">
                <a:latin typeface="PT Sans Narrow" charset="0"/>
              </a:rPr>
              <a:t>Adolescentni uzrast</a:t>
            </a:r>
            <a:r>
              <a:rPr lang="bs-Latn-BA" sz="2400" dirty="0" smtClean="0">
                <a:latin typeface="PT Sans Narrow" charset="0"/>
              </a:rPr>
              <a:t> – poremećaji sna i apetita, razdražljivost, učestali konflikti, somatske tegobe, delinkventno ponašanja, slaba koncentracija, povlačenje i gubitak interesovanja za vršnjake i uobičajene aktivnosti...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4871" y="434715"/>
            <a:ext cx="84694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buFont typeface="Arial" charset="0"/>
              <a:buNone/>
            </a:pPr>
            <a:r>
              <a:rPr lang="en-US" sz="2800" b="1" dirty="0" err="1" smtClean="0">
                <a:latin typeface="PT Sans Narrow" charset="0"/>
              </a:rPr>
              <a:t>Šta</a:t>
            </a:r>
            <a:r>
              <a:rPr lang="en-US" sz="2800" b="1" dirty="0" smtClean="0">
                <a:latin typeface="PT Sans Narrow" charset="0"/>
              </a:rPr>
              <a:t> se </a:t>
            </a:r>
            <a:r>
              <a:rPr lang="en-US" sz="2800" b="1" dirty="0" err="1" smtClean="0">
                <a:latin typeface="PT Sans Narrow" charset="0"/>
              </a:rPr>
              <a:t>može</a:t>
            </a:r>
            <a:r>
              <a:rPr lang="en-US" sz="2800" b="1" dirty="0" smtClean="0">
                <a:latin typeface="PT Sans Narrow" charset="0"/>
              </a:rPr>
              <a:t> </a:t>
            </a:r>
            <a:r>
              <a:rPr lang="en-US" sz="2800" b="1" dirty="0" err="1" smtClean="0">
                <a:latin typeface="PT Sans Narrow" charset="0"/>
              </a:rPr>
              <a:t>uraditi</a:t>
            </a:r>
            <a:r>
              <a:rPr lang="en-US" sz="2800" b="1" dirty="0" smtClean="0">
                <a:latin typeface="PT Sans Narrow" charset="0"/>
              </a:rPr>
              <a:t>?</a:t>
            </a:r>
          </a:p>
          <a:p>
            <a:pPr marL="0" indent="0" eaLnBrk="1" hangingPunct="1">
              <a:buFont typeface="Arial" charset="0"/>
              <a:buNone/>
            </a:pPr>
            <a:endParaRPr lang="en-US" sz="2800" b="1" dirty="0" smtClean="0">
              <a:latin typeface="PT Sans Narrow" charset="0"/>
            </a:endParaRPr>
          </a:p>
          <a:p>
            <a:pPr marL="0" indent="0" eaLnBrk="1" hangingPunct="1">
              <a:buFont typeface="Arial" charset="0"/>
              <a:buNone/>
            </a:pPr>
            <a:r>
              <a:rPr lang="pl-PL" sz="2400" dirty="0" smtClean="0">
                <a:latin typeface="PT Sans Narrow" charset="0"/>
              </a:rPr>
              <a:t>U prvom koraku je najbitnije omogućiti zbrinjavanje</a:t>
            </a:r>
            <a:endParaRPr lang="pl-PL" sz="2400" i="1" dirty="0" smtClean="0">
              <a:latin typeface="PT Sans Narrow" charset="0"/>
            </a:endParaRPr>
          </a:p>
          <a:p>
            <a:pPr marL="0" indent="0" eaLnBrk="1" hangingPunct="1">
              <a:buFont typeface="Arial" charset="0"/>
              <a:buNone/>
            </a:pPr>
            <a:r>
              <a:rPr lang="pl-PL" sz="2400" dirty="0" smtClean="0">
                <a:latin typeface="PT Sans Narrow" charset="0"/>
              </a:rPr>
              <a:t>Praktična sredstva zaštite, sklonište i </a:t>
            </a:r>
            <a:r>
              <a:rPr lang="pl-PL" sz="2400" dirty="0" smtClean="0">
                <a:solidFill>
                  <a:srgbClr val="0D0D0D"/>
                </a:solidFill>
                <a:latin typeface="PT Sans Narrow" charset="0"/>
              </a:rPr>
              <a:t>umirivanje. </a:t>
            </a:r>
          </a:p>
          <a:p>
            <a:pPr marL="0" indent="0" eaLnBrk="1" hangingPunct="1">
              <a:buFont typeface="Arial" charset="0"/>
              <a:buNone/>
            </a:pPr>
            <a:endParaRPr lang="pl-PL" sz="2400" i="1" dirty="0" smtClean="0">
              <a:latin typeface="PT Sans Narrow" charset="0"/>
            </a:endParaRPr>
          </a:p>
          <a:p>
            <a:pPr marL="0" indent="0" eaLnBrk="1" hangingPunct="1">
              <a:buFont typeface="Arial" charset="0"/>
              <a:buNone/>
            </a:pPr>
            <a:r>
              <a:rPr lang="pl-PL" sz="2400" i="1" dirty="0" smtClean="0">
                <a:latin typeface="PT Sans Narrow" charset="0"/>
              </a:rPr>
              <a:t>Fokusirati se na ono što je ljudima najbitnije u tom trenutku</a:t>
            </a:r>
          </a:p>
          <a:p>
            <a:pPr marL="0" indent="0" eaLnBrk="1" hangingPunct="1">
              <a:buFont typeface="Arial" charset="0"/>
              <a:buNone/>
            </a:pPr>
            <a:endParaRPr lang="en-US" sz="2400" i="1" dirty="0" smtClean="0">
              <a:solidFill>
                <a:srgbClr val="0D0D0D"/>
              </a:solidFill>
              <a:latin typeface="PT Sans Narrow" charset="0"/>
            </a:endParaRPr>
          </a:p>
          <a:p>
            <a:pPr marL="0" indent="0" eaLnBrk="1" hangingPunct="1">
              <a:buFont typeface="Arial" charset="0"/>
              <a:buNone/>
            </a:pPr>
            <a:endParaRPr lang="pl-PL" sz="2400" i="1" dirty="0" smtClean="0">
              <a:solidFill>
                <a:srgbClr val="0D0D0D"/>
              </a:solidFill>
              <a:latin typeface="PT Sans Narrow" charset="0"/>
            </a:endParaRPr>
          </a:p>
          <a:p>
            <a:pPr marL="0" indent="0" eaLnBrk="1" hangingPunct="1">
              <a:buFont typeface="Arial" charset="0"/>
              <a:buNone/>
            </a:pPr>
            <a:r>
              <a:rPr lang="pl-PL" sz="2400" b="1" dirty="0" smtClean="0">
                <a:solidFill>
                  <a:srgbClr val="0D0D0D"/>
                </a:solidFill>
                <a:latin typeface="PT Sans Narrow" charset="0"/>
              </a:rPr>
              <a:t>1. Pružanje tačnih informacija o katastrofi</a:t>
            </a:r>
            <a:endParaRPr lang="pl-PL" sz="2400" b="1" dirty="0" smtClean="0">
              <a:latin typeface="PT Sans Narrow" charset="0"/>
            </a:endParaRPr>
          </a:p>
          <a:p>
            <a:pPr marL="0" indent="0" eaLnBrk="1" hangingPunct="1">
              <a:buFont typeface="Arial" charset="0"/>
              <a:buNone/>
            </a:pPr>
            <a:r>
              <a:rPr lang="pl-PL" sz="2400" b="1" dirty="0" smtClean="0">
                <a:latin typeface="PT Sans Narrow" charset="0"/>
              </a:rPr>
              <a:t>2. Promovišite sigurnost</a:t>
            </a:r>
            <a:endParaRPr lang="en-US" sz="2400" b="1" dirty="0">
              <a:latin typeface="PT Sans Narro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9743" y="809470"/>
            <a:ext cx="845445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sz="2400" b="1" dirty="0" smtClean="0"/>
              <a:t>3</a:t>
            </a:r>
            <a:r>
              <a:rPr lang="pl-PL" sz="2800" b="1" dirty="0" smtClean="0">
                <a:latin typeface="PT Sans Narrow" charset="0"/>
              </a:rPr>
              <a:t>. Umirujte </a:t>
            </a:r>
            <a:r>
              <a:rPr lang="pl-PL" sz="2800" dirty="0" smtClean="0">
                <a:latin typeface="PT Sans Narrow" charset="0"/>
              </a:rPr>
              <a:t>- Pitajte ih: “Ima li nešto što bi ti pomoglo da se osjećaš bolje, a što bih ja mogao da uradim za tebe?”; “Imaš li nekih problema koje možemo zajedno da riješimo?”; „Šta si ranije radio/la u teškim situacijama, a da ti je pomoglo?“</a:t>
            </a:r>
          </a:p>
          <a:p>
            <a:pPr eaLnBrk="1" hangingPunct="1">
              <a:buFont typeface="Arial" charset="0"/>
              <a:buNone/>
            </a:pPr>
            <a:endParaRPr lang="pl-PL" sz="2800" dirty="0" smtClean="0">
              <a:latin typeface="PT Sans Narrow" charset="0"/>
            </a:endParaRPr>
          </a:p>
          <a:p>
            <a:pPr eaLnBrk="1" hangingPunct="1">
              <a:buFont typeface="Arial" charset="0"/>
              <a:buNone/>
            </a:pPr>
            <a:r>
              <a:rPr lang="pl-PL" sz="2800" b="1" dirty="0" smtClean="0">
                <a:latin typeface="PT Sans Narrow" charset="0"/>
              </a:rPr>
              <a:t>4. Uputite ljude </a:t>
            </a:r>
            <a:r>
              <a:rPr lang="pl-PL" sz="2800" dirty="0" smtClean="0">
                <a:latin typeface="PT Sans Narrow" charset="0"/>
              </a:rPr>
              <a:t>da su njihovi osjećaji normalna reakcija na nenormalne okolnosti</a:t>
            </a:r>
            <a:endParaRPr lang="bs-Latn-BA" sz="2800" dirty="0" smtClean="0">
              <a:latin typeface="PT Sans Narro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9843" y="314793"/>
            <a:ext cx="8904157" cy="4609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pl-PL" sz="2800" b="1" dirty="0" smtClean="0"/>
              <a:t>5</a:t>
            </a:r>
            <a:r>
              <a:rPr lang="pl-PL" sz="2800" b="1" dirty="0" smtClean="0">
                <a:latin typeface="PT Sans Narrow" charset="0"/>
              </a:rPr>
              <a:t>. Uputiti: Kada zatražiti pomoć ?</a:t>
            </a:r>
            <a:r>
              <a:rPr lang="bs-Latn-BA" sz="3200" dirty="0" smtClean="0">
                <a:latin typeface="PT Sans Narrow" charset="0"/>
              </a:rPr>
              <a:t/>
            </a:r>
            <a:br>
              <a:rPr lang="bs-Latn-BA" sz="3200" dirty="0" smtClean="0">
                <a:latin typeface="PT Sans Narrow" charset="0"/>
              </a:rPr>
            </a:br>
            <a:endParaRPr lang="bs-Latn-BA" sz="2400" dirty="0" smtClean="0">
              <a:latin typeface="PT Sans Narrow" charset="0"/>
            </a:endParaRPr>
          </a:p>
          <a:p>
            <a:pPr marL="0" indent="0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350" dirty="0" smtClean="0">
                <a:latin typeface="PT Sans Narrow" charset="0"/>
              </a:rPr>
              <a:t>Osjećaju simtome poslije dvije nedjelje od događaja;</a:t>
            </a:r>
            <a:endParaRPr lang="bs-Latn-BA" sz="2350" dirty="0" smtClean="0">
              <a:latin typeface="PT Sans Narrow" charset="0"/>
            </a:endParaRPr>
          </a:p>
          <a:p>
            <a:pPr marL="0" indent="0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350" dirty="0" smtClean="0">
                <a:latin typeface="PT Sans Narrow" charset="0"/>
              </a:rPr>
              <a:t>Osjećaju se preplašeno i razdražljivo skoro stalno;</a:t>
            </a:r>
            <a:endParaRPr lang="bs-Latn-BA" sz="2350" dirty="0" smtClean="0">
              <a:latin typeface="PT Sans Narrow" charset="0"/>
            </a:endParaRPr>
          </a:p>
          <a:p>
            <a:pPr marL="0" indent="0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350" dirty="0" smtClean="0">
                <a:latin typeface="PT Sans Narrow" charset="0"/>
              </a:rPr>
              <a:t>Nisu sposobni da se nose sa svakodnevnom rutinom;</a:t>
            </a:r>
            <a:endParaRPr lang="bs-Latn-BA" sz="2350" dirty="0" smtClean="0">
              <a:latin typeface="PT Sans Narrow" charset="0"/>
            </a:endParaRPr>
          </a:p>
          <a:p>
            <a:pPr marL="0" indent="0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350" dirty="0" smtClean="0">
                <a:latin typeface="PT Sans Narrow" charset="0"/>
              </a:rPr>
              <a:t>Osjećaju beznadežnost i očaj i crno gledaju u budućnost; </a:t>
            </a:r>
            <a:endParaRPr lang="bs-Latn-BA" sz="2350" dirty="0" smtClean="0">
              <a:latin typeface="PT Sans Narrow" charset="0"/>
            </a:endParaRPr>
          </a:p>
          <a:p>
            <a:pPr marL="0" indent="0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350" dirty="0" smtClean="0">
                <a:latin typeface="PT Sans Narrow" charset="0"/>
              </a:rPr>
              <a:t>Imaju nesanicu više od 3 dana i/ili noćne more. </a:t>
            </a:r>
            <a:endParaRPr lang="bs-Latn-BA" sz="2350" dirty="0" smtClean="0">
              <a:latin typeface="PT Sans Narrow" charset="0"/>
            </a:endParaRPr>
          </a:p>
          <a:p>
            <a:pPr marL="0" indent="0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350" dirty="0" smtClean="0">
                <a:latin typeface="PT Sans Narrow" charset="0"/>
              </a:rPr>
              <a:t>Nemaju nikoga u blizini da im pomogne, da podjele osjećanja ili da ih podrži</a:t>
            </a:r>
            <a:endParaRPr lang="bs-Latn-BA" sz="2350" dirty="0" smtClean="0">
              <a:latin typeface="PT Sans Narrow" charset="0"/>
            </a:endParaRPr>
          </a:p>
          <a:p>
            <a:pPr marL="0" indent="0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350" dirty="0" smtClean="0">
                <a:latin typeface="PT Sans Narrow" charset="0"/>
              </a:rPr>
              <a:t>Razmišljaju da povrijede sebe ili druge</a:t>
            </a:r>
            <a:endParaRPr lang="bs-Latn-BA" sz="2350" dirty="0" smtClean="0">
              <a:latin typeface="PT Sans Narro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4852" y="419724"/>
            <a:ext cx="8244591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/>
            <a:r>
              <a:rPr lang="en-US" sz="2800" b="1" dirty="0" smtClean="0">
                <a:latin typeface="PT Sans Narrow" charset="0"/>
              </a:rPr>
              <a:t>6. </a:t>
            </a:r>
            <a:r>
              <a:rPr lang="en-US" sz="2800" b="1" dirty="0" err="1" smtClean="0">
                <a:latin typeface="PT Sans Narrow" charset="0"/>
              </a:rPr>
              <a:t>Preporučite</a:t>
            </a:r>
            <a:r>
              <a:rPr lang="en-US" sz="2800" b="1" dirty="0" smtClean="0">
                <a:latin typeface="PT Sans Narrow" charset="0"/>
              </a:rPr>
              <a:t>: </a:t>
            </a:r>
          </a:p>
          <a:p>
            <a:pPr lvl="1" eaLnBrk="1" hangingPunct="1"/>
            <a:endParaRPr lang="en-US" sz="2800" b="1" dirty="0" smtClean="0">
              <a:latin typeface="PT Sans Narrow" charset="0"/>
            </a:endParaRPr>
          </a:p>
          <a:p>
            <a:pPr lvl="1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</a:rPr>
              <a:t>Provođenje vremena sa ljudima koje vole; </a:t>
            </a:r>
            <a:endParaRPr lang="bs-Latn-BA" sz="2400" dirty="0" smtClean="0">
              <a:latin typeface="PT Sans Narrow" charset="0"/>
            </a:endParaRPr>
          </a:p>
          <a:p>
            <a:pPr lvl="1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</a:rPr>
              <a:t>Dopuštanja sna i odmora (umor koji osjećaju je</a:t>
            </a:r>
            <a:r>
              <a:rPr lang="en-US" sz="2400" dirty="0" smtClean="0">
                <a:latin typeface="PT Sans Narrow" charset="0"/>
              </a:rPr>
              <a:t> </a:t>
            </a:r>
            <a:r>
              <a:rPr lang="pl-PL" sz="2400" dirty="0" smtClean="0">
                <a:latin typeface="PT Sans Narrow" charset="0"/>
              </a:rPr>
              <a:t>normalan); </a:t>
            </a:r>
            <a:endParaRPr lang="bs-Latn-BA" sz="2400" dirty="0" smtClean="0">
              <a:latin typeface="PT Sans Narrow" charset="0"/>
            </a:endParaRPr>
          </a:p>
          <a:p>
            <a:pPr lvl="1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</a:rPr>
              <a:t>Uputite ih na to da govore o tome, kako se osjećaju i šta se desilo, kad osjete potrebu; </a:t>
            </a:r>
            <a:endParaRPr lang="bs-Latn-BA" sz="2400" dirty="0" smtClean="0">
              <a:latin typeface="PT Sans Narrow" charset="0"/>
            </a:endParaRPr>
          </a:p>
          <a:p>
            <a:pPr lvl="1"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</a:rPr>
              <a:t>Izražavati svoje potrebe svojim bližnjima i zajednici; </a:t>
            </a:r>
            <a:endParaRPr lang="bs-Latn-BA" sz="2400" dirty="0" smtClean="0">
              <a:latin typeface="PT Sans Narro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9823" y="464695"/>
            <a:ext cx="8664315" cy="4690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b="1" dirty="0" smtClean="0"/>
              <a:t>7</a:t>
            </a:r>
            <a:r>
              <a:rPr lang="en-US" sz="2800" b="1" dirty="0" smtClean="0">
                <a:latin typeface="PT Sans Narrow" charset="0"/>
              </a:rPr>
              <a:t>. </a:t>
            </a:r>
            <a:r>
              <a:rPr lang="en-US" sz="2800" b="1" dirty="0" err="1" smtClean="0">
                <a:latin typeface="PT Sans Narrow" charset="0"/>
              </a:rPr>
              <a:t>Skrenite</a:t>
            </a:r>
            <a:r>
              <a:rPr lang="en-US" sz="2800" b="1" dirty="0" smtClean="0">
                <a:latin typeface="PT Sans Narrow" charset="0"/>
              </a:rPr>
              <a:t> </a:t>
            </a:r>
            <a:r>
              <a:rPr lang="en-US" sz="2800" b="1" dirty="0" err="1" smtClean="0">
                <a:latin typeface="PT Sans Narrow" charset="0"/>
              </a:rPr>
              <a:t>pažnju</a:t>
            </a:r>
            <a:r>
              <a:rPr lang="en-US" sz="2800" b="1" dirty="0" smtClean="0">
                <a:latin typeface="PT Sans Narrow" charset="0"/>
              </a:rPr>
              <a:t> </a:t>
            </a:r>
            <a:r>
              <a:rPr lang="en-US" sz="2800" b="1" dirty="0" err="1" smtClean="0">
                <a:latin typeface="PT Sans Narrow" charset="0"/>
              </a:rPr>
              <a:t>da</a:t>
            </a:r>
            <a:r>
              <a:rPr lang="en-US" sz="2800" b="1" dirty="0" smtClean="0">
                <a:latin typeface="PT Sans Narrow" charset="0"/>
              </a:rPr>
              <a:t> </a:t>
            </a:r>
            <a:r>
              <a:rPr lang="en-US" sz="2800" b="1" dirty="0" err="1" smtClean="0">
                <a:latin typeface="PT Sans Narrow" charset="0"/>
              </a:rPr>
              <a:t>nije</a:t>
            </a:r>
            <a:r>
              <a:rPr lang="en-US" sz="2800" b="1" dirty="0" smtClean="0">
                <a:latin typeface="PT Sans Narrow" charset="0"/>
              </a:rPr>
              <a:t> </a:t>
            </a:r>
            <a:r>
              <a:rPr lang="en-US" sz="2800" b="1" dirty="0" err="1" smtClean="0">
                <a:latin typeface="PT Sans Narrow" charset="0"/>
              </a:rPr>
              <a:t>dobro</a:t>
            </a:r>
            <a:endParaRPr lang="en-US" sz="2800" b="1" dirty="0" smtClean="0">
              <a:latin typeface="PT Sans Narrow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b="1" dirty="0" smtClean="0">
              <a:latin typeface="PT Sans Narrow" charset="0"/>
            </a:endParaRP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</a:rPr>
              <a:t>Umirivati se sa nepropisanim sredstvima za smirenje i alkoholom; </a:t>
            </a:r>
            <a:endParaRPr lang="bs-Latn-BA" sz="2400" dirty="0" smtClean="0">
              <a:latin typeface="PT Sans Narrow" charset="0"/>
            </a:endParaRP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</a:rPr>
              <a:t>Izbjegavati donositi velike odluke u trenutnoj situaciji; </a:t>
            </a:r>
            <a:endParaRPr lang="bs-Latn-BA" sz="2400" dirty="0" smtClean="0">
              <a:latin typeface="PT Sans Narrow" charset="0"/>
            </a:endParaRP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</a:rPr>
              <a:t>Pokušavati blokirati misli o tome šta se dogodilo; Postepeno se  suočavanje s time šta se dogodilo, će pomoći u suočavanju sa traumatskim iskustvom</a:t>
            </a:r>
            <a:endParaRPr lang="bs-Latn-BA" sz="2400" dirty="0" smtClean="0">
              <a:latin typeface="PT Sans Narrow" charset="0"/>
            </a:endParaRPr>
          </a:p>
          <a:p>
            <a:pPr eaLnBrk="1" hangingPunct="1">
              <a:lnSpc>
                <a:spcPct val="150000"/>
              </a:lnSpc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</a:rPr>
              <a:t>Ne izbjegavanje svoja osjećaja – podjeliti svoja iskustva sa drugima, kada postoje mogućnosti. Možete se zbog toga osjećati neprijatno ponekad, ali razumjevanje ljudi u koje imate povjerenje je korisno.</a:t>
            </a:r>
            <a:endParaRPr lang="bs-Latn-BA" sz="2400" dirty="0" smtClean="0">
              <a:latin typeface="PT Sans Narro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4675" y="314793"/>
            <a:ext cx="804971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b="1" dirty="0" smtClean="0">
                <a:latin typeface="PT Sans Narrow" charset="0"/>
              </a:rPr>
              <a:t>U </a:t>
            </a:r>
            <a:r>
              <a:rPr lang="en-US" sz="2800" b="1" dirty="0" err="1" smtClean="0">
                <a:latin typeface="PT Sans Narrow" charset="0"/>
              </a:rPr>
              <a:t>razgovoru</a:t>
            </a:r>
            <a:r>
              <a:rPr lang="en-US" sz="2800" b="1" dirty="0" smtClean="0">
                <a:latin typeface="PT Sans Narrow" charset="0"/>
              </a:rPr>
              <a:t> </a:t>
            </a:r>
            <a:r>
              <a:rPr lang="en-US" sz="2800" b="1" dirty="0" err="1" smtClean="0">
                <a:latin typeface="PT Sans Narrow" charset="0"/>
              </a:rPr>
              <a:t>sa</a:t>
            </a:r>
            <a:r>
              <a:rPr lang="en-US" sz="2800" b="1" dirty="0" smtClean="0">
                <a:latin typeface="PT Sans Narrow" charset="0"/>
              </a:rPr>
              <a:t> </a:t>
            </a:r>
            <a:r>
              <a:rPr lang="en-US" sz="2800" b="1" dirty="0" err="1" smtClean="0">
                <a:latin typeface="PT Sans Narrow" charset="0"/>
              </a:rPr>
              <a:t>odraslim</a:t>
            </a:r>
            <a:r>
              <a:rPr lang="en-US" sz="2800" b="1" dirty="0" smtClean="0">
                <a:latin typeface="PT Sans Narrow" charset="0"/>
              </a:rPr>
              <a:t>..</a:t>
            </a:r>
          </a:p>
          <a:p>
            <a:pPr eaLnBrk="1" hangingPunct="1">
              <a:lnSpc>
                <a:spcPct val="80000"/>
              </a:lnSpc>
            </a:pPr>
            <a:endParaRPr lang="en-US" sz="2800" b="1" dirty="0" smtClean="0">
              <a:latin typeface="PT Sans Narrow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pl-PL" sz="2400" b="1" dirty="0" smtClean="0">
                <a:latin typeface="PT Sans Narrow" charset="0"/>
              </a:rPr>
              <a:t>EMOTIVNA PODRŠKA:</a:t>
            </a:r>
            <a:r>
              <a:rPr lang="pl-PL" sz="2000" b="1" dirty="0" smtClean="0">
                <a:latin typeface="PT Sans Narrow" charset="0"/>
              </a:rPr>
              <a:t> </a:t>
            </a:r>
            <a:endParaRPr lang="en-US" sz="2000" b="1" dirty="0" smtClean="0">
              <a:latin typeface="PT Sans Narrow" charset="0"/>
            </a:endParaRPr>
          </a:p>
          <a:p>
            <a:pPr eaLnBrk="1" hangingPunct="1">
              <a:lnSpc>
                <a:spcPct val="80000"/>
              </a:lnSpc>
            </a:pPr>
            <a:endParaRPr lang="bs-Latn-BA" sz="2400" dirty="0" smtClean="0">
              <a:latin typeface="PT Sans Narrow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pl-PL" sz="2400" dirty="0" smtClean="0">
                <a:latin typeface="PT Sans Narrow" charset="0"/>
              </a:rPr>
              <a:t>a. Slušajte pažljivo</a:t>
            </a:r>
            <a:endParaRPr lang="bs-Latn-BA" sz="2400" dirty="0" smtClean="0">
              <a:latin typeface="PT Sans Narrow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pl-PL" sz="2400" dirty="0" smtClean="0">
                <a:latin typeface="PT Sans Narrow" charset="0"/>
              </a:rPr>
              <a:t>b. Stavite se u njihovu kožu!</a:t>
            </a:r>
            <a:endParaRPr lang="bs-Latn-BA" sz="2400" dirty="0" smtClean="0">
              <a:latin typeface="PT Sans Narrow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pl-PL" sz="2400" dirty="0" smtClean="0">
                <a:latin typeface="PT Sans Narrow" charset="0"/>
              </a:rPr>
              <a:t>c.  Ne trudite se da kažete pravu stvar, budite tu!</a:t>
            </a:r>
            <a:endParaRPr lang="bs-Latn-BA" sz="2400" dirty="0" smtClean="0">
              <a:latin typeface="PT Sans Narrow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pl-PL" sz="2400" dirty="0" smtClean="0">
                <a:latin typeface="PT Sans Narrow" charset="0"/>
              </a:rPr>
              <a:t>d.  Izbjegavajte rečenice:„Znam kako ti je, bit će sve u redu!“ Ne dajite primjere iz svoga života! Bolje recite: „Vrlo je teško prolaziti kroz sve ovo.“ </a:t>
            </a:r>
            <a:endParaRPr lang="bs-Latn-BA" sz="2400" dirty="0" smtClean="0">
              <a:latin typeface="PT Sans Narrow" charset="0"/>
            </a:endParaRPr>
          </a:p>
          <a:p>
            <a:pPr eaLnBrk="1" hangingPunct="1"/>
            <a:r>
              <a:rPr lang="pl-PL" sz="2400" dirty="0" smtClean="0">
                <a:latin typeface="PT Sans Narrow" charset="0"/>
              </a:rPr>
              <a:t>Ne postoji dobar ili loš način na koji se ljudi trenutno osjećaju. Jedino štoje</a:t>
            </a:r>
            <a:endParaRPr lang="en-US" sz="2400" dirty="0" smtClean="0">
              <a:latin typeface="PT Sans Narrow" charset="0"/>
            </a:endParaRPr>
          </a:p>
          <a:p>
            <a:pPr eaLnBrk="1" hangingPunct="1"/>
            <a:r>
              <a:rPr lang="pl-PL" sz="2400" dirty="0" smtClean="0">
                <a:latin typeface="PT Sans Narrow" charset="0"/>
              </a:rPr>
              <a:t>bitno jeste da osjete vašu podršku.</a:t>
            </a:r>
            <a:endParaRPr lang="bs-Latn-BA" sz="2400" dirty="0" smtClean="0">
              <a:latin typeface="PT Sans Narrow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pl-PL" sz="2400" dirty="0" smtClean="0">
                <a:latin typeface="PT Sans Narrow" charset="0"/>
              </a:rPr>
              <a:t>e. NE DAVATI LAŽNU NADU! - Budite tu za ljude, ali nemojte im obećavati da će sutra biti sve bolje. Treba ih usmjeriti na razmišljanje onoga što imaju, potaknuti na razmišljanje šta dalje i kako se organizirati u datoj situaciji. </a:t>
            </a:r>
            <a:endParaRPr lang="bs-Latn-BA" sz="2400" dirty="0" smtClean="0">
              <a:latin typeface="PT Sans Narrow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793" y="719529"/>
            <a:ext cx="836451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2800" b="1" dirty="0" err="1" smtClean="0">
                <a:latin typeface="PT Sans Narrow" charset="0"/>
                <a:cs typeface="Calibri" pitchFamily="34" charset="0"/>
              </a:rPr>
              <a:t>Razgovor</a:t>
            </a:r>
            <a:r>
              <a:rPr lang="en-US" sz="2800" b="1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800" b="1" dirty="0" err="1" smtClean="0">
                <a:latin typeface="PT Sans Narrow" charset="0"/>
                <a:cs typeface="Calibri" pitchFamily="34" charset="0"/>
              </a:rPr>
              <a:t>sa</a:t>
            </a:r>
            <a:r>
              <a:rPr lang="en-US" sz="2800" b="1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800" b="1" dirty="0" err="1" smtClean="0">
                <a:latin typeface="PT Sans Narrow" charset="0"/>
                <a:cs typeface="Calibri" pitchFamily="34" charset="0"/>
              </a:rPr>
              <a:t>porodicom</a:t>
            </a:r>
            <a:endParaRPr lang="en-US" sz="2800" b="1" dirty="0" smtClean="0">
              <a:latin typeface="PT Sans Narrow" charset="0"/>
              <a:cs typeface="Calibri" pitchFamily="34" charset="0"/>
            </a:endParaRPr>
          </a:p>
          <a:p>
            <a:pPr eaLnBrk="1" hangingPunct="1"/>
            <a:endParaRPr lang="en-US" sz="2800" b="1" dirty="0" smtClean="0">
              <a:latin typeface="PT Sans Narrow" charset="0"/>
              <a:cs typeface="Calibri" pitchFamily="34" charset="0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en-US" sz="2400" dirty="0" err="1" smtClean="0">
                <a:latin typeface="PT Sans Narrow" charset="0"/>
                <a:cs typeface="Calibri" pitchFamily="34" charset="0"/>
              </a:rPr>
              <a:t>Ohrabrite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ih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se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staraju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o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sebi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: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spavanje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hrana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relaksacija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</a:p>
          <a:p>
            <a:pPr eaLnBrk="1" hangingPunct="1">
              <a:buFont typeface="Arial" pitchFamily="34" charset="0"/>
              <a:buChar char="•"/>
            </a:pPr>
            <a:endParaRPr lang="en-US" sz="2400" dirty="0" smtClean="0">
              <a:latin typeface="PT Sans Narrow" charset="0"/>
              <a:cs typeface="Calibri" pitchFamily="34" charset="0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en-US" sz="2400" dirty="0" err="1" smtClean="0">
                <a:latin typeface="PT Sans Narrow" charset="0"/>
                <a:cs typeface="Calibri" pitchFamily="34" charset="0"/>
              </a:rPr>
              <a:t>Ohrabrite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ih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uživaju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u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nečemu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. </a:t>
            </a:r>
          </a:p>
          <a:p>
            <a:pPr eaLnBrk="1" hangingPunct="1">
              <a:buFont typeface="Arial" pitchFamily="34" charset="0"/>
              <a:buChar char="•"/>
            </a:pPr>
            <a:endParaRPr lang="en-US" sz="2400" dirty="0" smtClean="0">
              <a:latin typeface="PT Sans Narrow" charset="0"/>
              <a:cs typeface="Calibri" pitchFamily="34" charset="0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en-US" sz="2400" dirty="0" err="1" smtClean="0">
                <a:latin typeface="PT Sans Narrow" charset="0"/>
                <a:cs typeface="Calibri" pitchFamily="34" charset="0"/>
              </a:rPr>
              <a:t>Povećavajte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im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osjećaj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sigurnosti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usmjerite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im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misli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na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zajedništvo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u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porodici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koju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imaju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. </a:t>
            </a:r>
          </a:p>
          <a:p>
            <a:pPr eaLnBrk="1" hangingPunct="1">
              <a:buFont typeface="Arial" charset="0"/>
              <a:buNone/>
            </a:pPr>
            <a:endParaRPr lang="bs-Latn-BA" sz="2400" dirty="0" smtClean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4793" y="494674"/>
            <a:ext cx="8544394" cy="4126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3200" b="1" dirty="0" err="1" smtClean="0">
                <a:latin typeface="PT Sans Narrow" charset="0"/>
                <a:cs typeface="Calibri" pitchFamily="34" charset="0"/>
              </a:rPr>
              <a:t>Razgovor</a:t>
            </a:r>
            <a:r>
              <a:rPr lang="en-US" sz="3200" b="1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3200" b="1" dirty="0" err="1" smtClean="0">
                <a:latin typeface="PT Sans Narrow" charset="0"/>
                <a:cs typeface="Calibri" pitchFamily="34" charset="0"/>
              </a:rPr>
              <a:t>sa</a:t>
            </a:r>
            <a:r>
              <a:rPr lang="en-US" sz="3200" b="1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3200" b="1" dirty="0" err="1" smtClean="0">
                <a:latin typeface="PT Sans Narrow" charset="0"/>
                <a:cs typeface="Calibri" pitchFamily="34" charset="0"/>
              </a:rPr>
              <a:t>roditeljima</a:t>
            </a:r>
            <a:r>
              <a:rPr lang="en-US" sz="3200" b="1" dirty="0" smtClean="0">
                <a:latin typeface="PT Sans Narrow" charset="0"/>
                <a:cs typeface="Calibri" pitchFamily="34" charset="0"/>
              </a:rPr>
              <a:t>…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</a:pPr>
            <a:endParaRPr lang="en-US" sz="2400" b="1" dirty="0" smtClean="0">
              <a:latin typeface="PT Sans Narrow" charset="0"/>
              <a:cs typeface="Calibri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en-US" sz="2400" dirty="0" err="1" smtClean="0">
                <a:latin typeface="PT Sans Narrow" charset="0"/>
                <a:cs typeface="Calibri" pitchFamily="34" charset="0"/>
              </a:rPr>
              <a:t>uputite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je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djeci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potrebna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podrška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oni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ne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razumiju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situaciju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te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im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treba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dati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vremena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družiti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se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njima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naročito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pred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spavanje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dozvoliti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im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pokažu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emocije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te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naznačiti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je to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proces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iscjeljivanja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. 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endParaRPr lang="en-US" sz="2400" dirty="0" smtClean="0">
              <a:latin typeface="PT Sans Narrow" charset="0"/>
              <a:cs typeface="Calibri" pitchFamily="34" charset="0"/>
            </a:endParaRP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Font typeface="Arial" pitchFamily="34" charset="0"/>
              <a:buChar char="•"/>
            </a:pPr>
            <a:r>
              <a:rPr lang="bs-Latn-BA" sz="2400" dirty="0" smtClean="0">
                <a:latin typeface="PT Sans Narrow" charset="0"/>
                <a:cs typeface="Calibri" pitchFamily="34" charset="0"/>
              </a:rPr>
              <a:t>upoznati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određena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ponašanja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mogu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biti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znak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djeca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teže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savladavanju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situacije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: </a:t>
            </a:r>
            <a:r>
              <a:rPr lang="bs-Latn-BA" sz="2400" dirty="0" smtClean="0">
                <a:latin typeface="PT Sans Narrow" charset="0"/>
                <a:cs typeface="Calibri" pitchFamily="34" charset="0"/>
              </a:rPr>
              <a:t>(p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onavljanje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igre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koja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podsjeća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na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traumu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košmari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haotično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ponašanje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razdražljivost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povlačenje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izbjegavanje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svega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što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podsjeća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na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određeni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događaj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,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povlačenje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u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sebe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izbjegavanje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kontakta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drugom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djecom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ljudima</a:t>
            </a:r>
            <a:r>
              <a:rPr lang="bs-Latn-BA" sz="2400" dirty="0" smtClean="0">
                <a:latin typeface="PT Sans Narrow" charset="0"/>
                <a:cs typeface="Calibri" pitchFamily="34" charset="0"/>
              </a:rPr>
              <a:t>)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. </a:t>
            </a:r>
            <a:endParaRPr lang="bs-Latn-BA" sz="2400" dirty="0" smtClean="0">
              <a:latin typeface="PT Sans Narrow" charset="0"/>
              <a:cs typeface="Calibri" pitchFamily="34" charset="0"/>
            </a:endParaRPr>
          </a:p>
          <a:p>
            <a:pPr algn="ctr" eaLnBrk="1" hangingPunct="1">
              <a:lnSpc>
                <a:spcPct val="80000"/>
              </a:lnSpc>
              <a:spcBef>
                <a:spcPts val="600"/>
              </a:spcBef>
              <a:buFont typeface="Arial" charset="0"/>
              <a:buNone/>
            </a:pPr>
            <a:r>
              <a:rPr lang="en-US" sz="2400" dirty="0" err="1" smtClean="0">
                <a:latin typeface="PT Sans Narrow" charset="0"/>
                <a:cs typeface="Calibri" pitchFamily="34" charset="0"/>
              </a:rPr>
              <a:t>Uputite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ih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da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bi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trebali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potražiti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pomoć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u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tim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slučajevima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. </a:t>
            </a:r>
            <a:endParaRPr lang="bs-Latn-BA" sz="2400" dirty="0" smtClean="0">
              <a:latin typeface="PT Sans Narrow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882" y="569626"/>
            <a:ext cx="8784236" cy="471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eaLnBrk="1" hangingPunct="1">
              <a:lnSpc>
                <a:spcPct val="90000"/>
              </a:lnSpc>
              <a:buFont typeface="Arial" charset="0"/>
              <a:buNone/>
            </a:pPr>
            <a:r>
              <a:rPr lang="en-US" sz="2800" b="1" dirty="0" smtClean="0">
                <a:latin typeface="PT Sans Narrow" charset="0"/>
                <a:cs typeface="Calibri" pitchFamily="34" charset="0"/>
              </a:rPr>
              <a:t>U </a:t>
            </a:r>
            <a:r>
              <a:rPr lang="en-US" sz="2800" b="1" dirty="0" err="1" smtClean="0">
                <a:latin typeface="PT Sans Narrow" charset="0"/>
                <a:cs typeface="Calibri" pitchFamily="34" charset="0"/>
              </a:rPr>
              <a:t>razgovoru</a:t>
            </a:r>
            <a:r>
              <a:rPr lang="en-US" sz="2800" b="1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800" b="1" dirty="0" err="1" smtClean="0">
                <a:latin typeface="PT Sans Narrow" charset="0"/>
                <a:cs typeface="Calibri" pitchFamily="34" charset="0"/>
              </a:rPr>
              <a:t>sa</a:t>
            </a:r>
            <a:r>
              <a:rPr lang="en-US" sz="2800" b="1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800" b="1" dirty="0" err="1" smtClean="0">
                <a:latin typeface="PT Sans Narrow" charset="0"/>
                <a:cs typeface="Calibri" pitchFamily="34" charset="0"/>
              </a:rPr>
              <a:t>djecom</a:t>
            </a:r>
            <a:r>
              <a:rPr lang="en-US" sz="2800" b="1" dirty="0" smtClean="0">
                <a:latin typeface="PT Sans Narrow" charset="0"/>
                <a:cs typeface="Calibri" pitchFamily="34" charset="0"/>
              </a:rPr>
              <a:t>…</a:t>
            </a:r>
            <a:endParaRPr lang="en-US" sz="2400" dirty="0" smtClean="0">
              <a:latin typeface="PT Sans Narrow" charset="0"/>
              <a:cs typeface="Calibri" pitchFamily="34" charset="0"/>
            </a:endParaRPr>
          </a:p>
          <a:p>
            <a:pPr marL="0" indent="0" eaLnBrk="1" hangingPunct="1">
              <a:spcBef>
                <a:spcPts val="650"/>
              </a:spcBef>
              <a:buFont typeface="Arial" pitchFamily="34" charset="0"/>
              <a:buChar char="•"/>
            </a:pPr>
            <a:r>
              <a:rPr lang="en-US" sz="2300" dirty="0" smtClean="0">
                <a:latin typeface="PT Sans Narrow" charset="0"/>
                <a:cs typeface="Calibri" pitchFamily="34" charset="0"/>
              </a:rPr>
              <a:t>P</a:t>
            </a:r>
            <a:r>
              <a:rPr lang="pl-PL" sz="2400" dirty="0" smtClean="0">
                <a:latin typeface="PT Sans Narrow" charset="0"/>
                <a:cs typeface="Calibri" pitchFamily="34" charset="0"/>
              </a:rPr>
              <a:t>rije svega razgovarajte sa djecom, pitajte ih kako se osjećaju</a:t>
            </a:r>
            <a:endParaRPr lang="bs-Latn-BA" sz="2400" dirty="0" smtClean="0">
              <a:latin typeface="PT Sans Narrow" charset="0"/>
              <a:cs typeface="Calibri" pitchFamily="34" charset="0"/>
            </a:endParaRPr>
          </a:p>
          <a:p>
            <a:pPr marL="0" indent="0" eaLnBrk="1" hangingPunct="1">
              <a:spcBef>
                <a:spcPts val="650"/>
              </a:spcBef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  <a:cs typeface="Calibri" pitchFamily="34" charset="0"/>
              </a:rPr>
              <a:t> Ubijedite djecu da je sada sigurno</a:t>
            </a:r>
            <a:endParaRPr lang="bs-Latn-BA" sz="2400" dirty="0" smtClean="0">
              <a:latin typeface="PT Sans Narrow" charset="0"/>
              <a:cs typeface="Calibri" pitchFamily="34" charset="0"/>
            </a:endParaRPr>
          </a:p>
          <a:p>
            <a:pPr marL="0" indent="0" eaLnBrk="1" hangingPunct="1">
              <a:spcBef>
                <a:spcPts val="650"/>
              </a:spcBef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  <a:cs typeface="Calibri" pitchFamily="34" charset="0"/>
              </a:rPr>
              <a:t>Slušajte ih šta vam imaju za reći</a:t>
            </a:r>
            <a:endParaRPr lang="bs-Latn-BA" sz="2400" dirty="0" smtClean="0">
              <a:latin typeface="PT Sans Narrow" charset="0"/>
              <a:cs typeface="Calibri" pitchFamily="34" charset="0"/>
            </a:endParaRPr>
          </a:p>
          <a:p>
            <a:pPr marL="0" indent="0" eaLnBrk="1" hangingPunct="1">
              <a:spcBef>
                <a:spcPts val="650"/>
              </a:spcBef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  <a:cs typeface="Calibri" pitchFamily="34" charset="0"/>
              </a:rPr>
              <a:t> Igrajte sa sa djecom</a:t>
            </a:r>
            <a:endParaRPr lang="bs-Latn-BA" sz="2400" dirty="0" smtClean="0">
              <a:latin typeface="PT Sans Narrow" charset="0"/>
              <a:cs typeface="Calibri" pitchFamily="34" charset="0"/>
            </a:endParaRPr>
          </a:p>
          <a:p>
            <a:pPr marL="0" indent="0" eaLnBrk="1" hangingPunct="1">
              <a:spcBef>
                <a:spcPts val="650"/>
              </a:spcBef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  <a:cs typeface="Calibri" pitchFamily="34" charset="0"/>
              </a:rPr>
              <a:t> Učinte da se osjećaju što udobnije, koliko je to moguće</a:t>
            </a:r>
            <a:endParaRPr lang="bs-Latn-BA" sz="2400" dirty="0" smtClean="0">
              <a:latin typeface="PT Sans Narrow" charset="0"/>
              <a:cs typeface="Calibri" pitchFamily="34" charset="0"/>
            </a:endParaRPr>
          </a:p>
          <a:p>
            <a:pPr marL="0" indent="0" eaLnBrk="1" hangingPunct="1">
              <a:spcBef>
                <a:spcPts val="650"/>
              </a:spcBef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  <a:cs typeface="Calibri" pitchFamily="34" charset="0"/>
              </a:rPr>
              <a:t> Pripremite aktivnosti prilagođene za njihov uzrast</a:t>
            </a:r>
            <a:endParaRPr lang="en-US" sz="2400" dirty="0" smtClean="0">
              <a:latin typeface="PT Sans Narrow" charset="0"/>
              <a:cs typeface="Calibri" pitchFamily="34" charset="0"/>
            </a:endParaRPr>
          </a:p>
          <a:p>
            <a:pPr marL="0" indent="0" eaLnBrk="1" hangingPunct="1">
              <a:spcBef>
                <a:spcPts val="650"/>
              </a:spcBef>
              <a:buFont typeface="Arial" pitchFamily="34" charset="0"/>
              <a:buChar char="•"/>
            </a:pPr>
            <a:r>
              <a:rPr lang="en-US" sz="2400" dirty="0" err="1" smtClean="0">
                <a:latin typeface="PT Sans Narrow" charset="0"/>
                <a:cs typeface="Calibri" pitchFamily="34" charset="0"/>
              </a:rPr>
              <a:t>Budite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model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za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zdrave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vještine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suočavanja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sa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400" dirty="0" err="1" smtClean="0">
                <a:latin typeface="PT Sans Narrow" charset="0"/>
                <a:cs typeface="Calibri" pitchFamily="34" charset="0"/>
              </a:rPr>
              <a:t>stresom</a:t>
            </a:r>
            <a:endParaRPr lang="bs-Latn-BA" sz="2400" dirty="0" smtClean="0">
              <a:latin typeface="PT Sans Narrow" charset="0"/>
              <a:cs typeface="Calibri" pitchFamily="34" charset="0"/>
            </a:endParaRPr>
          </a:p>
          <a:p>
            <a:pPr marL="0" indent="0" eaLnBrk="1" hangingPunct="1">
              <a:spcBef>
                <a:spcPts val="650"/>
              </a:spcBef>
              <a:buFont typeface="Arial" pitchFamily="34" charset="0"/>
              <a:buChar char="•"/>
            </a:pPr>
            <a:r>
              <a:rPr lang="pl-PL" sz="2400" dirty="0" smtClean="0">
                <a:latin typeface="PT Sans Narrow" charset="0"/>
                <a:cs typeface="Calibri" pitchFamily="34" charset="0"/>
              </a:rPr>
              <a:t> Ne preuzimajte previše odgovornosti niti im dajte previše odgovornosti</a:t>
            </a:r>
            <a:r>
              <a:rPr lang="en-US" sz="2400" dirty="0" smtClean="0">
                <a:latin typeface="PT Sans Narrow" charset="0"/>
                <a:cs typeface="Calibri" pitchFamily="34" charset="0"/>
              </a:rPr>
              <a:t>. </a:t>
            </a:r>
            <a:r>
              <a:rPr lang="pl-PL" sz="2400" dirty="0" smtClean="0">
                <a:latin typeface="PT Sans Narrow" charset="0"/>
                <a:cs typeface="Calibri" pitchFamily="34" charset="0"/>
              </a:rPr>
              <a:t>Ako ne mogu onda preuzmite na sebe, ali ih što prije vratite u rutinu. </a:t>
            </a:r>
            <a:endParaRPr lang="bs-Latn-BA" sz="2400" dirty="0" smtClean="0">
              <a:latin typeface="PT Sans Narrow" charset="0"/>
              <a:cs typeface="Calibri" pitchFamily="34" charset="0"/>
            </a:endParaRPr>
          </a:p>
          <a:p>
            <a:pPr marL="0" indent="0" eaLnBrk="1" hangingPunct="1">
              <a:lnSpc>
                <a:spcPct val="90000"/>
              </a:lnSpc>
            </a:pPr>
            <a:endParaRPr lang="bs-Latn-BA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9705" y="524657"/>
            <a:ext cx="7974767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sz="2800" b="1" dirty="0" err="1" smtClean="0">
                <a:latin typeface="PT Sans Narrow" charset="0"/>
                <a:cs typeface="Calibri" pitchFamily="34" charset="0"/>
              </a:rPr>
              <a:t>Umjesto</a:t>
            </a:r>
            <a:r>
              <a:rPr lang="en-US" sz="2800" b="1" dirty="0" smtClean="0">
                <a:latin typeface="PT Sans Narrow" charset="0"/>
                <a:cs typeface="Calibri" pitchFamily="34" charset="0"/>
              </a:rPr>
              <a:t> </a:t>
            </a:r>
            <a:r>
              <a:rPr lang="en-US" sz="2800" b="1" dirty="0" err="1" smtClean="0">
                <a:latin typeface="PT Sans Narrow" charset="0"/>
                <a:cs typeface="Calibri" pitchFamily="34" charset="0"/>
              </a:rPr>
              <a:t>zaključka</a:t>
            </a:r>
            <a:r>
              <a:rPr lang="en-US" sz="2800" b="1" dirty="0" smtClean="0">
                <a:latin typeface="PT Sans Narrow" charset="0"/>
                <a:cs typeface="Calibri" pitchFamily="34" charset="0"/>
              </a:rPr>
              <a:t>: </a:t>
            </a:r>
          </a:p>
          <a:p>
            <a:pPr eaLnBrk="1" hangingPunct="1">
              <a:buFont typeface="Arial" pitchFamily="34" charset="0"/>
              <a:buChar char="•"/>
            </a:pPr>
            <a:endParaRPr lang="en-US" sz="2800" dirty="0" smtClean="0">
              <a:latin typeface="PT Sans Narrow" charset="0"/>
              <a:cs typeface="Calibri" pitchFamily="34" charset="0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bs-Latn-BA" sz="2400" dirty="0" smtClean="0">
                <a:latin typeface="PT Sans Narrow" charset="0"/>
                <a:cs typeface="Calibri" pitchFamily="34" charset="0"/>
              </a:rPr>
              <a:t>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judi </a:t>
            </a:r>
            <a:r>
              <a:rPr lang="bs-Latn-BA" sz="2400" dirty="0" smtClean="0">
                <a:latin typeface="PT Sans Narrow" charset="0"/>
                <a:cs typeface="Calibri" pitchFamily="34" charset="0"/>
              </a:rPr>
              <a:t>su 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otporni. Svako od nas ima kapacitet da se nosi sa određenom situacijom</a:t>
            </a:r>
            <a:endParaRPr lang="en-US" sz="2400" dirty="0" smtClean="0">
              <a:latin typeface="PT Sans Narrow" charset="0"/>
              <a:cs typeface="Calibri" pitchFamily="34" charset="0"/>
            </a:endParaRPr>
          </a:p>
          <a:p>
            <a:pPr eaLnBrk="1" hangingPunct="1">
              <a:buFont typeface="Arial" pitchFamily="34" charset="0"/>
              <a:buChar char="•"/>
            </a:pPr>
            <a:endParaRPr lang="bs-Latn-BA" sz="2400" dirty="0" smtClean="0">
              <a:latin typeface="PT Sans Narrow" charset="0"/>
              <a:cs typeface="Calibri" pitchFamily="34" charset="0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Vi ste tu da ih podsjetite na njihovu snagu!</a:t>
            </a:r>
            <a:endParaRPr lang="en-US" sz="2400" dirty="0" smtClean="0">
              <a:latin typeface="PT Sans Narrow" charset="0"/>
              <a:cs typeface="Calibri" pitchFamily="34" charset="0"/>
            </a:endParaRPr>
          </a:p>
          <a:p>
            <a:pPr eaLnBrk="1" hangingPunct="1">
              <a:buFont typeface="Arial" pitchFamily="34" charset="0"/>
              <a:buChar char="•"/>
            </a:pPr>
            <a:endParaRPr lang="bs-Latn-BA" sz="2400" dirty="0" smtClean="0">
              <a:latin typeface="PT Sans Narrow" charset="0"/>
              <a:cs typeface="Calibri" pitchFamily="34" charset="0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vi-VN" sz="2400" dirty="0" smtClean="0">
                <a:latin typeface="Calibri" pitchFamily="34" charset="0"/>
                <a:cs typeface="Calibri" pitchFamily="34" charset="0"/>
              </a:rPr>
              <a:t>Na kraju dana sjetite se i sebe! Dajte sebi vremena da se suočite sa čitavom situacijom i iskustvima koje ste čuli. Zatražite superviziju. Priznajte sebi vaš doprinos</a:t>
            </a:r>
            <a:r>
              <a:rPr lang="vi-VN" sz="2600" dirty="0" smtClean="0">
                <a:latin typeface="Calibri" pitchFamily="34" charset="0"/>
                <a:cs typeface="Calibri" pitchFamily="34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body" idx="4294967295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title" idx="4294967295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r" sz="1800" b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Pitanja i komentari?!</a:t>
            </a:r>
            <a:endParaRPr sz="1800" b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hr" sz="2133" b="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HVALA NA PAŽNJI</a:t>
            </a:r>
            <a:endParaRPr sz="2133" b="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677908A29E847B255577925CF8970" ma:contentTypeVersion="14" ma:contentTypeDescription="Create a new document." ma:contentTypeScope="" ma:versionID="d6ce4ae84a358df721a3b8d2a0bb4e73">
  <xsd:schema xmlns:xsd="http://www.w3.org/2001/XMLSchema" xmlns:xs="http://www.w3.org/2001/XMLSchema" xmlns:p="http://schemas.microsoft.com/office/2006/metadata/properties" xmlns:ns3="47235b64-b3d8-44d6-a255-761f3eae7e4e" xmlns:ns4="fddc4404-816e-4f15-93d7-f41ea2bd7b93" targetNamespace="http://schemas.microsoft.com/office/2006/metadata/properties" ma:root="true" ma:fieldsID="3a23904451f22c4ea004624815565d65" ns3:_="" ns4:_="">
    <xsd:import namespace="47235b64-b3d8-44d6-a255-761f3eae7e4e"/>
    <xsd:import namespace="fddc4404-816e-4f15-93d7-f41ea2bd7b9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235b64-b3d8-44d6-a255-761f3eae7e4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dc4404-816e-4f15-93d7-f41ea2bd7b93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00E16B-32C0-4501-A27C-460AC410AF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47096B-7109-420A-B2A8-28611D2BACF5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fddc4404-816e-4f15-93d7-f41ea2bd7b93"/>
    <ds:schemaRef ds:uri="47235b64-b3d8-44d6-a255-761f3eae7e4e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82FC540-EDBD-4FB0-B207-1EFDCFFE7CA1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7235b64-b3d8-44d6-a255-761f3eae7e4e"/>
    <ds:schemaRef ds:uri="fddc4404-816e-4f15-93d7-f41ea2bd7b93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1300</Words>
  <Application>Microsoft Office PowerPoint</Application>
  <PresentationFormat>On-screen Show (16:9)</PresentationFormat>
  <Paragraphs>144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Open Sans</vt:lpstr>
      <vt:lpstr>Calibri</vt:lpstr>
      <vt:lpstr>PT Sans Narrow</vt:lpstr>
      <vt:lpstr>Tropic</vt:lpstr>
      <vt:lpstr>Psihološke krizne intervencije</vt:lpstr>
      <vt:lpstr>Krizni događaji i kriza </vt:lpstr>
      <vt:lpstr>Obilježja psihičke krize</vt:lpstr>
      <vt:lpstr>Psihološke krizne intervencije</vt:lpstr>
      <vt:lpstr>Ciljevi psiholoških kriznih intervencija</vt:lpstr>
      <vt:lpstr>Ciljevi psiholoških kriznih intervencija</vt:lpstr>
      <vt:lpstr>Psihološka krizna intervencija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Pitanja i komentari?!   HVALA NA PAŽNJI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Psihološke krizne intervencije</dc:title>
  <dc:creator>Bekir Omerbašić</dc:creator>
  <cp:lastModifiedBy>PC</cp:lastModifiedBy>
  <cp:revision>11</cp:revision>
  <dcterms:modified xsi:type="dcterms:W3CDTF">2023-04-07T09:13:20Z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0x0101005F3677908A29E847B255577925CF8970</vt:lpwstr>
  </property>
</Properties>
</file>