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725" r:id="rId4"/>
  </p:sldMasterIdLst>
  <p:notesMasterIdLst>
    <p:notesMasterId r:id="rId17"/>
  </p:notesMasterIdLst>
  <p:handoutMasterIdLst>
    <p:handoutMasterId r:id="rId18"/>
  </p:handoutMasterIdLst>
  <p:sldIdLst>
    <p:sldId id="256" r:id="rId5"/>
    <p:sldId id="309" r:id="rId6"/>
    <p:sldId id="316" r:id="rId7"/>
    <p:sldId id="310" r:id="rId8"/>
    <p:sldId id="312" r:id="rId9"/>
    <p:sldId id="317" r:id="rId10"/>
    <p:sldId id="298" r:id="rId11"/>
    <p:sldId id="299" r:id="rId12"/>
    <p:sldId id="305" r:id="rId13"/>
    <p:sldId id="314" r:id="rId14"/>
    <p:sldId id="308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50564F-E098-4FAB-A1D5-61B885E684A6}">
          <p14:sldIdLst>
            <p14:sldId id="256"/>
            <p14:sldId id="309"/>
            <p14:sldId id="316"/>
            <p14:sldId id="310"/>
            <p14:sldId id="312"/>
            <p14:sldId id="317"/>
            <p14:sldId id="298"/>
            <p14:sldId id="299"/>
            <p14:sldId id="305"/>
            <p14:sldId id="314"/>
            <p14:sldId id="308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9" autoAdjust="0"/>
  </p:normalViewPr>
  <p:slideViewPr>
    <p:cSldViewPr snapToGrid="0" showGuides="1">
      <p:cViewPr varScale="1">
        <p:scale>
          <a:sx n="115" d="100"/>
          <a:sy n="115" d="100"/>
        </p:scale>
        <p:origin x="43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svg"/><Relationship Id="rId1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svg"/><Relationship Id="rId1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F07F19-1F50-4B42-A7A0-278DF9D25B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EE95FC5-CD6B-4A50-9262-DC414E16C3EA}">
      <dgm:prSet/>
      <dgm:spPr/>
      <dgm:t>
        <a:bodyPr/>
        <a:lstStyle/>
        <a:p>
          <a:r>
            <a:rPr lang="bs-Latn-BA" dirty="0" smtClean="0">
              <a:solidFill>
                <a:schemeClr val="accent1">
                  <a:lumMod val="50000"/>
                </a:schemeClr>
              </a:solidFill>
            </a:rPr>
            <a:t>Odluka</a:t>
          </a:r>
          <a:r>
            <a:rPr lang="en-US" dirty="0" smtClean="0"/>
            <a:t> </a:t>
          </a:r>
          <a:r>
            <a:rPr lang="bs-Latn-BA" dirty="0" smtClean="0"/>
            <a:t>o donošenju Nastavnog plana i programa za osnovnu školu</a:t>
          </a:r>
          <a:endParaRPr lang="en-US" dirty="0">
            <a:solidFill>
              <a:schemeClr val="tx1">
                <a:alpha val="60000"/>
              </a:schemeClr>
            </a:solidFill>
          </a:endParaRPr>
        </a:p>
      </dgm:t>
    </dgm:pt>
    <dgm:pt modelId="{75374347-884B-4721-8CFF-DF080F5B1C79}" type="parTrans" cxnId="{B3F19EC2-A372-4EC3-BFE0-C62FFDFE3DF6}">
      <dgm:prSet/>
      <dgm:spPr/>
      <dgm:t>
        <a:bodyPr/>
        <a:lstStyle/>
        <a:p>
          <a:endParaRPr lang="en-US"/>
        </a:p>
      </dgm:t>
    </dgm:pt>
    <dgm:pt modelId="{C99EBBB1-E916-471C-83C9-ABE85B42AC26}" type="sibTrans" cxnId="{B3F19EC2-A372-4EC3-BFE0-C62FFDFE3DF6}">
      <dgm:prSet/>
      <dgm:spPr/>
      <dgm:t>
        <a:bodyPr/>
        <a:lstStyle/>
        <a:p>
          <a:endParaRPr lang="en-US"/>
        </a:p>
      </dgm:t>
    </dgm:pt>
    <dgm:pt modelId="{F05611F0-8256-4954-B6CB-ED6B4F2DD397}">
      <dgm:prSet/>
      <dgm:spPr/>
      <dgm:t>
        <a:bodyPr/>
        <a:lstStyle/>
        <a:p>
          <a:r>
            <a:rPr lang="bs-Latn-BA" dirty="0" smtClean="0">
              <a:solidFill>
                <a:schemeClr val="accent1">
                  <a:lumMod val="50000"/>
                </a:schemeClr>
              </a:solidFill>
            </a:rPr>
            <a:t>Odgojno-obrazovna područja</a:t>
          </a:r>
          <a:endParaRPr lang="en-US" dirty="0">
            <a:solidFill>
              <a:schemeClr val="tx1">
                <a:alpha val="60000"/>
              </a:schemeClr>
            </a:solidFill>
          </a:endParaRPr>
        </a:p>
      </dgm:t>
    </dgm:pt>
    <dgm:pt modelId="{CD7328D6-9FAE-4506-9BDB-E06A571EC1D4}" type="parTrans" cxnId="{914FACD2-336A-4471-9E99-312B3F8EAB04}">
      <dgm:prSet/>
      <dgm:spPr/>
      <dgm:t>
        <a:bodyPr/>
        <a:lstStyle/>
        <a:p>
          <a:endParaRPr lang="en-US"/>
        </a:p>
      </dgm:t>
    </dgm:pt>
    <dgm:pt modelId="{6BD5265A-8333-420D-BDB2-65F10B3EBD76}" type="sibTrans" cxnId="{914FACD2-336A-4471-9E99-312B3F8EAB04}">
      <dgm:prSet/>
      <dgm:spPr/>
      <dgm:t>
        <a:bodyPr/>
        <a:lstStyle/>
        <a:p>
          <a:endParaRPr lang="en-US"/>
        </a:p>
      </dgm:t>
    </dgm:pt>
    <dgm:pt modelId="{539F0B2D-763D-4639-B4AA-CC4EE0B8029F}" type="pres">
      <dgm:prSet presAssocID="{D0F07F19-1F50-4B42-A7A0-278DF9D25BB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57C5FD-BC94-4852-B3EC-3A72C51988CA}" type="pres">
      <dgm:prSet presAssocID="{2EE95FC5-CD6B-4A50-9262-DC414E16C3EA}" presName="compNode" presStyleCnt="0"/>
      <dgm:spPr/>
    </dgm:pt>
    <dgm:pt modelId="{8D5BCCB0-FE2C-4B39-92FA-86E015360BFE}" type="pres">
      <dgm:prSet presAssocID="{2EE95FC5-CD6B-4A50-9262-DC414E16C3EA}" presName="bgRect" presStyleLbl="bgShp" presStyleIdx="0" presStyleCnt="2"/>
      <dgm:spPr>
        <a:prstGeom prst="rect">
          <a:avLst/>
        </a:prstGeom>
        <a:solidFill>
          <a:schemeClr val="accent1">
            <a:lumMod val="40000"/>
            <a:lumOff val="60000"/>
            <a:alpha val="50000"/>
          </a:schemeClr>
        </a:solidFill>
      </dgm:spPr>
    </dgm:pt>
    <dgm:pt modelId="{B970FC54-593D-4FE9-AFCD-C77EE53A4F01}" type="pres">
      <dgm:prSet presAssocID="{2EE95FC5-CD6B-4A50-9262-DC414E16C3EA}" presName="iconRect" presStyleLbl="node1" presStyleIdx="0" presStyleCnt="2"/>
      <dgm:spPr>
        <a:blipFill dpi="0" rotWithShape="1">
          <a:blip xmlns:r="http://schemas.openxmlformats.org/officeDocument/2006/relationships" r:embed="rId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8B0477A4-6C5F-46E6-8910-A51FA1F661B5}" type="pres">
      <dgm:prSet presAssocID="{2EE95FC5-CD6B-4A50-9262-DC414E16C3EA}" presName="spaceRect" presStyleCnt="0"/>
      <dgm:spPr/>
    </dgm:pt>
    <dgm:pt modelId="{1002F504-21FD-4710-AB54-6DD4AE8B1DEB}" type="pres">
      <dgm:prSet presAssocID="{2EE95FC5-CD6B-4A50-9262-DC414E16C3EA}" presName="parTx" presStyleLbl="revTx" presStyleIdx="0" presStyleCnt="2" custLinFactNeighborX="-284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5D2D154-D04C-4060-B371-4FA5C99B7538}" type="pres">
      <dgm:prSet presAssocID="{C99EBBB1-E916-471C-83C9-ABE85B42AC26}" presName="sibTrans" presStyleCnt="0"/>
      <dgm:spPr/>
    </dgm:pt>
    <dgm:pt modelId="{0E0B23C8-D5E1-4B41-BDA7-2CE57755BE6A}" type="pres">
      <dgm:prSet presAssocID="{F05611F0-8256-4954-B6CB-ED6B4F2DD397}" presName="compNode" presStyleCnt="0"/>
      <dgm:spPr/>
    </dgm:pt>
    <dgm:pt modelId="{CD05AFB1-E184-456B-B0D2-9C36C4272D02}" type="pres">
      <dgm:prSet presAssocID="{F05611F0-8256-4954-B6CB-ED6B4F2DD397}" presName="bgRect" presStyleLbl="bgShp" presStyleIdx="1" presStyleCnt="2"/>
      <dgm:spPr>
        <a:prstGeom prst="rect">
          <a:avLst/>
        </a:prstGeom>
        <a:solidFill>
          <a:schemeClr val="accent1">
            <a:lumMod val="40000"/>
            <a:lumOff val="60000"/>
            <a:alpha val="50000"/>
          </a:schemeClr>
        </a:solidFill>
      </dgm:spPr>
    </dgm:pt>
    <dgm:pt modelId="{74FDC127-8DFD-4460-AE93-0411105DEB60}" type="pres">
      <dgm:prSet presAssocID="{F05611F0-8256-4954-B6CB-ED6B4F2DD397}" presName="iconRect" presStyleLbl="node1" presStyleIdx="1" presStyleCnt="2"/>
      <dgm:spPr>
        <a:blipFill dpi="0" rotWithShape="1">
          <a:blip xmlns:r="http://schemas.openxmlformats.org/officeDocument/2006/relationships"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58414D7F-A9B2-47FB-8B18-5EF591AE26CC}" type="pres">
      <dgm:prSet presAssocID="{F05611F0-8256-4954-B6CB-ED6B4F2DD397}" presName="spaceRect" presStyleCnt="0"/>
      <dgm:spPr/>
    </dgm:pt>
    <dgm:pt modelId="{1A91019B-6FF6-4E88-A622-AA77E19BE965}" type="pres">
      <dgm:prSet presAssocID="{F05611F0-8256-4954-B6CB-ED6B4F2DD397}" presName="parTx" presStyleLbl="revTx" presStyleIdx="1" presStyleCnt="2" custLinFactNeighborX="-284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3CC82EFE-ECBC-4EF1-9AD1-94F2F4D0F7F0}" type="presOf" srcId="{F05611F0-8256-4954-B6CB-ED6B4F2DD397}" destId="{1A91019B-6FF6-4E88-A622-AA77E19BE965}" srcOrd="0" destOrd="0" presId="urn:microsoft.com/office/officeart/2018/2/layout/IconVerticalSolidList"/>
    <dgm:cxn modelId="{914FACD2-336A-4471-9E99-312B3F8EAB04}" srcId="{D0F07F19-1F50-4B42-A7A0-278DF9D25BB1}" destId="{F05611F0-8256-4954-B6CB-ED6B4F2DD397}" srcOrd="1" destOrd="0" parTransId="{CD7328D6-9FAE-4506-9BDB-E06A571EC1D4}" sibTransId="{6BD5265A-8333-420D-BDB2-65F10B3EBD76}"/>
    <dgm:cxn modelId="{B3F19EC2-A372-4EC3-BFE0-C62FFDFE3DF6}" srcId="{D0F07F19-1F50-4B42-A7A0-278DF9D25BB1}" destId="{2EE95FC5-CD6B-4A50-9262-DC414E16C3EA}" srcOrd="0" destOrd="0" parTransId="{75374347-884B-4721-8CFF-DF080F5B1C79}" sibTransId="{C99EBBB1-E916-471C-83C9-ABE85B42AC26}"/>
    <dgm:cxn modelId="{D28FE450-D56C-43DC-901C-B2275D62B369}" type="presOf" srcId="{2EE95FC5-CD6B-4A50-9262-DC414E16C3EA}" destId="{1002F504-21FD-4710-AB54-6DD4AE8B1DEB}" srcOrd="0" destOrd="0" presId="urn:microsoft.com/office/officeart/2018/2/layout/IconVerticalSolidList"/>
    <dgm:cxn modelId="{FA896689-06F0-4649-9FF7-0D3A04B5B25E}" type="presOf" srcId="{D0F07F19-1F50-4B42-A7A0-278DF9D25BB1}" destId="{539F0B2D-763D-4639-B4AA-CC4EE0B8029F}" srcOrd="0" destOrd="0" presId="urn:microsoft.com/office/officeart/2018/2/layout/IconVerticalSolidList"/>
    <dgm:cxn modelId="{3141AECC-0824-4D33-B56E-0AA0BF76ADC4}" type="presParOf" srcId="{539F0B2D-763D-4639-B4AA-CC4EE0B8029F}" destId="{7C57C5FD-BC94-4852-B3EC-3A72C51988CA}" srcOrd="0" destOrd="0" presId="urn:microsoft.com/office/officeart/2018/2/layout/IconVerticalSolidList"/>
    <dgm:cxn modelId="{91B124C7-32BD-48C5-A045-6B89C6FA61EE}" type="presParOf" srcId="{7C57C5FD-BC94-4852-B3EC-3A72C51988CA}" destId="{8D5BCCB0-FE2C-4B39-92FA-86E015360BFE}" srcOrd="0" destOrd="0" presId="urn:microsoft.com/office/officeart/2018/2/layout/IconVerticalSolidList"/>
    <dgm:cxn modelId="{5C408221-FD1D-4546-A6E6-8330B2208253}" type="presParOf" srcId="{7C57C5FD-BC94-4852-B3EC-3A72C51988CA}" destId="{B970FC54-593D-4FE9-AFCD-C77EE53A4F01}" srcOrd="1" destOrd="0" presId="urn:microsoft.com/office/officeart/2018/2/layout/IconVerticalSolidList"/>
    <dgm:cxn modelId="{935E623E-CFDC-4AF8-B6EA-214446B4F401}" type="presParOf" srcId="{7C57C5FD-BC94-4852-B3EC-3A72C51988CA}" destId="{8B0477A4-6C5F-46E6-8910-A51FA1F661B5}" srcOrd="2" destOrd="0" presId="urn:microsoft.com/office/officeart/2018/2/layout/IconVerticalSolidList"/>
    <dgm:cxn modelId="{1E88C30E-19D9-4E39-B8C1-CD0573176A9E}" type="presParOf" srcId="{7C57C5FD-BC94-4852-B3EC-3A72C51988CA}" destId="{1002F504-21FD-4710-AB54-6DD4AE8B1DEB}" srcOrd="3" destOrd="0" presId="urn:microsoft.com/office/officeart/2018/2/layout/IconVerticalSolidList"/>
    <dgm:cxn modelId="{D98E3B47-5678-4183-ABFE-C52A79C56F19}" type="presParOf" srcId="{539F0B2D-763D-4639-B4AA-CC4EE0B8029F}" destId="{C5D2D154-D04C-4060-B371-4FA5C99B7538}" srcOrd="1" destOrd="0" presId="urn:microsoft.com/office/officeart/2018/2/layout/IconVerticalSolidList"/>
    <dgm:cxn modelId="{1C8B9CA9-55DE-4C4A-B6C3-9BF7170578A8}" type="presParOf" srcId="{539F0B2D-763D-4639-B4AA-CC4EE0B8029F}" destId="{0E0B23C8-D5E1-4B41-BDA7-2CE57755BE6A}" srcOrd="2" destOrd="0" presId="urn:microsoft.com/office/officeart/2018/2/layout/IconVerticalSolidList"/>
    <dgm:cxn modelId="{59E394A4-2CB8-4285-8A2E-C7AD9707C88A}" type="presParOf" srcId="{0E0B23C8-D5E1-4B41-BDA7-2CE57755BE6A}" destId="{CD05AFB1-E184-456B-B0D2-9C36C4272D02}" srcOrd="0" destOrd="0" presId="urn:microsoft.com/office/officeart/2018/2/layout/IconVerticalSolidList"/>
    <dgm:cxn modelId="{017797BA-DA8F-42A6-9B4B-2E3B232A9487}" type="presParOf" srcId="{0E0B23C8-D5E1-4B41-BDA7-2CE57755BE6A}" destId="{74FDC127-8DFD-4460-AE93-0411105DEB60}" srcOrd="1" destOrd="0" presId="urn:microsoft.com/office/officeart/2018/2/layout/IconVerticalSolidList"/>
    <dgm:cxn modelId="{75F07183-B2DD-4414-A5B8-8308084B8E3F}" type="presParOf" srcId="{0E0B23C8-D5E1-4B41-BDA7-2CE57755BE6A}" destId="{58414D7F-A9B2-47FB-8B18-5EF591AE26CC}" srcOrd="2" destOrd="0" presId="urn:microsoft.com/office/officeart/2018/2/layout/IconVerticalSolidList"/>
    <dgm:cxn modelId="{04F8BED2-D78F-4CD5-BBBC-7FC8C9F8F207}" type="presParOf" srcId="{0E0B23C8-D5E1-4B41-BDA7-2CE57755BE6A}" destId="{1A91019B-6FF6-4E88-A622-AA77E19BE9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BCCB0-FE2C-4B39-92FA-86E015360BFE}">
      <dsp:nvSpPr>
        <dsp:cNvPr id="0" name=""/>
        <dsp:cNvSpPr/>
      </dsp:nvSpPr>
      <dsp:spPr>
        <a:xfrm>
          <a:off x="0" y="608440"/>
          <a:ext cx="5190742" cy="1123275"/>
        </a:xfrm>
        <a:prstGeom prst="rect">
          <a:avLst/>
        </a:prstGeom>
        <a:solidFill>
          <a:schemeClr val="accent1">
            <a:lumMod val="40000"/>
            <a:lumOff val="60000"/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0FC54-593D-4FE9-AFCD-C77EE53A4F01}">
      <dsp:nvSpPr>
        <dsp:cNvPr id="0" name=""/>
        <dsp:cNvSpPr/>
      </dsp:nvSpPr>
      <dsp:spPr>
        <a:xfrm>
          <a:off x="339790" y="861177"/>
          <a:ext cx="617801" cy="617801"/>
        </a:xfrm>
        <a:prstGeom prst="rect">
          <a:avLst/>
        </a:prstGeom>
        <a:blipFill dpi="0" rotWithShape="1">
          <a:blip xmlns:r="http://schemas.openxmlformats.org/officeDocument/2006/relationships" r:embed="rId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2F504-21FD-4710-AB54-6DD4AE8B1DEB}">
      <dsp:nvSpPr>
        <dsp:cNvPr id="0" name=""/>
        <dsp:cNvSpPr/>
      </dsp:nvSpPr>
      <dsp:spPr>
        <a:xfrm>
          <a:off x="1186499" y="608440"/>
          <a:ext cx="3893359" cy="1123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80" tIns="118880" rIns="118880" bIns="11888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s-Latn-BA" sz="2100" kern="1200" dirty="0" smtClean="0">
              <a:solidFill>
                <a:schemeClr val="accent1">
                  <a:lumMod val="50000"/>
                </a:schemeClr>
              </a:solidFill>
            </a:rPr>
            <a:t>Odluka</a:t>
          </a:r>
          <a:r>
            <a:rPr lang="en-US" sz="2100" kern="1200" dirty="0" smtClean="0"/>
            <a:t> </a:t>
          </a:r>
          <a:r>
            <a:rPr lang="bs-Latn-BA" sz="2100" kern="1200" dirty="0" smtClean="0"/>
            <a:t>o donošenju Nastavnog plana i programa za osnovnu školu</a:t>
          </a:r>
          <a:endParaRPr lang="en-US" sz="2100" kern="1200" dirty="0">
            <a:solidFill>
              <a:schemeClr val="tx1">
                <a:alpha val="60000"/>
              </a:schemeClr>
            </a:solidFill>
          </a:endParaRPr>
        </a:p>
      </dsp:txBody>
      <dsp:txXfrm>
        <a:off x="1186499" y="608440"/>
        <a:ext cx="3893359" cy="1123275"/>
      </dsp:txXfrm>
    </dsp:sp>
    <dsp:sp modelId="{CD05AFB1-E184-456B-B0D2-9C36C4272D02}">
      <dsp:nvSpPr>
        <dsp:cNvPr id="0" name=""/>
        <dsp:cNvSpPr/>
      </dsp:nvSpPr>
      <dsp:spPr>
        <a:xfrm>
          <a:off x="0" y="2012534"/>
          <a:ext cx="5190742" cy="1123275"/>
        </a:xfrm>
        <a:prstGeom prst="rect">
          <a:avLst/>
        </a:prstGeom>
        <a:solidFill>
          <a:schemeClr val="accent1">
            <a:lumMod val="40000"/>
            <a:lumOff val="60000"/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FDC127-8DFD-4460-AE93-0411105DEB60}">
      <dsp:nvSpPr>
        <dsp:cNvPr id="0" name=""/>
        <dsp:cNvSpPr/>
      </dsp:nvSpPr>
      <dsp:spPr>
        <a:xfrm>
          <a:off x="339790" y="2265271"/>
          <a:ext cx="617801" cy="617801"/>
        </a:xfrm>
        <a:prstGeom prst="rect">
          <a:avLst/>
        </a:prstGeom>
        <a:blipFill dpi="0" rotWithShape="1">
          <a:blip xmlns:r="http://schemas.openxmlformats.org/officeDocument/2006/relationships"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1019B-6FF6-4E88-A622-AA77E19BE965}">
      <dsp:nvSpPr>
        <dsp:cNvPr id="0" name=""/>
        <dsp:cNvSpPr/>
      </dsp:nvSpPr>
      <dsp:spPr>
        <a:xfrm>
          <a:off x="1186499" y="2012534"/>
          <a:ext cx="3893359" cy="1123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80" tIns="118880" rIns="118880" bIns="11888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s-Latn-BA" sz="2100" kern="1200" dirty="0" smtClean="0">
              <a:solidFill>
                <a:schemeClr val="accent1">
                  <a:lumMod val="50000"/>
                </a:schemeClr>
              </a:solidFill>
            </a:rPr>
            <a:t>Odgojno-obrazovna područja</a:t>
          </a:r>
          <a:endParaRPr lang="en-US" sz="2100" kern="1200" dirty="0">
            <a:solidFill>
              <a:schemeClr val="tx1">
                <a:alpha val="60000"/>
              </a:schemeClr>
            </a:solidFill>
          </a:endParaRPr>
        </a:p>
      </dsp:txBody>
      <dsp:txXfrm>
        <a:off x="1186499" y="2012534"/>
        <a:ext cx="3893359" cy="1123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08/29/2023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08/29/2023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83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605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913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52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633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33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A7EE9-F079-4AED-9858-DCD74447B2DE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0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 userDrawn="1"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C3818-5B7F-4F38-B42C-7D48EDABA17E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31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A408-237F-4430-903D-49994B8E1677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BF857FE-9EDF-40AC-A282-858EC0C2C6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408000"/>
          </a:xfrm>
        </p:spPr>
        <p:txBody>
          <a:bodyPr anchor="ctr" anchorCtr="0">
            <a:normAutofit/>
          </a:bodyPr>
          <a:lstStyle>
            <a:lvl1pPr algn="ctr">
              <a:defRPr sz="16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BBD3378-DD0B-4070-88AA-07DEEA1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96537"/>
          </a:xfr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lIns="720000" tIns="108000" anchor="ctr" anchorCtr="0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349DBD-05C9-497A-BAB7-08CE307FB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4355" y="1812759"/>
            <a:ext cx="4954159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F227ADD-898B-46CB-92A8-AC4962D20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9901" y="1812759"/>
            <a:ext cx="4954159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0AF26B-41C3-4BBB-A8E9-8EAB965C6D7A}"/>
              </a:ext>
            </a:extLst>
          </p:cNvPr>
          <p:cNvCxnSpPr/>
          <p:nvPr userDrawn="1"/>
        </p:nvCxnSpPr>
        <p:spPr>
          <a:xfrm>
            <a:off x="-600" y="1283417"/>
            <a:ext cx="121932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789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C8CE4-6594-4434-AA7B-C5DDAFBE02A0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BF857FE-9EDF-40AC-A282-858EC0C2C6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408000"/>
          </a:xfrm>
        </p:spPr>
        <p:txBody>
          <a:bodyPr anchor="ctr" anchorCtr="0">
            <a:normAutofit/>
          </a:bodyPr>
          <a:lstStyle>
            <a:lvl1pPr algn="ctr">
              <a:defRPr sz="16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BBD3378-DD0B-4070-88AA-07DEEA1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96537"/>
          </a:xfr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lIns="684000" tIns="108000" anchor="ctr" anchorCtr="0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349DBD-05C9-497A-BAB7-08CE307FB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7981" y="1812759"/>
            <a:ext cx="10905457" cy="408841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0AF26B-41C3-4BBB-A8E9-8EAB965C6D7A}"/>
              </a:ext>
            </a:extLst>
          </p:cNvPr>
          <p:cNvCxnSpPr/>
          <p:nvPr userDrawn="1"/>
        </p:nvCxnSpPr>
        <p:spPr>
          <a:xfrm>
            <a:off x="-600" y="1283417"/>
            <a:ext cx="121932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32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C21F8EC-6CCD-434E-925E-0A9FF574DA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907362"/>
            <a:ext cx="12192000" cy="449343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30332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464540"/>
            <a:ext cx="10058400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76FD-E365-4307-A1BF-FBA56929E02D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DEBF4F-95EE-485E-BCD1-56682C51B641}"/>
              </a:ext>
            </a:extLst>
          </p:cNvPr>
          <p:cNvCxnSpPr/>
          <p:nvPr userDrawn="1"/>
        </p:nvCxnSpPr>
        <p:spPr>
          <a:xfrm>
            <a:off x="0" y="1900553"/>
            <a:ext cx="12192000" cy="0"/>
          </a:xfrm>
          <a:prstGeom prst="line">
            <a:avLst/>
          </a:prstGeom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31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4CC3-3A25-40C5-8F52-C7B371775282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5C68E9-6B5E-46D9-AAB7-BE93B1378B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907362"/>
            <a:ext cx="12192000" cy="449343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7DEE74D2-9B60-4DE8-9A31-91D3CBA8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30332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90A09A4-2667-45F1-9F4E-37A50F1F5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0347" y="2346008"/>
            <a:ext cx="10058400" cy="3748194"/>
          </a:xfrm>
        </p:spPr>
        <p:txBody>
          <a:bodyPr numCol="2" spcCol="54000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14E254-0C82-4865-9922-29444D17B571}"/>
              </a:ext>
            </a:extLst>
          </p:cNvPr>
          <p:cNvCxnSpPr/>
          <p:nvPr userDrawn="1"/>
        </p:nvCxnSpPr>
        <p:spPr>
          <a:xfrm>
            <a:off x="0" y="1900553"/>
            <a:ext cx="12192000" cy="0"/>
          </a:xfrm>
          <a:prstGeom prst="line">
            <a:avLst/>
          </a:prstGeom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6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3904-8E92-4E81-A5F1-2FE23324A701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84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1582-894B-4548-8F6A-77DD222024CA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7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FD72-49BE-4A27-B81D-6695ECD46A0C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4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92C4CF0-BD34-45B4-94FF-59AD3A70A7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400165"/>
          </a:xfrm>
          <a:noFill/>
        </p:spPr>
        <p:txBody>
          <a:bodyPr lIns="0" tIns="792000"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4804496" y="0"/>
            <a:ext cx="7387504" cy="6446520"/>
          </a:xfrm>
          <a:prstGeom prst="rect">
            <a:avLst/>
          </a:pr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110AB5-E047-427B-9192-3F2FCCB479A8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488254"/>
            <a:ext cx="3517567" cy="1087974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625" y="2038720"/>
            <a:ext cx="3517567" cy="3311706"/>
          </a:xfrm>
        </p:spPr>
        <p:txBody>
          <a:bodyPr lIns="91440" rIns="91440">
            <a:normAutofit/>
          </a:bodyPr>
          <a:lstStyle>
            <a:lvl1pPr marL="216000" indent="-216000">
              <a:spcAft>
                <a:spcPts val="0"/>
              </a:spcAft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00A2BA60-500D-4BD0-8C7F-2936FDDD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fld id="{397F0DEF-140C-43BE-9FE2-8C6F0F16B2BD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371A0A82-5458-43A1-AD4C-A4FF7CD0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3051" y="6446838"/>
            <a:ext cx="6818262" cy="365125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2ABD9582-0263-41AF-B003-2E748948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0596" y="6446838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F66DD5E-2E55-4BFB-8214-2B5C5051F2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99113" y="1692275"/>
            <a:ext cx="6592887" cy="3190875"/>
          </a:xfrm>
          <a:solidFill>
            <a:schemeClr val="bg1">
              <a:lumMod val="85000"/>
              <a:alpha val="5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A38BEF-96DA-4CBE-8464-985906D9F5F1}"/>
              </a:ext>
            </a:extLst>
          </p:cNvPr>
          <p:cNvCxnSpPr>
            <a:cxnSpLocks/>
          </p:cNvCxnSpPr>
          <p:nvPr userDrawn="1"/>
        </p:nvCxnSpPr>
        <p:spPr>
          <a:xfrm>
            <a:off x="723686" y="1767848"/>
            <a:ext cx="3291840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39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62E62-E8FA-42DE-BC7E-BA73A13FCB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3200" cy="64008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57EED-32E8-4384-BFBB-06742F30A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6422" y="5034909"/>
            <a:ext cx="6835291" cy="817251"/>
          </a:xfrm>
          <a:solidFill>
            <a:srgbClr val="262626"/>
          </a:solidFill>
        </p:spPr>
        <p:txBody>
          <a:bodyPr lIns="396000" tIns="0" anchor="ctr" anchorCtr="0">
            <a:normAutofit/>
          </a:bodyPr>
          <a:lstStyle>
            <a:lvl1pPr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Subtitle</a:t>
            </a:r>
            <a:endParaRPr lang="ru-RU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3EC876B-6AD7-452A-94C9-45B89DA7D7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6143" y="3975295"/>
            <a:ext cx="6835858" cy="1089350"/>
          </a:xfrm>
          <a:custGeom>
            <a:avLst/>
            <a:gdLst>
              <a:gd name="connsiteX0" fmla="*/ 0 w 6906198"/>
              <a:gd name="connsiteY0" fmla="*/ 0 h 1089350"/>
              <a:gd name="connsiteX1" fmla="*/ 6906198 w 6906198"/>
              <a:gd name="connsiteY1" fmla="*/ 0 h 1089350"/>
              <a:gd name="connsiteX2" fmla="*/ 6906198 w 6906198"/>
              <a:gd name="connsiteY2" fmla="*/ 1089350 h 1089350"/>
              <a:gd name="connsiteX3" fmla="*/ 3805731 w 6906198"/>
              <a:gd name="connsiteY3" fmla="*/ 1089350 h 1089350"/>
              <a:gd name="connsiteX4" fmla="*/ 218470 w 6906198"/>
              <a:gd name="connsiteY4" fmla="*/ 1089350 h 1089350"/>
              <a:gd name="connsiteX5" fmla="*/ 0 w 6906198"/>
              <a:gd name="connsiteY5" fmla="*/ 1089350 h 108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198" h="1089350">
                <a:moveTo>
                  <a:pt x="0" y="0"/>
                </a:moveTo>
                <a:lnTo>
                  <a:pt x="6906198" y="0"/>
                </a:lnTo>
                <a:lnTo>
                  <a:pt x="6906198" y="1089350"/>
                </a:lnTo>
                <a:lnTo>
                  <a:pt x="3805731" y="1089350"/>
                </a:lnTo>
                <a:lnTo>
                  <a:pt x="218470" y="1089350"/>
                </a:lnTo>
                <a:lnTo>
                  <a:pt x="0" y="10893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396000" tIns="252000" anchor="t" anchorCtr="0">
            <a:noAutofit/>
          </a:bodyPr>
          <a:lstStyle>
            <a:lvl1pPr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First Lesson 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110AB5-E047-427B-9192-3F2FCCB479A8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8635" y="0"/>
            <a:ext cx="3998873" cy="5852160"/>
          </a:xfrm>
          <a:solidFill>
            <a:srgbClr val="262626"/>
          </a:solidFill>
        </p:spPr>
        <p:txBody>
          <a:bodyPr lIns="360000" tIns="46800" rIns="360000" anchor="ctr" anchorCtr="0">
            <a:normAutofit/>
          </a:bodyPr>
          <a:lstStyle>
            <a:lvl1pPr marL="0" indent="0">
              <a:buNone/>
              <a:defRPr lang="en-US" dirty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00A2BA60-500D-4BD0-8C7F-2936FDDD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fld id="{9071F196-4D99-4CA1-AF3D-D9270AA86530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371A0A82-5458-43A1-AD4C-A4FF7CD0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3051" y="6446838"/>
            <a:ext cx="6818262" cy="365125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2ABD9582-0263-41AF-B003-2E748948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0596" y="6446838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12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475C95-6709-4448-8164-8B465DDBFDB6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r>
              <a:rPr lang="en-US" dirty="0"/>
              <a:t>TEACH A COURSE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1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BCE8B62D-7B77-49C5-A369-DA7962108BC9}" type="datetime1">
              <a:rPr lang="en-US" smtClean="0"/>
              <a:t>08/29/2023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3051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TEACH A COURSE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0596" y="6446838"/>
            <a:ext cx="617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34" r:id="rId2"/>
    <p:sldLayoutId id="2147483740" r:id="rId3"/>
    <p:sldLayoutId id="2147483741" r:id="rId4"/>
    <p:sldLayoutId id="2147483735" r:id="rId5"/>
    <p:sldLayoutId id="2147483738" r:id="rId6"/>
    <p:sldLayoutId id="2147483730" r:id="rId7"/>
    <p:sldLayoutId id="2147483731" r:id="rId8"/>
    <p:sldLayoutId id="2147483732" r:id="rId9"/>
    <p:sldLayoutId id="2147483736" r:id="rId10"/>
    <p:sldLayoutId id="2147483737" r:id="rId11"/>
    <p:sldLayoutId id="214748373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0B4FB531-34DA-4777-9BD5-5B885DC381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15076"/>
            <a:ext cx="12188952" cy="194292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512D56-3115-4658-A559-1918ADBF3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5138056"/>
            <a:ext cx="7137263" cy="1280161"/>
          </a:xfrm>
        </p:spPr>
        <p:txBody>
          <a:bodyPr anchor="ctr">
            <a:normAutofit/>
          </a:bodyPr>
          <a:lstStyle/>
          <a:p>
            <a:pPr algn="r"/>
            <a:r>
              <a:rPr lang="bs-Latn-BA" sz="3200" dirty="0" smtClean="0">
                <a:solidFill>
                  <a:srgbClr val="FFFFFF"/>
                </a:solidFill>
              </a:rPr>
              <a:t>Izmjene u Nastavnom planu i realizacija nastave u prvoj trijadi osnovne škole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8BE92-E817-4C9A-B197-64FAE3ED7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9580" y="5166359"/>
            <a:ext cx="3073745" cy="1188721"/>
          </a:xfrm>
        </p:spPr>
        <p:txBody>
          <a:bodyPr anchor="ctr">
            <a:normAutofit/>
          </a:bodyPr>
          <a:lstStyle/>
          <a:p>
            <a:r>
              <a:rPr lang="bs-Latn-BA" sz="1500" dirty="0" smtClean="0"/>
              <a:t>August 2023. godine</a:t>
            </a:r>
            <a:endParaRPr lang="en-US" sz="1500" dirty="0"/>
          </a:p>
        </p:txBody>
      </p:sp>
      <p:cxnSp>
        <p:nvCxnSpPr>
          <p:cNvPr id="25" name="Straight Connector 19">
            <a:extLst>
              <a:ext uri="{FF2B5EF4-FFF2-40B4-BE49-F238E27FC236}">
                <a16:creationId xmlns:a16="http://schemas.microsoft.com/office/drawing/2014/main" id="{D5B557D3-D7B4-404B-84A1-9BD182BE5B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13" y="5760720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Mass education in 2040 : A new kind of classroom – Gaurav Gandhi – Mediu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3" y="57695"/>
            <a:ext cx="7544526" cy="424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85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KONCEPCIJA </a:t>
            </a:r>
            <a:r>
              <a:rPr lang="en-US" sz="3200" b="1" dirty="0"/>
              <a:t>DEVETOGODIŠNJEG OSNOVNOG OBRAZOVANJA </a:t>
            </a:r>
            <a:r>
              <a:rPr lang="bs-Latn-BA" sz="3200" b="1" dirty="0" smtClean="0"/>
              <a:t/>
            </a:r>
            <a:br>
              <a:rPr lang="bs-Latn-BA" sz="3200" b="1" dirty="0" smtClean="0"/>
            </a:br>
            <a:r>
              <a:rPr lang="bs-Latn-BA" sz="3200" b="1" dirty="0"/>
              <a:t/>
            </a:r>
            <a:br>
              <a:rPr lang="bs-Latn-BA" sz="3200" b="1" dirty="0"/>
            </a:br>
            <a:r>
              <a:rPr lang="en-US" sz="3200" noProof="1" smtClean="0"/>
              <a:t>U Bosni i Hercegovini prešlo se na devetogodišnje obavezno osnovno obrazovanje u skladu sa iskustvima kvalitetne pedagoške prakse u zemljama Evrope i svijeta. U Federaciji Bosne i Hercegovine taj prelazak počeo je školske 2004/2005. godine i povezan je s promjenama u strukturi i organizaciji osnovnog odgoja i obrazovanja. </a:t>
            </a:r>
            <a:endParaRPr lang="en-US" sz="3200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s-Latn-BA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65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8" y="3684644"/>
            <a:ext cx="11841905" cy="2457513"/>
          </a:xfrm>
          <a:prstGeom prst="rect">
            <a:avLst/>
          </a:prstGeom>
        </p:spPr>
      </p:pic>
      <p:pic>
        <p:nvPicPr>
          <p:cNvPr id="1026" name="Picture 2" descr="INTEGRATIVNA NASTAVAslik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343" y="617856"/>
            <a:ext cx="4580708" cy="262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48343" y="6402063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bs-Latn-BA" sz="1100" dirty="0">
                <a:solidFill>
                  <a:schemeClr val="bg1"/>
                </a:solidFill>
              </a:rPr>
              <a:t>Izvor </a:t>
            </a:r>
            <a:r>
              <a:rPr lang="en-US" sz="1100" dirty="0" err="1">
                <a:solidFill>
                  <a:schemeClr val="bg1"/>
                </a:solidFill>
              </a:rPr>
              <a:t>Koncepcija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devetogodišnjeg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osnovnog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obrazovanja</a:t>
            </a:r>
            <a:r>
              <a:rPr lang="en-US" sz="1100" dirty="0">
                <a:solidFill>
                  <a:schemeClr val="bg1"/>
                </a:solidFill>
              </a:rPr>
              <a:t> (</a:t>
            </a:r>
            <a:r>
              <a:rPr lang="en-US" sz="1100" dirty="0" err="1">
                <a:solidFill>
                  <a:schemeClr val="bg1"/>
                </a:solidFill>
              </a:rPr>
              <a:t>Federalno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ministarstvo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obrazovanja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nauke</a:t>
            </a:r>
            <a:r>
              <a:rPr lang="en-US" sz="1100" dirty="0">
                <a:solidFill>
                  <a:schemeClr val="bg1"/>
                </a:solidFill>
              </a:rPr>
              <a:t>, 2004.)</a:t>
            </a:r>
          </a:p>
        </p:txBody>
      </p:sp>
    </p:spTree>
    <p:extLst>
      <p:ext uri="{BB962C8B-B14F-4D97-AF65-F5344CB8AC3E}">
        <p14:creationId xmlns:p14="http://schemas.microsoft.com/office/powerpoint/2010/main" val="254579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12" y="296092"/>
            <a:ext cx="9377756" cy="53993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1312" y="6396335"/>
            <a:ext cx="726294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solidFill>
                  <a:schemeClr val="bg1"/>
                </a:solidFill>
              </a:rPr>
              <a:t>Ministarstvo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za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obrazovanje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nauku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mlade</a:t>
            </a:r>
            <a:r>
              <a:rPr lang="en-US" sz="900" dirty="0">
                <a:solidFill>
                  <a:schemeClr val="bg1"/>
                </a:solidFill>
              </a:rPr>
              <a:t> KS (2011.). </a:t>
            </a:r>
            <a:r>
              <a:rPr lang="en-US" sz="900" dirty="0" err="1">
                <a:solidFill>
                  <a:schemeClr val="bg1"/>
                </a:solidFill>
              </a:rPr>
              <a:t>Analiza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nastavnog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plana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programa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za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devetogodišnje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osnovno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obrazovanje</a:t>
            </a:r>
            <a:r>
              <a:rPr lang="en-US" sz="900" dirty="0">
                <a:solidFill>
                  <a:schemeClr val="bg1"/>
                </a:solidFill>
              </a:rPr>
              <a:t>. Sarajevo: MONKS</a:t>
            </a:r>
          </a:p>
          <a:p>
            <a:r>
              <a:rPr lang="en-US" sz="1200" dirty="0"/>
              <a:t/>
            </a:r>
            <a:br>
              <a:rPr lang="en-US" sz="1200" dirty="0"/>
            </a:b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63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44" y="510244"/>
            <a:ext cx="9142740" cy="55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91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Man and woman discuss some document">
            <a:extLst>
              <a:ext uri="{FF2B5EF4-FFF2-40B4-BE49-F238E27FC236}">
                <a16:creationId xmlns:a16="http://schemas.microsoft.com/office/drawing/2014/main" id="{34A80249-1835-46E9-87C9-48F4BEE1EC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1" y="0"/>
            <a:ext cx="12187578" cy="6408000"/>
          </a:xfr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59E194F-ECD6-4685-8562-5B7AB400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C92D3-8AE6-4260-8F63-97ED33A0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 smtClean="0"/>
              <a:t>Odgojno-obrazovna područja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bs-Latn-BA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963" y="1495096"/>
            <a:ext cx="6357938" cy="467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6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person using a computer">
            <a:extLst>
              <a:ext uri="{FF2B5EF4-FFF2-40B4-BE49-F238E27FC236}">
                <a16:creationId xmlns:a16="http://schemas.microsoft.com/office/drawing/2014/main" id="{1FE05F69-81FE-41EC-874F-C9DA7048A5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7578" cy="6408000"/>
          </a:xfr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1B78239-2280-4550-A468-F95E9029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66F458A5-2AF5-4290-8A07-8B68C223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 smtClean="0"/>
              <a:t>Odluka Ministarstva</a:t>
            </a:r>
            <a:endParaRPr lang="ru-RU" dirty="0"/>
          </a:p>
        </p:txBody>
      </p:sp>
      <p:graphicFrame>
        <p:nvGraphicFramePr>
          <p:cNvPr id="10" name="Content Placeholder 2" descr="Smart Art object">
            <a:extLst>
              <a:ext uri="{FF2B5EF4-FFF2-40B4-BE49-F238E27FC236}">
                <a16:creationId xmlns:a16="http://schemas.microsoft.com/office/drawing/2014/main" id="{00E51AD9-52AC-49A5-BF0E-64F1B769CE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24062791"/>
              </p:ext>
            </p:extLst>
          </p:nvPr>
        </p:nvGraphicFramePr>
        <p:xfrm>
          <a:off x="744538" y="1985990"/>
          <a:ext cx="5190742" cy="374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bs-Latn-BA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3186" y="2226054"/>
            <a:ext cx="5715495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9D203D7-52C0-41AB-9238-F69D5123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D2E63C-40F7-4CF4-BE57-F002221A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 smtClean="0"/>
              <a:t>  </a:t>
            </a:r>
            <a:endParaRPr lang="ru-R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4017" r="33273" b="57062"/>
          <a:stretch/>
        </p:blipFill>
        <p:spPr>
          <a:xfrm>
            <a:off x="0" y="1"/>
            <a:ext cx="5753385" cy="4248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34093" t="42529" r="33274" b="10214"/>
          <a:stretch/>
        </p:blipFill>
        <p:spPr>
          <a:xfrm>
            <a:off x="5770310" y="1581149"/>
            <a:ext cx="6421689" cy="52308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17" y="4548187"/>
            <a:ext cx="54673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6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405FD7-7249-418C-81A0-226058919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3051" y="6446838"/>
            <a:ext cx="6818262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bs-Latn-BA" dirty="0" smtClean="0"/>
              <a:t> 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BB364-4E7C-4A74-9C1B-A29DA61C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0596" y="6446838"/>
            <a:ext cx="617912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9DFBED-0159-4EAC-AAAF-5AA47CA2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96537"/>
          </a:xfrm>
        </p:spPr>
        <p:txBody>
          <a:bodyPr/>
          <a:lstStyle/>
          <a:p>
            <a:r>
              <a:rPr lang="bs-Latn-BA" dirty="0" smtClean="0"/>
              <a:t>Obrazac OŠ 11 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bs-Latn-BA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778" y="2219100"/>
            <a:ext cx="7355818" cy="26366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150" y="1812759"/>
            <a:ext cx="575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2800" dirty="0" smtClean="0"/>
              <a:t>irpo.ba (zajednica koja uči)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729" y="4625166"/>
            <a:ext cx="4625741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-17417"/>
            <a:ext cx="12192000" cy="1296537"/>
          </a:xfrm>
        </p:spPr>
        <p:txBody>
          <a:bodyPr/>
          <a:lstStyle/>
          <a:p>
            <a:r>
              <a:rPr lang="bs-Latn-BA" dirty="0" smtClean="0"/>
              <a:t>Raspored časova – Pravilnik o vođenju pedagoške dokumentacije i evidencije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44456" y="2325189"/>
            <a:ext cx="10604052" cy="308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8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GCE inclusive classroom - HEART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70" b="12870"/>
          <a:stretch>
            <a:fillRect/>
          </a:stretch>
        </p:blipFill>
        <p:spPr>
          <a:xfrm>
            <a:off x="0" y="2070101"/>
            <a:ext cx="4765995" cy="2501899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067300" y="488254"/>
            <a:ext cx="6172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latin typeface="Kunstler Script" panose="030304020206070D0D06" pitchFamily="66" charset="0"/>
              </a:rPr>
              <a:t>Ovo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su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samo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prijedlozi</a:t>
            </a:r>
            <a:r>
              <a:rPr lang="en-US" sz="5400" dirty="0">
                <a:latin typeface="Kunstler Script" panose="030304020206070D0D06" pitchFamily="66" charset="0"/>
              </a:rPr>
              <a:t> , </a:t>
            </a:r>
            <a:r>
              <a:rPr lang="en-US" sz="5400" dirty="0" err="1">
                <a:latin typeface="Kunstler Script" panose="030304020206070D0D06" pitchFamily="66" charset="0"/>
              </a:rPr>
              <a:t>nastavnicima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dajemo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slobodu</a:t>
            </a:r>
            <a:r>
              <a:rPr lang="en-US" sz="5400" dirty="0">
                <a:latin typeface="Kunstler Script" panose="030304020206070D0D06" pitchFamily="66" charset="0"/>
              </a:rPr>
              <a:t> da </a:t>
            </a:r>
            <a:r>
              <a:rPr lang="en-US" sz="5400" dirty="0" err="1">
                <a:latin typeface="Kunstler Script" panose="030304020206070D0D06" pitchFamily="66" charset="0"/>
              </a:rPr>
              <a:t>prilagode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aktivnosti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i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kreiraju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svoj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raspored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prema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potrebama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odjeljenja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i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konteksta</a:t>
            </a:r>
            <a:r>
              <a:rPr lang="en-US" sz="5400" dirty="0">
                <a:latin typeface="Kunstler Script" panose="030304020206070D0D06" pitchFamily="66" charset="0"/>
              </a:rPr>
              <a:t> </a:t>
            </a:r>
            <a:r>
              <a:rPr lang="en-US" sz="5400" dirty="0" err="1">
                <a:latin typeface="Kunstler Script" panose="030304020206070D0D06" pitchFamily="66" charset="0"/>
              </a:rPr>
              <a:t>škole</a:t>
            </a:r>
            <a:r>
              <a:rPr lang="en-US" sz="5400" dirty="0">
                <a:latin typeface="Kunstler Script" panose="030304020206070D0D06" pitchFamily="66" charset="0"/>
              </a:rPr>
              <a:t>.</a:t>
            </a:r>
          </a:p>
          <a:p>
            <a:endParaRPr lang="en-US" sz="5400" dirty="0">
              <a:latin typeface="Kunstler Script" panose="030304020206070D0D06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99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28FE7D-043F-42AF-B4AB-DB9AFF93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892956"/>
            <a:ext cx="10113645" cy="743682"/>
          </a:xfrm>
        </p:spPr>
        <p:txBody>
          <a:bodyPr/>
          <a:lstStyle/>
          <a:p>
            <a:r>
              <a:rPr lang="bs-Latn-BA" dirty="0" smtClean="0"/>
              <a:t>Hvala na pažnji i sretan početak!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6EF91-820B-4DA2-B398-3E168AFF1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808594"/>
            <a:ext cx="10113264" cy="609600"/>
          </a:xfrm>
        </p:spPr>
        <p:txBody>
          <a:bodyPr>
            <a:normAutofit/>
          </a:bodyPr>
          <a:lstStyle/>
          <a:p>
            <a:r>
              <a:rPr lang="bs-Latn-BA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" name="Picture Placeholder 9" descr="Lecture of Collaboration – LIWAN LI Blog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4" b="22734"/>
          <a:stretch>
            <a:fillRect/>
          </a:stretch>
        </p:blipFill>
        <p:spPr/>
      </p:pic>
      <p:pic>
        <p:nvPicPr>
          <p:cNvPr id="11" name="Picture 10" descr="Lecture of Collaboration – LIWAN LI Blo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00" y="30685"/>
            <a:ext cx="6858000" cy="454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9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VTI">
  <a:themeElements>
    <a:clrScheme name="Custom 62">
      <a:dk1>
        <a:srgbClr val="000000"/>
      </a:dk1>
      <a:lt1>
        <a:srgbClr val="FFFFFF"/>
      </a:lt1>
      <a:dk2>
        <a:srgbClr val="322441"/>
      </a:dk2>
      <a:lt2>
        <a:srgbClr val="E8E8E2"/>
      </a:lt2>
      <a:accent1>
        <a:srgbClr val="3F3DE3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lassic-Corporate_Teach a Course_02_Win32_MO - v3" id="{9EE2A5A3-E40E-40AC-9760-FB610F2897F3}" vid="{7FC277D3-686C-411B-BE49-3E65515A7D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8F16D9-EB65-4F11-9CD9-58377B437CF8}">
  <ds:schemaRefs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slides</Template>
  <TotalTime>0</TotalTime>
  <Words>201</Words>
  <Application>Microsoft Office PowerPoint</Application>
  <PresentationFormat>Widescreen</PresentationFormat>
  <Paragraphs>39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Kunstler Script</vt:lpstr>
      <vt:lpstr>Wingdings</vt:lpstr>
      <vt:lpstr>RetrospectVTI</vt:lpstr>
      <vt:lpstr>Izmjene u Nastavnom planu i realizacija nastave u prvoj trijadi osnovne škole</vt:lpstr>
      <vt:lpstr>KONCEPCIJA DEVETOGODIŠNJEG OSNOVNOG OBRAZOVANJA   U Bosni i Hercegovini prešlo se na devetogodišnje obavezno osnovno obrazovanje u skladu sa iskustvima kvalitetne pedagoške prakse u zemljama Evrope i svijeta. U Federaciji Bosne i Hercegovine taj prelazak počeo je školske 2004/2005. godine i povezan je s promjenama u strukturi i organizaciji osnovnog odgoja i obrazovanja. </vt:lpstr>
      <vt:lpstr>PowerPoint Presentation</vt:lpstr>
      <vt:lpstr>PowerPoint Presentation</vt:lpstr>
      <vt:lpstr>PowerPoint Presentation</vt:lpstr>
      <vt:lpstr>Odgojno-obrazovna područja</vt:lpstr>
      <vt:lpstr>Odluka Ministarstva</vt:lpstr>
      <vt:lpstr>  </vt:lpstr>
      <vt:lpstr>Obrazac OŠ 11 A</vt:lpstr>
      <vt:lpstr>Raspored časova – Pravilnik o vođenju pedagoške dokumentacije i evidencije </vt:lpstr>
      <vt:lpstr> </vt:lpstr>
      <vt:lpstr>Hvala na pažnji i sretan početak!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2023-08-22T10:27:05Z</dcterms:created>
  <dcterms:modified xsi:type="dcterms:W3CDTF">2023-08-29T13:39:26Z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